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698B53-FB52-4CEC-51B3-D51E594931AD}" v="73" dt="2026-08-21T05:10:45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nam Chitare" userId="S::poonam.chitare@grihumhousing.com::16f1bd48-8f47-4169-8634-47fbb4141e07" providerId="AD" clId="Web-{0C698B53-FB52-4CEC-51B3-D51E594931AD}"/>
    <pc:docChg chg="delSld modSld">
      <pc:chgData name="Poonam Chitare" userId="S::poonam.chitare@grihumhousing.com::16f1bd48-8f47-4169-8634-47fbb4141e07" providerId="AD" clId="Web-{0C698B53-FB52-4CEC-51B3-D51E594931AD}" dt="2026-08-21T05:10:41.492" v="47" actId="14100"/>
      <pc:docMkLst>
        <pc:docMk/>
      </pc:docMkLst>
      <pc:sldChg chg="del">
        <pc:chgData name="Poonam Chitare" userId="S::poonam.chitare@grihumhousing.com::16f1bd48-8f47-4169-8634-47fbb4141e07" providerId="AD" clId="Web-{0C698B53-FB52-4CEC-51B3-D51E594931AD}" dt="2026-08-21T05:04:01.849" v="0"/>
        <pc:sldMkLst>
          <pc:docMk/>
          <pc:sldMk cId="1976694199" sldId="256"/>
        </pc:sldMkLst>
      </pc:sldChg>
      <pc:sldChg chg="modSp">
        <pc:chgData name="Poonam Chitare" userId="S::poonam.chitare@grihumhousing.com::16f1bd48-8f47-4169-8634-47fbb4141e07" providerId="AD" clId="Web-{0C698B53-FB52-4CEC-51B3-D51E594931AD}" dt="2026-08-21T05:09:25.382" v="41" actId="20577"/>
        <pc:sldMkLst>
          <pc:docMk/>
          <pc:sldMk cId="1458736528" sldId="257"/>
        </pc:sldMkLst>
        <pc:spChg chg="mod">
          <ac:chgData name="Poonam Chitare" userId="S::poonam.chitare@grihumhousing.com::16f1bd48-8f47-4169-8634-47fbb4141e07" providerId="AD" clId="Web-{0C698B53-FB52-4CEC-51B3-D51E594931AD}" dt="2026-08-21T05:09:25.382" v="41" actId="20577"/>
          <ac:spMkLst>
            <pc:docMk/>
            <pc:sldMk cId="1458736528" sldId="257"/>
            <ac:spMk id="3" creationId="{54C061E8-769F-57EF-0686-26F37CF117C7}"/>
          </ac:spMkLst>
        </pc:spChg>
      </pc:sldChg>
      <pc:sldChg chg="addSp delSp modSp">
        <pc:chgData name="Poonam Chitare" userId="S::poonam.chitare@grihumhousing.com::16f1bd48-8f47-4169-8634-47fbb4141e07" providerId="AD" clId="Web-{0C698B53-FB52-4CEC-51B3-D51E594931AD}" dt="2026-08-21T05:10:41.492" v="47" actId="14100"/>
        <pc:sldMkLst>
          <pc:docMk/>
          <pc:sldMk cId="685043765" sldId="259"/>
        </pc:sldMkLst>
        <pc:picChg chg="del">
          <ac:chgData name="Poonam Chitare" userId="S::poonam.chitare@grihumhousing.com::16f1bd48-8f47-4169-8634-47fbb4141e07" providerId="AD" clId="Web-{0C698B53-FB52-4CEC-51B3-D51E594931AD}" dt="2026-08-21T05:10:29.555" v="42"/>
          <ac:picMkLst>
            <pc:docMk/>
            <pc:sldMk cId="685043765" sldId="259"/>
            <ac:picMk id="2" creationId="{1BD89C9D-1B70-4A9E-1707-7F47968F858E}"/>
          </ac:picMkLst>
        </pc:picChg>
        <pc:picChg chg="add mod">
          <ac:chgData name="Poonam Chitare" userId="S::poonam.chitare@grihumhousing.com::16f1bd48-8f47-4169-8634-47fbb4141e07" providerId="AD" clId="Web-{0C698B53-FB52-4CEC-51B3-D51E594931AD}" dt="2026-08-21T05:10:41.492" v="47" actId="14100"/>
          <ac:picMkLst>
            <pc:docMk/>
            <pc:sldMk cId="685043765" sldId="259"/>
            <ac:picMk id="4" creationId="{DBF0031F-E5EB-C787-286E-ED9DF1934D9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3AA74F-E577-C2F5-E65D-90849DECE5CF}"/>
              </a:ext>
            </a:extLst>
          </p:cNvPr>
          <p:cNvSpPr txBox="1"/>
          <p:nvPr/>
        </p:nvSpPr>
        <p:spPr>
          <a:xfrm>
            <a:off x="3882573" y="-3628"/>
            <a:ext cx="12583884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Process of Insurance Cancellation </a:t>
            </a:r>
            <a:endParaRPr lang="en-US" sz="2400" b="1" dirty="0">
              <a:latin typeface="Calibri"/>
              <a:ea typeface="Calibri"/>
              <a:cs typeface="Calibri"/>
            </a:endParaRPr>
          </a:p>
          <a:p>
            <a:endParaRPr lang="en-US" sz="2400" b="1" dirty="0"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061E8-769F-57EF-0686-26F37CF117C7}"/>
              </a:ext>
            </a:extLst>
          </p:cNvPr>
          <p:cNvSpPr txBox="1"/>
          <p:nvPr/>
        </p:nvSpPr>
        <p:spPr>
          <a:xfrm>
            <a:off x="7258" y="550524"/>
            <a:ext cx="12163765" cy="65197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algn="l" rtl="0">
              <a:buFont typeface="Wingdings"/>
              <a:buChar char="Ø"/>
            </a:pPr>
            <a:r>
              <a:rPr lang="en-US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Opening Script - Welcome to </a:t>
            </a:r>
            <a:r>
              <a:rPr lang="en-US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Grihum</a:t>
            </a:r>
            <a:r>
              <a:rPr lang="en-US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Housing Finance Limited. My name is (Agent Name) How may I assist you?</a:t>
            </a:r>
            <a:r>
              <a:rPr lang="en-US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/>
          </a:p>
          <a:p>
            <a:pPr marL="342900" indent="-342900">
              <a:buFont typeface="Wingdings"/>
              <a:buChar char="Ø"/>
            </a:pPr>
            <a:r>
              <a:rPr lang="en-US">
                <a:latin typeface="Calibri"/>
                <a:cs typeface="Calibri"/>
              </a:rPr>
              <a:t>Customer - </a:t>
            </a:r>
            <a:r>
              <a:rPr lang="en-US">
                <a:latin typeface="Calibri"/>
                <a:ea typeface="Calibri"/>
                <a:cs typeface="Calibri"/>
              </a:rPr>
              <a:t>I want the insurance refund amount, as my loan has been closed."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- Please note that this call is being recorded for quality assurance and training purposes.</a:t>
            </a:r>
            <a:endParaRPr lang="en-US">
              <a:latin typeface="Calibri"/>
              <a:ea typeface="Calibri"/>
              <a:cs typeface="Calibri"/>
            </a:endParaRPr>
          </a:p>
          <a:p>
            <a:pPr marL="342900" indent="-342900">
              <a:buFont typeface="Wingdings"/>
              <a:buChar char="Ø"/>
            </a:pPr>
            <a:r>
              <a:rPr lang="en-US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-  To verify the information, kindly provide the registered mobile number</a:t>
            </a:r>
            <a:r>
              <a:rPr lang="en-US" i="1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( To check the details in </a:t>
            </a:r>
            <a:r>
              <a:rPr lang="en-US" i="1" dirty="0" err="1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finnone</a:t>
            </a:r>
            <a:r>
              <a:rPr lang="en-US" i="1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slide 2)</a:t>
            </a:r>
          </a:p>
          <a:p>
            <a:pPr marL="342900" indent="-342900"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Verification -  Any 3 of the below verification questions needs to be answered  </a:t>
            </a:r>
            <a:r>
              <a:rPr lang="en-US" i="1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</a:t>
            </a:r>
            <a:r>
              <a:rPr lang="en-US" i="1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( To verify the customer details slide 4 )</a:t>
            </a:r>
            <a:endParaRPr lang="en-US" i="1" dirty="0">
              <a:solidFill>
                <a:srgbClr val="FFC00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NAME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Date of Birth 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Registered Email ID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Loan Sanction Amount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EMI Amount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- Thank you, Sir/Madam. Your verification has been completed.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r>
              <a:rPr lang="en-US" i="1">
                <a:solidFill>
                  <a:srgbClr val="FFC000"/>
                </a:solidFill>
                <a:highlight>
                  <a:srgbClr val="FFFFFF"/>
                </a:highlight>
                <a:ea typeface="+mn-lt"/>
                <a:cs typeface="+mn-lt"/>
              </a:rPr>
              <a:t>If there are two LANs, AI should first confirm the specific sanctioned amount, as the LAN number is not recollected. </a:t>
            </a:r>
            <a:endParaRPr lang="en-US">
              <a:solidFill>
                <a:srgbClr val="FFC000"/>
              </a:solidFill>
              <a:ea typeface="+mn-lt"/>
              <a:cs typeface="+mn-lt"/>
            </a:endParaRPr>
          </a:p>
          <a:p>
            <a:r>
              <a:rPr lang="en-US" i="1" dirty="0">
                <a:solidFill>
                  <a:srgbClr val="FFC000"/>
                </a:solidFill>
                <a:highlight>
                  <a:srgbClr val="FFFFFF"/>
                </a:highlight>
                <a:ea typeface="+mn-lt"/>
                <a:cs typeface="+mn-lt"/>
              </a:rPr>
              <a:t>Once confirmed, proceed with the relevant LAN number. Check Point: </a:t>
            </a:r>
            <a:r>
              <a:rPr lang="en-US" i="1" dirty="0" err="1">
                <a:solidFill>
                  <a:srgbClr val="FFC000"/>
                </a:solidFill>
                <a:highlight>
                  <a:srgbClr val="FFFFFF"/>
                </a:highlight>
                <a:ea typeface="+mn-lt"/>
                <a:cs typeface="+mn-lt"/>
              </a:rPr>
              <a:t>FinnOne</a:t>
            </a:r>
            <a:r>
              <a:rPr lang="en-US" i="1" dirty="0">
                <a:solidFill>
                  <a:srgbClr val="FFC000"/>
                </a:solidFill>
                <a:highlight>
                  <a:srgbClr val="FFFFFF"/>
                </a:highlight>
                <a:ea typeface="+mn-lt"/>
                <a:cs typeface="+mn-lt"/>
              </a:rPr>
              <a:t>, Slide 3.</a:t>
            </a:r>
            <a:endParaRPr lang="en-US">
              <a:solidFill>
                <a:srgbClr val="FFC000"/>
              </a:solidFill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–First, we need to raise an insurance cancellation request. Once the insurance is cancelled, we can proceed with raising the refund request</a:t>
            </a:r>
            <a:r>
              <a:rPr lang="en-US" i="1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(to raise the </a:t>
            </a:r>
            <a:r>
              <a:rPr lang="en-US" i="1" dirty="0" err="1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the</a:t>
            </a:r>
            <a:r>
              <a:rPr lang="en-US" i="1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request in CRM the slide starts from 4to 12  )</a:t>
            </a:r>
          </a:p>
          <a:p>
            <a:pPr marL="342900" indent="-342900"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–The insurance team will send you a message once the insurance has been cancelled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– It will take 10 working days to cancel the insurance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20000"/>
              </a:lnSpc>
              <a:spcBef>
                <a:spcPts val="1000"/>
              </a:spcBef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- Any other details required apart from this?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/>
              <a:buChar char="Ø"/>
            </a:pPr>
            <a:r>
              <a:rPr lang="en-US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Thankyou for calling </a:t>
            </a:r>
            <a:r>
              <a:rPr lang="en-US" dirty="0" err="1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Grihum</a:t>
            </a:r>
            <a:r>
              <a:rPr lang="en-US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Housing Finance Limited.  Have a pleasant day!</a:t>
            </a:r>
          </a:p>
          <a:p>
            <a:pPr marL="228600" indent="-228600">
              <a:buFont typeface="Wingdings"/>
              <a:buChar char="Ø"/>
            </a:pP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8736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047383-6365-FA6E-29DA-57570120A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4" y="1061230"/>
            <a:ext cx="11865429" cy="57805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590E19-7923-ED95-2938-450C38DB29FC}"/>
              </a:ext>
            </a:extLst>
          </p:cNvPr>
          <p:cNvSpPr txBox="1"/>
          <p:nvPr/>
        </p:nvSpPr>
        <p:spPr>
          <a:xfrm>
            <a:off x="29029" y="32658"/>
            <a:ext cx="1216297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4400" b="0" i="0" u="none" strike="noStrike" baseline="0">
                <a:solidFill>
                  <a:srgbClr val="000000"/>
                </a:solidFill>
                <a:latin typeface="Aptos Display"/>
                <a:ea typeface="Segoe UI"/>
                <a:cs typeface="Segoe UI"/>
              </a:rPr>
              <a:t>FINONE  ​</a:t>
            </a:r>
            <a:r>
              <a:rPr lang="en-US" sz="4400" b="0" i="0">
                <a:solidFill>
                  <a:srgbClr val="000000"/>
                </a:solidFill>
                <a:latin typeface="Aptos Display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IN" sz="1800" b="1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Segoe UI"/>
                <a:cs typeface="Segoe UI"/>
              </a:rPr>
              <a:t>To verify the information, please provide the customer'sregistered mobile number.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65ADF52B-54F3-1BC3-57D5-4E34F8DA4D0E}"/>
              </a:ext>
            </a:extLst>
          </p:cNvPr>
          <p:cNvSpPr/>
          <p:nvPr/>
        </p:nvSpPr>
        <p:spPr>
          <a:xfrm rot="5400000">
            <a:off x="1202395" y="3548228"/>
            <a:ext cx="1225151" cy="51366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252EB60B-4F4C-AE5C-04C4-05C76FB831F8}"/>
              </a:ext>
            </a:extLst>
          </p:cNvPr>
          <p:cNvSpPr/>
          <p:nvPr/>
        </p:nvSpPr>
        <p:spPr>
          <a:xfrm rot="5400000">
            <a:off x="7066166" y="3548227"/>
            <a:ext cx="1225151" cy="51366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857D8675-A83A-B93E-D5FB-E2BA67A0ACC5}"/>
              </a:ext>
            </a:extLst>
          </p:cNvPr>
          <p:cNvSpPr/>
          <p:nvPr/>
        </p:nvSpPr>
        <p:spPr>
          <a:xfrm rot="5400000">
            <a:off x="128337" y="5478627"/>
            <a:ext cx="1225151" cy="51366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1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0BFA01-CA3C-C8EE-8743-54109E7B4169}"/>
              </a:ext>
            </a:extLst>
          </p:cNvPr>
          <p:cNvSpPr txBox="1"/>
          <p:nvPr/>
        </p:nvSpPr>
        <p:spPr>
          <a:xfrm>
            <a:off x="1153886" y="482600"/>
            <a:ext cx="1106714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Aptos"/>
              </a:rPr>
              <a:t>Verification -  </a:t>
            </a:r>
            <a:r>
              <a:rPr lang="en-IN" sz="2400" b="1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Calibri"/>
              </a:rPr>
              <a:t>Any 3 of the below verification questions needs to be answered </a:t>
            </a:r>
            <a:r>
              <a:rPr lang="en-US" sz="2400" b="1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Aptos"/>
              </a:rPr>
              <a:t> </a:t>
            </a: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F0031F-E5EB-C787-286E-ED9DF1934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11" y="1003756"/>
            <a:ext cx="11726244" cy="535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4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5FCF31-51F4-D707-1F30-AE60CC54258A}"/>
              </a:ext>
            </a:extLst>
          </p:cNvPr>
          <p:cNvSpPr txBox="1"/>
          <p:nvPr/>
        </p:nvSpPr>
        <p:spPr>
          <a:xfrm>
            <a:off x="1285241" y="1008993"/>
            <a:ext cx="9231410" cy="354204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5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CSR TAGGING​</a:t>
            </a:r>
            <a:r>
              <a:rPr lang="en-US" sz="1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​</a:t>
            </a:r>
            <a:endParaRPr lang="en-US" sz="115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15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3366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3FB3BB-988A-C323-1666-346A4C475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633544"/>
            <a:ext cx="11850915" cy="5968283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1A0E1724-8F77-5482-BC06-EFCA4B6FE28D}"/>
              </a:ext>
            </a:extLst>
          </p:cNvPr>
          <p:cNvSpPr/>
          <p:nvPr/>
        </p:nvSpPr>
        <p:spPr>
          <a:xfrm rot="5400000">
            <a:off x="1935366" y="3359541"/>
            <a:ext cx="1225151" cy="51366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70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application&#10;&#10;AI-generated content may be incorrect.">
            <a:extLst>
              <a:ext uri="{FF2B5EF4-FFF2-40B4-BE49-F238E27FC236}">
                <a16:creationId xmlns:a16="http://schemas.microsoft.com/office/drawing/2014/main" id="{726D7F66-A1A5-A1CD-C106-A0129E48B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28" y="646251"/>
            <a:ext cx="11800115" cy="5565499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4DFEDE2E-F824-CB7B-280C-1038E8F0C4DB}"/>
              </a:ext>
            </a:extLst>
          </p:cNvPr>
          <p:cNvSpPr/>
          <p:nvPr/>
        </p:nvSpPr>
        <p:spPr>
          <a:xfrm rot="5400000">
            <a:off x="4286680" y="3170855"/>
            <a:ext cx="1225151" cy="51366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32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application&#10;&#10;AI-generated content may be incorrect.">
            <a:extLst>
              <a:ext uri="{FF2B5EF4-FFF2-40B4-BE49-F238E27FC236}">
                <a16:creationId xmlns:a16="http://schemas.microsoft.com/office/drawing/2014/main" id="{8D41BC10-17A8-B0D3-A1E7-7C858688E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5" y="643074"/>
            <a:ext cx="11930744" cy="5571852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FA782193-9E4A-6EA2-EA40-F1307313F1C1}"/>
              </a:ext>
            </a:extLst>
          </p:cNvPr>
          <p:cNvSpPr/>
          <p:nvPr/>
        </p:nvSpPr>
        <p:spPr>
          <a:xfrm rot="5400000">
            <a:off x="6761366" y="3374055"/>
            <a:ext cx="1225151" cy="51366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2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A8194C-1ECF-4BDF-2115-D7E9F9BC9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2" y="624014"/>
            <a:ext cx="11763830" cy="5609972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8CC0C079-1AF2-985F-5A08-6EA91275CC08}"/>
              </a:ext>
            </a:extLst>
          </p:cNvPr>
          <p:cNvSpPr/>
          <p:nvPr/>
        </p:nvSpPr>
        <p:spPr>
          <a:xfrm rot="10800000">
            <a:off x="7886223" y="2778969"/>
            <a:ext cx="1225151" cy="51366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3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CCA150-ADEA-46F9-94BD-89F5599EE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7" y="671664"/>
            <a:ext cx="11814629" cy="5514672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EDDBF23F-A4F3-E548-A125-2FDD0D44BF19}"/>
              </a:ext>
            </a:extLst>
          </p:cNvPr>
          <p:cNvSpPr/>
          <p:nvPr/>
        </p:nvSpPr>
        <p:spPr>
          <a:xfrm rot="5400000">
            <a:off x="1492680" y="4172341"/>
            <a:ext cx="1225151" cy="51366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37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search box&#10;&#10;AI-generated content may be incorrect.">
            <a:extLst>
              <a:ext uri="{FF2B5EF4-FFF2-40B4-BE49-F238E27FC236}">
                <a16:creationId xmlns:a16="http://schemas.microsoft.com/office/drawing/2014/main" id="{46B95977-80EE-299A-BF2E-D7642C531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7" y="643621"/>
            <a:ext cx="11618686" cy="5570757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5B02B845-2797-9767-9F1E-F134588BC61E}"/>
              </a:ext>
            </a:extLst>
          </p:cNvPr>
          <p:cNvSpPr/>
          <p:nvPr/>
        </p:nvSpPr>
        <p:spPr>
          <a:xfrm rot="10800000">
            <a:off x="2907823" y="3569998"/>
            <a:ext cx="1225151" cy="51366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62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search box&#10;&#10;AI-generated content may be incorrect.">
            <a:extLst>
              <a:ext uri="{FF2B5EF4-FFF2-40B4-BE49-F238E27FC236}">
                <a16:creationId xmlns:a16="http://schemas.microsoft.com/office/drawing/2014/main" id="{D1EB183B-EE87-724E-4FB3-44AF257A2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42" y="630367"/>
            <a:ext cx="11662230" cy="5597265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28D2308F-25A5-E960-E6DD-D0300D7AA440}"/>
              </a:ext>
            </a:extLst>
          </p:cNvPr>
          <p:cNvSpPr/>
          <p:nvPr/>
        </p:nvSpPr>
        <p:spPr>
          <a:xfrm rot="10800000">
            <a:off x="3502909" y="3911084"/>
            <a:ext cx="1225151" cy="51366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74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application form&#10;&#10;AI-generated content may be incorrect.">
            <a:extLst>
              <a:ext uri="{FF2B5EF4-FFF2-40B4-BE49-F238E27FC236}">
                <a16:creationId xmlns:a16="http://schemas.microsoft.com/office/drawing/2014/main" id="{3BB0CBD1-DA07-A82B-D82A-0FCE96110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56" y="799090"/>
            <a:ext cx="11611430" cy="5622678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45C6E9DD-41BC-572C-ADF6-A8753B485286}"/>
              </a:ext>
            </a:extLst>
          </p:cNvPr>
          <p:cNvSpPr/>
          <p:nvPr/>
        </p:nvSpPr>
        <p:spPr>
          <a:xfrm rot="16200000">
            <a:off x="7733823" y="4985141"/>
            <a:ext cx="1225151" cy="51366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59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185</cp:revision>
  <dcterms:created xsi:type="dcterms:W3CDTF">2026-07-07T12:17:15Z</dcterms:created>
  <dcterms:modified xsi:type="dcterms:W3CDTF">2026-08-21T05:10:52Z</dcterms:modified>
</cp:coreProperties>
</file>