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70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6F889D-AB19-D7F0-13C7-E37542B75061}" v="80" dt="2026-08-20T10:02:58.68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oonam Chitare" userId="S::poonam.chitare@grihumhousing.com::16f1bd48-8f47-4169-8634-47fbb4141e07" providerId="AD" clId="Web-{496F889D-AB19-D7F0-13C7-E37542B75061}"/>
    <pc:docChg chg="delSld modSld">
      <pc:chgData name="Poonam Chitare" userId="S::poonam.chitare@grihumhousing.com::16f1bd48-8f47-4169-8634-47fbb4141e07" providerId="AD" clId="Web-{496F889D-AB19-D7F0-13C7-E37542B75061}" dt="2026-08-20T10:02:58.687" v="79" actId="20577"/>
      <pc:docMkLst>
        <pc:docMk/>
      </pc:docMkLst>
      <pc:sldChg chg="modSp">
        <pc:chgData name="Poonam Chitare" userId="S::poonam.chitare@grihumhousing.com::16f1bd48-8f47-4169-8634-47fbb4141e07" providerId="AD" clId="Web-{496F889D-AB19-D7F0-13C7-E37542B75061}" dt="2026-08-20T10:02:58.687" v="79" actId="20577"/>
        <pc:sldMkLst>
          <pc:docMk/>
          <pc:sldMk cId="1360099039" sldId="257"/>
        </pc:sldMkLst>
        <pc:spChg chg="mod">
          <ac:chgData name="Poonam Chitare" userId="S::poonam.chitare@grihumhousing.com::16f1bd48-8f47-4169-8634-47fbb4141e07" providerId="AD" clId="Web-{496F889D-AB19-D7F0-13C7-E37542B75061}" dt="2026-08-20T10:02:58.687" v="79" actId="20577"/>
          <ac:spMkLst>
            <pc:docMk/>
            <pc:sldMk cId="1360099039" sldId="257"/>
            <ac:spMk id="3" creationId="{2773DCE6-0AF1-9CCA-4036-437558B88DCF}"/>
          </ac:spMkLst>
        </pc:spChg>
      </pc:sldChg>
      <pc:sldChg chg="addSp delSp modSp mod modClrScheme chgLayout">
        <pc:chgData name="Poonam Chitare" userId="S::poonam.chitare@grihumhousing.com::16f1bd48-8f47-4169-8634-47fbb4141e07" providerId="AD" clId="Web-{496F889D-AB19-D7F0-13C7-E37542B75061}" dt="2026-08-20T10:02:13.388" v="74" actId="14100"/>
        <pc:sldMkLst>
          <pc:docMk/>
          <pc:sldMk cId="4155524950" sldId="259"/>
        </pc:sldMkLst>
        <pc:spChg chg="add del mod">
          <ac:chgData name="Poonam Chitare" userId="S::poonam.chitare@grihumhousing.com::16f1bd48-8f47-4169-8634-47fbb4141e07" providerId="AD" clId="Web-{496F889D-AB19-D7F0-13C7-E37542B75061}" dt="2026-08-20T10:01:08.791" v="65"/>
          <ac:spMkLst>
            <pc:docMk/>
            <pc:sldMk cId="4155524950" sldId="259"/>
            <ac:spMk id="2" creationId="{32BBF0DF-5971-18DC-E91E-32F7EAACBEA9}"/>
          </ac:spMkLst>
        </pc:spChg>
        <pc:spChg chg="add del mod">
          <ac:chgData name="Poonam Chitare" userId="S::poonam.chitare@grihumhousing.com::16f1bd48-8f47-4169-8634-47fbb4141e07" providerId="AD" clId="Web-{496F889D-AB19-D7F0-13C7-E37542B75061}" dt="2026-08-20T10:01:08.791" v="65"/>
          <ac:spMkLst>
            <pc:docMk/>
            <pc:sldMk cId="4155524950" sldId="259"/>
            <ac:spMk id="4" creationId="{B0FE8AF1-1ABB-6F90-EEF9-B0BA91200631}"/>
          </ac:spMkLst>
        </pc:spChg>
        <pc:spChg chg="add del mod">
          <ac:chgData name="Poonam Chitare" userId="S::poonam.chitare@grihumhousing.com::16f1bd48-8f47-4169-8634-47fbb4141e07" providerId="AD" clId="Web-{496F889D-AB19-D7F0-13C7-E37542B75061}" dt="2026-08-20T10:01:07.041" v="64"/>
          <ac:spMkLst>
            <pc:docMk/>
            <pc:sldMk cId="4155524950" sldId="259"/>
            <ac:spMk id="5" creationId="{89D71039-3F34-1707-5B7B-EC9E4E511CE5}"/>
          </ac:spMkLst>
        </pc:spChg>
        <pc:spChg chg="add mod">
          <ac:chgData name="Poonam Chitare" userId="S::poonam.chitare@grihumhousing.com::16f1bd48-8f47-4169-8634-47fbb4141e07" providerId="AD" clId="Web-{496F889D-AB19-D7F0-13C7-E37542B75061}" dt="2026-08-20T10:01:33.699" v="70" actId="20577"/>
          <ac:spMkLst>
            <pc:docMk/>
            <pc:sldMk cId="4155524950" sldId="259"/>
            <ac:spMk id="6" creationId="{A5200F1C-5A9A-A1E4-7D88-F7F9B79C03F2}"/>
          </ac:spMkLst>
        </pc:spChg>
        <pc:picChg chg="del">
          <ac:chgData name="Poonam Chitare" userId="S::poonam.chitare@grihumhousing.com::16f1bd48-8f47-4169-8634-47fbb4141e07" providerId="AD" clId="Web-{496F889D-AB19-D7F0-13C7-E37542B75061}" dt="2026-08-20T10:00:33.289" v="59"/>
          <ac:picMkLst>
            <pc:docMk/>
            <pc:sldMk cId="4155524950" sldId="259"/>
            <ac:picMk id="3" creationId="{2FEBFF6A-DA6C-FACA-D0D2-3C1835470FEE}"/>
          </ac:picMkLst>
        </pc:picChg>
        <pc:picChg chg="add mod">
          <ac:chgData name="Poonam Chitare" userId="S::poonam.chitare@grihumhousing.com::16f1bd48-8f47-4169-8634-47fbb4141e07" providerId="AD" clId="Web-{496F889D-AB19-D7F0-13C7-E37542B75061}" dt="2026-08-20T10:02:07.935" v="71"/>
          <ac:picMkLst>
            <pc:docMk/>
            <pc:sldMk cId="4155524950" sldId="259"/>
            <ac:picMk id="7" creationId="{014E60E9-9629-4FC4-682A-2C251E48043B}"/>
          </ac:picMkLst>
        </pc:picChg>
        <pc:picChg chg="add mod">
          <ac:chgData name="Poonam Chitare" userId="S::poonam.chitare@grihumhousing.com::16f1bd48-8f47-4169-8634-47fbb4141e07" providerId="AD" clId="Web-{496F889D-AB19-D7F0-13C7-E37542B75061}" dt="2026-08-20T10:02:13.388" v="74" actId="14100"/>
          <ac:picMkLst>
            <pc:docMk/>
            <pc:sldMk cId="4155524950" sldId="259"/>
            <ac:picMk id="8" creationId="{770DF90E-7E46-7920-3118-EF45620562D2}"/>
          </ac:picMkLst>
        </pc:picChg>
      </pc:sldChg>
      <pc:sldChg chg="del">
        <pc:chgData name="Poonam Chitare" userId="S::poonam.chitare@grihumhousing.com::16f1bd48-8f47-4169-8634-47fbb4141e07" providerId="AD" clId="Web-{496F889D-AB19-D7F0-13C7-E37542B75061}" dt="2026-08-20T10:02:22.654" v="75"/>
        <pc:sldMkLst>
          <pc:docMk/>
          <pc:sldMk cId="790945931" sldId="272"/>
        </pc:sldMkLst>
      </pc:sldChg>
      <pc:sldChg chg="del">
        <pc:chgData name="Poonam Chitare" userId="S::poonam.chitare@grihumhousing.com::16f1bd48-8f47-4169-8634-47fbb4141e07" providerId="AD" clId="Web-{496F889D-AB19-D7F0-13C7-E37542B75061}" dt="2026-08-20T10:02:25.451" v="76"/>
        <pc:sldMkLst>
          <pc:docMk/>
          <pc:sldMk cId="3757545495" sldId="273"/>
        </pc:sldMkLst>
      </pc:sldChg>
      <pc:sldChg chg="del">
        <pc:chgData name="Poonam Chitare" userId="S::poonam.chitare@grihumhousing.com::16f1bd48-8f47-4169-8634-47fbb4141e07" providerId="AD" clId="Web-{496F889D-AB19-D7F0-13C7-E37542B75061}" dt="2026-08-20T10:02:27.373" v="77"/>
        <pc:sldMkLst>
          <pc:docMk/>
          <pc:sldMk cId="1534570562" sldId="274"/>
        </pc:sldMkLst>
      </pc:sldChg>
      <pc:sldChg chg="del">
        <pc:chgData name="Poonam Chitare" userId="S::poonam.chitare@grihumhousing.com::16f1bd48-8f47-4169-8634-47fbb4141e07" providerId="AD" clId="Web-{496F889D-AB19-D7F0-13C7-E37542B75061}" dt="2026-08-20T10:02:29.733" v="78"/>
        <pc:sldMkLst>
          <pc:docMk/>
          <pc:sldMk cId="3444381996" sldId="27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423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6805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220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2078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876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363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1249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216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8246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7758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905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968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2" r:id="rId2"/>
    <p:sldLayoutId id="2147483681" r:id="rId3"/>
    <p:sldLayoutId id="2147483680" r:id="rId4"/>
    <p:sldLayoutId id="2147483679" r:id="rId5"/>
    <p:sldLayoutId id="2147483678" r:id="rId6"/>
    <p:sldLayoutId id="2147483677" r:id="rId7"/>
    <p:sldLayoutId id="2147483676" r:id="rId8"/>
    <p:sldLayoutId id="2147483675" r:id="rId9"/>
    <p:sldLayoutId id="2147483674" r:id="rId10"/>
    <p:sldLayoutId id="214748367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1A32057F-F015-B1B2-4E3E-2307F8EFC9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68896" y="1129554"/>
            <a:ext cx="4361688" cy="3475236"/>
          </a:xfrm>
        </p:spPr>
        <p:txBody>
          <a:bodyPr>
            <a:normAutofit/>
          </a:bodyPr>
          <a:lstStyle/>
          <a:p>
            <a:pPr algn="l"/>
            <a:r>
              <a:rPr lang="en-US" sz="4600"/>
              <a:t>LIST OF DOCUMENTS </a:t>
            </a:r>
            <a:br>
              <a:rPr lang="en-US" sz="4600"/>
            </a:br>
            <a:r>
              <a:rPr lang="en-US" sz="4600"/>
              <a:t>( LOD 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81068" y="6937"/>
            <a:ext cx="5759268" cy="6830640"/>
          </a:xfrm>
        </p:spPr>
        <p:txBody>
          <a:bodyPr>
            <a:normAutofit/>
          </a:bodyPr>
          <a:lstStyle/>
          <a:p>
            <a:pPr algn="l"/>
            <a:endParaRPr lang="en-US"/>
          </a:p>
        </p:txBody>
      </p:sp>
      <p:pic>
        <p:nvPicPr>
          <p:cNvPr id="17" name="Picture 16" descr="Piles of paper">
            <a:extLst>
              <a:ext uri="{FF2B5EF4-FFF2-40B4-BE49-F238E27FC236}">
                <a16:creationId xmlns:a16="http://schemas.microsoft.com/office/drawing/2014/main" id="{7C3C20C6-F2BB-6B8F-26E1-D6950FB297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322" r="1681" b="3"/>
          <a:stretch>
            <a:fillRect/>
          </a:stretch>
        </p:blipFill>
        <p:spPr>
          <a:xfrm>
            <a:off x="20" y="1"/>
            <a:ext cx="657559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E0DCD-5BAA-90D6-320B-18AB22AD4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3384"/>
            <a:ext cx="10653578" cy="537171"/>
          </a:xfrm>
        </p:spPr>
        <p:txBody>
          <a:bodyPr>
            <a:normAutofit/>
          </a:bodyPr>
          <a:lstStyle/>
          <a:p>
            <a:pPr algn="ctr"/>
            <a:r>
              <a:rPr lang="en-US" sz="2800"/>
              <a:t>Process of LOD 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73DCE6-0AF1-9CCA-4036-437558B88D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843" y="414087"/>
            <a:ext cx="11752288" cy="6616300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90000"/>
              </a:lnSpc>
              <a:buFont typeface="Wingdings" panose="020B0604020202020204" pitchFamily="34" charset="0"/>
              <a:buChar char="Ø"/>
            </a:pPr>
            <a:r>
              <a:rPr lang="en-US" sz="1600" dirty="0"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Opening Script - </a:t>
            </a:r>
            <a:r>
              <a:rPr lang="en-US" sz="1600" i="1" dirty="0">
                <a:solidFill>
                  <a:srgbClr val="0070C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Welcome to </a:t>
            </a:r>
            <a:r>
              <a:rPr lang="en-US" sz="1600" i="1" dirty="0" err="1">
                <a:solidFill>
                  <a:srgbClr val="0070C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Grihum</a:t>
            </a:r>
            <a:r>
              <a:rPr lang="en-US" sz="1600" i="1" dirty="0">
                <a:solidFill>
                  <a:srgbClr val="0070C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 Housing Finance Limited. My name is (Agent Name) How may I assist you?</a:t>
            </a:r>
            <a:endParaRPr lang="en-US" sz="1600" i="1" dirty="0">
              <a:solidFill>
                <a:srgbClr val="0070C0"/>
              </a:solidFill>
              <a:latin typeface="Calibri"/>
              <a:ea typeface="Calibri"/>
              <a:cs typeface="Calibri"/>
            </a:endParaRPr>
          </a:p>
          <a:p>
            <a:pPr>
              <a:buFont typeface="Wingdings" panose="020B0604020202020204" pitchFamily="34" charset="0"/>
              <a:buChar char="Ø"/>
            </a:pPr>
            <a:r>
              <a:rPr lang="en-US" sz="1600" dirty="0">
                <a:latin typeface="Calibri"/>
                <a:ea typeface="Calibri"/>
                <a:cs typeface="Calibri"/>
              </a:rPr>
              <a:t>Customer - I want LOD </a:t>
            </a:r>
          </a:p>
          <a:p>
            <a:pPr>
              <a:lnSpc>
                <a:spcPct val="90000"/>
              </a:lnSpc>
              <a:buFont typeface="Wingdings" panose="020B0604020202020204" pitchFamily="34" charset="0"/>
              <a:buChar char="Ø"/>
            </a:pPr>
            <a:r>
              <a:rPr lang="en-US" sz="1600" dirty="0"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AI - </a:t>
            </a:r>
            <a:r>
              <a:rPr lang="en-US" sz="1600" i="1" dirty="0">
                <a:solidFill>
                  <a:srgbClr val="0070C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Please note that this call is being recorded for quality assurance and training purposes.</a:t>
            </a:r>
            <a:endParaRPr lang="en-US" sz="1600" i="1" dirty="0">
              <a:solidFill>
                <a:srgbClr val="0070C0"/>
              </a:solidFill>
              <a:latin typeface="Calibri"/>
              <a:ea typeface="Calibri"/>
              <a:cs typeface="Calibri"/>
            </a:endParaRPr>
          </a:p>
          <a:p>
            <a:pPr>
              <a:buFont typeface="Wingdings" panose="020B0604020202020204" pitchFamily="34" charset="0"/>
              <a:buChar char="Ø"/>
            </a:pPr>
            <a:r>
              <a:rPr lang="en-US" sz="1600" dirty="0"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AI -  </a:t>
            </a:r>
            <a:r>
              <a:rPr lang="en-US" sz="1600" i="1" dirty="0">
                <a:solidFill>
                  <a:srgbClr val="0070C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To verify the information, kindly provide the registered mobile number. </a:t>
            </a:r>
            <a:r>
              <a:rPr lang="en-US" sz="1600" dirty="0">
                <a:solidFill>
                  <a:srgbClr val="FFC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( To check the details in </a:t>
            </a:r>
            <a:r>
              <a:rPr lang="en-US" sz="1600" dirty="0" err="1">
                <a:solidFill>
                  <a:srgbClr val="FFC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finnone</a:t>
            </a:r>
            <a:r>
              <a:rPr lang="en-US" sz="1600" dirty="0">
                <a:solidFill>
                  <a:srgbClr val="FFC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  slide 3)</a:t>
            </a:r>
          </a:p>
          <a:p>
            <a:pPr>
              <a:lnSpc>
                <a:spcPct val="90000"/>
              </a:lnSpc>
              <a:buFont typeface="Wingdings" panose="020B0604020202020204" pitchFamily="34" charset="0"/>
              <a:buChar char="Ø"/>
            </a:pPr>
            <a:r>
              <a:rPr lang="en-US" sz="1600" dirty="0"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Verification -  Any 3 of the below verification questions needs to be answered</a:t>
            </a:r>
            <a:r>
              <a:rPr lang="en-US" sz="1600" dirty="0">
                <a:solidFill>
                  <a:srgbClr val="FFC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 ( To verify the customer details slide 4 )</a:t>
            </a:r>
          </a:p>
          <a:p>
            <a:pPr>
              <a:lnSpc>
                <a:spcPct val="90000"/>
              </a:lnSpc>
              <a:buFont typeface="Wingdings" panose="020B0604020202020204" pitchFamily="34" charset="0"/>
              <a:buChar char="Ø"/>
            </a:pPr>
            <a:r>
              <a:rPr lang="en-US" sz="1600" dirty="0"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NAME</a:t>
            </a:r>
          </a:p>
          <a:p>
            <a:pPr>
              <a:lnSpc>
                <a:spcPct val="90000"/>
              </a:lnSpc>
              <a:buFont typeface="Wingdings" panose="020B0604020202020204" pitchFamily="34" charset="0"/>
              <a:buChar char="Ø"/>
            </a:pPr>
            <a:r>
              <a:rPr lang="en-US" sz="1600" dirty="0"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Date of Birth </a:t>
            </a:r>
          </a:p>
          <a:p>
            <a:pPr>
              <a:lnSpc>
                <a:spcPct val="90000"/>
              </a:lnSpc>
              <a:buFont typeface="Wingdings" panose="020B0604020202020204" pitchFamily="34" charset="0"/>
              <a:buChar char="Ø"/>
            </a:pPr>
            <a:r>
              <a:rPr lang="en-US" sz="1600" dirty="0"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Registered Email ID</a:t>
            </a:r>
          </a:p>
          <a:p>
            <a:pPr>
              <a:lnSpc>
                <a:spcPct val="90000"/>
              </a:lnSpc>
              <a:buFont typeface="Wingdings" panose="020B0604020202020204" pitchFamily="34" charset="0"/>
              <a:buChar char="Ø"/>
            </a:pPr>
            <a:r>
              <a:rPr lang="en-US" sz="1600" dirty="0"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Loan Sanction Amount</a:t>
            </a:r>
          </a:p>
          <a:p>
            <a:pPr>
              <a:lnSpc>
                <a:spcPct val="90000"/>
              </a:lnSpc>
              <a:buFont typeface="Wingdings" panose="020B0604020202020204" pitchFamily="34" charset="0"/>
              <a:buChar char="Ø"/>
            </a:pPr>
            <a:r>
              <a:rPr lang="en-US" sz="1600" dirty="0"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EMI Amount</a:t>
            </a:r>
          </a:p>
          <a:p>
            <a:pPr>
              <a:lnSpc>
                <a:spcPct val="90000"/>
              </a:lnSpc>
              <a:buFont typeface="Wingdings" panose="020B0604020202020204" pitchFamily="34" charset="0"/>
              <a:buChar char="Ø"/>
            </a:pPr>
            <a:r>
              <a:rPr lang="en-US" sz="1600" dirty="0"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AI - </a:t>
            </a:r>
            <a:r>
              <a:rPr lang="en-US" sz="1600" i="1" dirty="0">
                <a:solidFill>
                  <a:srgbClr val="0070C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Thank you, Sir/Madam. Your verification has been completed. </a:t>
            </a:r>
            <a:r>
              <a:rPr lang="en-US" sz="1600" i="1" dirty="0">
                <a:solidFill>
                  <a:srgbClr val="FFC000"/>
                </a:solidFill>
                <a:highlight>
                  <a:srgbClr val="FFFFFF"/>
                </a:highlight>
                <a:latin typeface="Aptos"/>
                <a:ea typeface="Calibri"/>
                <a:cs typeface="Calibri"/>
              </a:rPr>
              <a:t>If there are two LANs, AI should first confirm the specific sanctioned amount, as the LAN number is not remembered Once confirmed, proceed with the relevant LAN number. Check Point: </a:t>
            </a:r>
            <a:r>
              <a:rPr lang="en-US" sz="1600" i="1" dirty="0" err="1">
                <a:solidFill>
                  <a:srgbClr val="FFC000"/>
                </a:solidFill>
                <a:highlight>
                  <a:srgbClr val="FFFFFF"/>
                </a:highlight>
                <a:latin typeface="Aptos"/>
                <a:ea typeface="Calibri"/>
                <a:cs typeface="Calibri"/>
              </a:rPr>
              <a:t>FinnOne</a:t>
            </a:r>
            <a:r>
              <a:rPr lang="en-US" sz="1600" i="1" dirty="0">
                <a:solidFill>
                  <a:srgbClr val="FFC000"/>
                </a:solidFill>
                <a:highlight>
                  <a:srgbClr val="FFFFFF"/>
                </a:highlight>
                <a:latin typeface="Aptos"/>
                <a:ea typeface="Calibri"/>
                <a:cs typeface="Calibri"/>
              </a:rPr>
              <a:t>, Slide 4.</a:t>
            </a:r>
          </a:p>
          <a:p>
            <a:pPr>
              <a:lnSpc>
                <a:spcPct val="90000"/>
              </a:lnSpc>
              <a:buFont typeface="Wingdings" panose="020B0604020202020204" pitchFamily="34" charset="0"/>
              <a:buChar char="Ø"/>
            </a:pPr>
            <a:r>
              <a:rPr lang="en-US" sz="1600" dirty="0"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AI</a:t>
            </a:r>
            <a:r>
              <a:rPr lang="en-US" sz="1600" i="1" dirty="0">
                <a:solidFill>
                  <a:srgbClr val="0070C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- May I know the purpose for which you require the LOD?</a:t>
            </a:r>
            <a:endParaRPr lang="en-US" sz="1600" dirty="0">
              <a:solidFill>
                <a:srgbClr val="FFC000"/>
              </a:solidFill>
              <a:highlight>
                <a:srgbClr val="FFFFFF"/>
              </a:highlight>
              <a:latin typeface="Aptos"/>
              <a:ea typeface="Calibri"/>
              <a:cs typeface="Calibri"/>
            </a:endParaRPr>
          </a:p>
          <a:p>
            <a:pPr>
              <a:lnSpc>
                <a:spcPct val="90000"/>
              </a:lnSpc>
              <a:buFont typeface="Wingdings" panose="020B0604020202020204" pitchFamily="34" charset="0"/>
              <a:buChar char="Ø"/>
            </a:pPr>
            <a:r>
              <a:rPr lang="en-US" sz="1600" dirty="0"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Customer – due to personal reason / </a:t>
            </a:r>
            <a:r>
              <a:rPr lang="en-US" sz="1600" dirty="0" err="1"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Forecloure</a:t>
            </a:r>
            <a:r>
              <a:rPr lang="en-US" sz="1600" dirty="0"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 </a:t>
            </a:r>
            <a:endParaRPr lang="en-US" sz="1600" dirty="0">
              <a:latin typeface="Calibri"/>
              <a:ea typeface="Calibri"/>
              <a:cs typeface="Calibri"/>
            </a:endParaRPr>
          </a:p>
          <a:p>
            <a:pPr>
              <a:lnSpc>
                <a:spcPct val="90000"/>
              </a:lnSpc>
              <a:buFont typeface="Wingdings" panose="020B0604020202020204" pitchFamily="34" charset="0"/>
              <a:buChar char="Ø"/>
            </a:pPr>
            <a:r>
              <a:rPr lang="en-US" sz="1600" dirty="0"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AI – </a:t>
            </a:r>
            <a:r>
              <a:rPr lang="en-US" sz="1600" i="1" dirty="0">
                <a:solidFill>
                  <a:srgbClr val="0070C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Please note that charges are applicable for the LOD. The total charges are ₹590, inclusive of 18% GST.</a:t>
            </a:r>
          </a:p>
          <a:p>
            <a:pPr>
              <a:buFont typeface="Wingdings" panose="020B0604020202020204" pitchFamily="34" charset="0"/>
              <a:buChar char="Ø"/>
            </a:pPr>
            <a:r>
              <a:rPr lang="en-US" sz="1600" dirty="0"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AI – </a:t>
            </a:r>
            <a:r>
              <a:rPr lang="en-US" sz="1600" i="1" dirty="0">
                <a:solidFill>
                  <a:srgbClr val="0070C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We are raising a request for the LOD and the LOD will be issued and sent to your registered email ID within 21 working days.</a:t>
            </a:r>
          </a:p>
          <a:p>
            <a:pPr>
              <a:buFont typeface="Wingdings" panose="020B0604020202020204" pitchFamily="34" charset="0"/>
              <a:buChar char="Ø"/>
            </a:pPr>
            <a:r>
              <a:rPr lang="en-US" sz="1600" dirty="0"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AI - </a:t>
            </a:r>
            <a:r>
              <a:rPr lang="en-US" sz="1600" i="1" dirty="0">
                <a:solidFill>
                  <a:srgbClr val="0070C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Any other details required apart from this?</a:t>
            </a:r>
          </a:p>
          <a:p>
            <a:pPr>
              <a:lnSpc>
                <a:spcPct val="90000"/>
              </a:lnSpc>
              <a:buFont typeface="Wingdings" panose="020B0604020202020204" pitchFamily="34" charset="0"/>
              <a:buChar char="Ø"/>
            </a:pPr>
            <a:r>
              <a:rPr lang="en-US" sz="1600" dirty="0"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Thankyou for calling </a:t>
            </a:r>
            <a:r>
              <a:rPr lang="en-US" sz="1600" dirty="0" err="1"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Grihum</a:t>
            </a:r>
            <a:r>
              <a:rPr lang="en-US" sz="1600" dirty="0"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 Housing Finance Limited.  Have a pleasant day!</a:t>
            </a:r>
          </a:p>
          <a:p>
            <a:pPr>
              <a:buFont typeface="Wingdings" panose="020B0604020202020204" pitchFamily="34" charset="0"/>
              <a:buChar char="Ø"/>
            </a:pPr>
            <a:endParaRPr lang="en-US" sz="1600" dirty="0">
              <a:highlight>
                <a:srgbClr val="FFFFFF"/>
              </a:highlight>
              <a:latin typeface="Calibri"/>
              <a:ea typeface="Calibri"/>
              <a:cs typeface="Calibri"/>
            </a:endParaRPr>
          </a:p>
          <a:p>
            <a:pPr>
              <a:buFont typeface="Wingdings" panose="020B0604020202020204" pitchFamily="34" charset="0"/>
              <a:buChar char="Ø"/>
            </a:pPr>
            <a:endParaRPr lang="en-US" sz="1400" dirty="0">
              <a:highlight>
                <a:srgbClr val="FFFFFF"/>
              </a:highlight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600990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redit card&#10;&#10;AI-generated content may be incorrect.">
            <a:extLst>
              <a:ext uri="{FF2B5EF4-FFF2-40B4-BE49-F238E27FC236}">
                <a16:creationId xmlns:a16="http://schemas.microsoft.com/office/drawing/2014/main" id="{746F8A99-761E-AB2A-D703-4DAB2F03C6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170" y="1160744"/>
            <a:ext cx="11843658" cy="5683138"/>
          </a:xfrm>
          <a:prstGeom prst="rect">
            <a:avLst/>
          </a:prstGeom>
        </p:spPr>
      </p:pic>
      <p:sp>
        <p:nvSpPr>
          <p:cNvPr id="3" name="Arrow: Down 2">
            <a:extLst>
              <a:ext uri="{FF2B5EF4-FFF2-40B4-BE49-F238E27FC236}">
                <a16:creationId xmlns:a16="http://schemas.microsoft.com/office/drawing/2014/main" id="{B20859C0-E4D5-52F7-75B5-B91C0C7496C6}"/>
              </a:ext>
            </a:extLst>
          </p:cNvPr>
          <p:cNvSpPr/>
          <p:nvPr/>
        </p:nvSpPr>
        <p:spPr>
          <a:xfrm rot="10800000">
            <a:off x="1895343" y="3608367"/>
            <a:ext cx="404803" cy="1304979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8C18ED7E-B2A8-59EC-ABFC-DFCAF6A626BC}"/>
              </a:ext>
            </a:extLst>
          </p:cNvPr>
          <p:cNvSpPr/>
          <p:nvPr/>
        </p:nvSpPr>
        <p:spPr>
          <a:xfrm rot="10800000">
            <a:off x="7396257" y="3426938"/>
            <a:ext cx="404803" cy="1304979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A71A3546-2DF4-9426-56D4-76F3E1D138E6}"/>
              </a:ext>
            </a:extLst>
          </p:cNvPr>
          <p:cNvSpPr/>
          <p:nvPr/>
        </p:nvSpPr>
        <p:spPr>
          <a:xfrm rot="10800000">
            <a:off x="531000" y="5204938"/>
            <a:ext cx="404803" cy="1304979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C47309-EEE5-73A6-DA77-0571E9765195}"/>
              </a:ext>
            </a:extLst>
          </p:cNvPr>
          <p:cNvSpPr txBox="1"/>
          <p:nvPr/>
        </p:nvSpPr>
        <p:spPr>
          <a:xfrm>
            <a:off x="3302000" y="-170543"/>
            <a:ext cx="6096000" cy="227754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 rtl="0"/>
            <a:r>
              <a:rPr lang="en-US" sz="4400" b="0" i="0" u="none" strike="noStrike" baseline="0">
                <a:solidFill>
                  <a:srgbClr val="000000"/>
                </a:solidFill>
                <a:latin typeface="Aptos Display"/>
                <a:ea typeface="Segoe UI"/>
                <a:cs typeface="Segoe UI"/>
              </a:rPr>
              <a:t>FINONE  </a:t>
            </a:r>
            <a:r>
              <a:rPr lang="en-US" sz="4400" b="0" i="0">
                <a:solidFill>
                  <a:srgbClr val="000000"/>
                </a:solidFill>
                <a:latin typeface="Aptos Display"/>
                <a:ea typeface="Segoe UI"/>
                <a:cs typeface="Segoe UI"/>
              </a:rPr>
              <a:t>​</a:t>
            </a:r>
          </a:p>
          <a:p>
            <a:pPr algn="ctr" rtl="0"/>
            <a:r>
              <a:rPr lang="en-IN" sz="1800" b="1" i="0" u="none" strike="noStrike" baseline="0">
                <a:solidFill>
                  <a:srgbClr val="000000"/>
                </a:solidFill>
                <a:highlight>
                  <a:srgbClr val="FFFFFF"/>
                </a:highlight>
                <a:latin typeface="Calibri"/>
                <a:ea typeface="Segoe UI"/>
                <a:cs typeface="Segoe UI"/>
              </a:rPr>
              <a:t>To verify the information, please provide the customer's registered mobile number.</a:t>
            </a:r>
            <a:r>
              <a:rPr lang="en-US" sz="1800" b="0" i="0">
                <a:solidFill>
                  <a:srgbClr val="000000"/>
                </a:solidFill>
                <a:latin typeface="Calibri"/>
                <a:ea typeface="Segoe UI"/>
                <a:cs typeface="Segoe UI"/>
              </a:rPr>
              <a:t>​</a:t>
            </a:r>
          </a:p>
          <a:p>
            <a:pPr algn="l" rtl="0"/>
            <a:r>
              <a:rPr lang="en-US" sz="4400" b="0" i="0">
                <a:solidFill>
                  <a:srgbClr val="000000"/>
                </a:solidFill>
                <a:latin typeface="Aptos Display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4877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5200F1C-5A9A-A1E4-7D88-F7F9B79C0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200"/>
            <a:ext cx="10653578" cy="460664"/>
          </a:xfrm>
        </p:spPr>
        <p:txBody>
          <a:bodyPr/>
          <a:lstStyle/>
          <a:p>
            <a:pPr algn="ctr"/>
            <a:r>
              <a:rPr lang="en-US" sz="2400">
                <a:highlight>
                  <a:srgbClr val="FFFFFF"/>
                </a:highlight>
                <a:latin typeface="Aptos"/>
              </a:rPr>
              <a:t>Verification -  </a:t>
            </a:r>
            <a:r>
              <a:rPr lang="en-IN" sz="2400"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Any 3 of the below verification questions needs to be answer</a:t>
            </a:r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14E60E9-9629-4FC4-682A-2C251E4804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8" y="457200"/>
            <a:ext cx="12011025" cy="59436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70DF90E-7E46-7920-3118-EF45620562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831" y="457200"/>
            <a:ext cx="11797056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5249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AD4D02DC-86D0-86A9-4404-26B11AF64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7DB307-6D4F-EF64-F948-9B97007F3EC6}"/>
              </a:ext>
            </a:extLst>
          </p:cNvPr>
          <p:cNvSpPr txBox="1"/>
          <p:nvPr/>
        </p:nvSpPr>
        <p:spPr>
          <a:xfrm>
            <a:off x="2494392" y="1791147"/>
            <a:ext cx="7202862" cy="1952369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/>
          <a:p>
            <a:pPr marL="228600" lvl="0" indent="-22860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1" i="0" u="none" strike="noStrike" baseline="0">
                <a:latin typeface="+mj-lt"/>
                <a:ea typeface="+mj-ea"/>
                <a:cs typeface="+mj-cs"/>
              </a:rPr>
              <a:t>CSR TAGGING</a:t>
            </a:r>
            <a:r>
              <a:rPr lang="en-US" sz="4800" b="1" i="0">
                <a:latin typeface="+mj-lt"/>
                <a:ea typeface="+mj-ea"/>
                <a:cs typeface="+mj-cs"/>
              </a:rPr>
              <a:t>​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800" b="1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6197271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web page&#10;&#10;AI-generated content may be incorrect.">
            <a:extLst>
              <a:ext uri="{FF2B5EF4-FFF2-40B4-BE49-F238E27FC236}">
                <a16:creationId xmlns:a16="http://schemas.microsoft.com/office/drawing/2014/main" id="{C013896C-8762-8C59-B87F-7B19D0BA7C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942" y="782767"/>
            <a:ext cx="11807373" cy="5234408"/>
          </a:xfrm>
          <a:prstGeom prst="rect">
            <a:avLst/>
          </a:prstGeom>
        </p:spPr>
      </p:pic>
      <p:sp>
        <p:nvSpPr>
          <p:cNvPr id="4" name="Arrow: Down 3">
            <a:extLst>
              <a:ext uri="{FF2B5EF4-FFF2-40B4-BE49-F238E27FC236}">
                <a16:creationId xmlns:a16="http://schemas.microsoft.com/office/drawing/2014/main" id="{A5E6C974-74CF-91F6-6E83-0CDE8DC388AA}"/>
              </a:ext>
            </a:extLst>
          </p:cNvPr>
          <p:cNvSpPr/>
          <p:nvPr/>
        </p:nvSpPr>
        <p:spPr>
          <a:xfrm rot="10800000">
            <a:off x="1895343" y="3020539"/>
            <a:ext cx="404803" cy="1304979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7473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0A06AF2-51D5-9DBC-7C7D-91A7C77FF5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00" y="646805"/>
            <a:ext cx="11785600" cy="5564391"/>
          </a:xfrm>
          <a:prstGeom prst="rect">
            <a:avLst/>
          </a:prstGeom>
        </p:spPr>
      </p:pic>
      <p:sp>
        <p:nvSpPr>
          <p:cNvPr id="4" name="Arrow: Down 3">
            <a:extLst>
              <a:ext uri="{FF2B5EF4-FFF2-40B4-BE49-F238E27FC236}">
                <a16:creationId xmlns:a16="http://schemas.microsoft.com/office/drawing/2014/main" id="{03221234-93B2-5AEA-86AE-37E44E19D5DA}"/>
              </a:ext>
            </a:extLst>
          </p:cNvPr>
          <p:cNvSpPr/>
          <p:nvPr/>
        </p:nvSpPr>
        <p:spPr>
          <a:xfrm rot="10800000">
            <a:off x="4899800" y="2918939"/>
            <a:ext cx="404803" cy="1304979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0089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application&#10;&#10;AI-generated content may be incorrect.">
            <a:extLst>
              <a:ext uri="{FF2B5EF4-FFF2-40B4-BE49-F238E27FC236}">
                <a16:creationId xmlns:a16="http://schemas.microsoft.com/office/drawing/2014/main" id="{53D47FEB-8B5E-62D4-DAEF-E71558FD69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171" y="595424"/>
            <a:ext cx="11763829" cy="5667152"/>
          </a:xfrm>
          <a:prstGeom prst="rect">
            <a:avLst/>
          </a:prstGeom>
        </p:spPr>
      </p:pic>
      <p:sp>
        <p:nvSpPr>
          <p:cNvPr id="4" name="Arrow: Down 3">
            <a:extLst>
              <a:ext uri="{FF2B5EF4-FFF2-40B4-BE49-F238E27FC236}">
                <a16:creationId xmlns:a16="http://schemas.microsoft.com/office/drawing/2014/main" id="{BCA9FE76-31A2-27A2-F5A9-B26A739E8699}"/>
              </a:ext>
            </a:extLst>
          </p:cNvPr>
          <p:cNvSpPr/>
          <p:nvPr/>
        </p:nvSpPr>
        <p:spPr>
          <a:xfrm rot="10800000">
            <a:off x="7200314" y="2984253"/>
            <a:ext cx="404803" cy="1304979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4058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F4DCC77-34B9-4E47-3A44-CE5A7D7CC8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228" y="639897"/>
            <a:ext cx="11727544" cy="5578205"/>
          </a:xfrm>
          <a:prstGeom prst="rect">
            <a:avLst/>
          </a:prstGeom>
        </p:spPr>
      </p:pic>
      <p:sp>
        <p:nvSpPr>
          <p:cNvPr id="4" name="Arrow: Down 3">
            <a:extLst>
              <a:ext uri="{FF2B5EF4-FFF2-40B4-BE49-F238E27FC236}">
                <a16:creationId xmlns:a16="http://schemas.microsoft.com/office/drawing/2014/main" id="{18772614-762E-44F8-94FE-16ABE96971A6}"/>
              </a:ext>
            </a:extLst>
          </p:cNvPr>
          <p:cNvSpPr/>
          <p:nvPr/>
        </p:nvSpPr>
        <p:spPr>
          <a:xfrm rot="-5400000">
            <a:off x="8238085" y="2439967"/>
            <a:ext cx="404803" cy="1304979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3540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application&#10;&#10;AI-generated content may be incorrect.">
            <a:extLst>
              <a:ext uri="{FF2B5EF4-FFF2-40B4-BE49-F238E27FC236}">
                <a16:creationId xmlns:a16="http://schemas.microsoft.com/office/drawing/2014/main" id="{EA642297-E7E0-E14A-CBCE-95101D01B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972" y="628908"/>
            <a:ext cx="11676743" cy="5389727"/>
          </a:xfrm>
          <a:prstGeom prst="rect">
            <a:avLst/>
          </a:prstGeom>
        </p:spPr>
      </p:pic>
      <p:sp>
        <p:nvSpPr>
          <p:cNvPr id="4" name="Arrow: Down 3">
            <a:extLst>
              <a:ext uri="{FF2B5EF4-FFF2-40B4-BE49-F238E27FC236}">
                <a16:creationId xmlns:a16="http://schemas.microsoft.com/office/drawing/2014/main" id="{FE457D73-5607-B855-593F-D9D60FA082E4}"/>
              </a:ext>
            </a:extLst>
          </p:cNvPr>
          <p:cNvSpPr/>
          <p:nvPr/>
        </p:nvSpPr>
        <p:spPr>
          <a:xfrm rot="10800000">
            <a:off x="1837285" y="3564824"/>
            <a:ext cx="404803" cy="1304979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1973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search box&#10;&#10;AI-generated content may be incorrect.">
            <a:extLst>
              <a:ext uri="{FF2B5EF4-FFF2-40B4-BE49-F238E27FC236}">
                <a16:creationId xmlns:a16="http://schemas.microsoft.com/office/drawing/2014/main" id="{E82C17DF-104D-1E09-C5A6-6A7620626B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171" y="625985"/>
            <a:ext cx="11705772" cy="5606029"/>
          </a:xfrm>
          <a:prstGeom prst="rect">
            <a:avLst/>
          </a:prstGeom>
        </p:spPr>
      </p:pic>
      <p:sp>
        <p:nvSpPr>
          <p:cNvPr id="4" name="Arrow: Down 3">
            <a:extLst>
              <a:ext uri="{FF2B5EF4-FFF2-40B4-BE49-F238E27FC236}">
                <a16:creationId xmlns:a16="http://schemas.microsoft.com/office/drawing/2014/main" id="{27DA3280-9805-8463-78FF-006449E67165}"/>
              </a:ext>
            </a:extLst>
          </p:cNvPr>
          <p:cNvSpPr/>
          <p:nvPr/>
        </p:nvSpPr>
        <p:spPr>
          <a:xfrm rot="16200000">
            <a:off x="3375799" y="3492253"/>
            <a:ext cx="404803" cy="1304979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8245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search box&#10;&#10;AI-generated content may be incorrect.">
            <a:extLst>
              <a:ext uri="{FF2B5EF4-FFF2-40B4-BE49-F238E27FC236}">
                <a16:creationId xmlns:a16="http://schemas.microsoft.com/office/drawing/2014/main" id="{49F149D5-0E32-E801-9AF9-08D1030233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171" y="626241"/>
            <a:ext cx="11763829" cy="5605517"/>
          </a:xfrm>
          <a:prstGeom prst="rect">
            <a:avLst/>
          </a:prstGeom>
        </p:spPr>
      </p:pic>
      <p:sp>
        <p:nvSpPr>
          <p:cNvPr id="4" name="Arrow: Down 3">
            <a:extLst>
              <a:ext uri="{FF2B5EF4-FFF2-40B4-BE49-F238E27FC236}">
                <a16:creationId xmlns:a16="http://schemas.microsoft.com/office/drawing/2014/main" id="{015350DE-AEBE-F551-975C-B32E744D9A53}"/>
              </a:ext>
            </a:extLst>
          </p:cNvPr>
          <p:cNvSpPr/>
          <p:nvPr/>
        </p:nvSpPr>
        <p:spPr>
          <a:xfrm rot="16200000">
            <a:off x="3651570" y="3884139"/>
            <a:ext cx="404803" cy="1304979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7121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search box&#10;&#10;AI-generated content may be incorrect.">
            <a:extLst>
              <a:ext uri="{FF2B5EF4-FFF2-40B4-BE49-F238E27FC236}">
                <a16:creationId xmlns:a16="http://schemas.microsoft.com/office/drawing/2014/main" id="{8832C2B6-2DCF-DF0D-6936-D8C8B97F67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514" y="643074"/>
            <a:ext cx="11633201" cy="5571852"/>
          </a:xfrm>
          <a:prstGeom prst="rect">
            <a:avLst/>
          </a:prstGeom>
        </p:spPr>
      </p:pic>
      <p:sp>
        <p:nvSpPr>
          <p:cNvPr id="4" name="Arrow: Down 3">
            <a:extLst>
              <a:ext uri="{FF2B5EF4-FFF2-40B4-BE49-F238E27FC236}">
                <a16:creationId xmlns:a16="http://schemas.microsoft.com/office/drawing/2014/main" id="{AB34AA7F-BAA2-3833-E7D8-2A9C86A64DAC}"/>
              </a:ext>
            </a:extLst>
          </p:cNvPr>
          <p:cNvSpPr/>
          <p:nvPr/>
        </p:nvSpPr>
        <p:spPr>
          <a:xfrm rot="16200000">
            <a:off x="4297456" y="4225225"/>
            <a:ext cx="404803" cy="1304979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9995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registration form&#10;&#10;AI-generated content may be incorrect.">
            <a:extLst>
              <a:ext uri="{FF2B5EF4-FFF2-40B4-BE49-F238E27FC236}">
                <a16:creationId xmlns:a16="http://schemas.microsoft.com/office/drawing/2014/main" id="{BDFCFD7E-46F7-980F-42E1-2081A884C3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171" y="608131"/>
            <a:ext cx="11807372" cy="5641738"/>
          </a:xfrm>
          <a:prstGeom prst="rect">
            <a:avLst/>
          </a:prstGeom>
        </p:spPr>
      </p:pic>
      <p:sp>
        <p:nvSpPr>
          <p:cNvPr id="5" name="Arrow: Down 4">
            <a:extLst>
              <a:ext uri="{FF2B5EF4-FFF2-40B4-BE49-F238E27FC236}">
                <a16:creationId xmlns:a16="http://schemas.microsoft.com/office/drawing/2014/main" id="{846450D7-845C-EC6D-93D4-0A65CEE9B107}"/>
              </a:ext>
            </a:extLst>
          </p:cNvPr>
          <p:cNvSpPr/>
          <p:nvPr/>
        </p:nvSpPr>
        <p:spPr>
          <a:xfrm>
            <a:off x="8150999" y="4471967"/>
            <a:ext cx="404803" cy="1304979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251131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</TotalTime>
  <Words>298</Words>
  <Application>Microsoft Office PowerPoint</Application>
  <PresentationFormat>Widescreen</PresentationFormat>
  <Paragraphs>24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Neue Haas Grotesk Text Pro</vt:lpstr>
      <vt:lpstr>Wingdings</vt:lpstr>
      <vt:lpstr>VanillaVTI</vt:lpstr>
      <vt:lpstr>LIST OF DOCUMENTS  ( LOD )</vt:lpstr>
      <vt:lpstr>Process of LOD </vt:lpstr>
      <vt:lpstr>PowerPoint Presentation</vt:lpstr>
      <vt:lpstr>Verification -  Any 3 of the below verification questions needs to be answer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Amruta Subhash Gaikwad</cp:lastModifiedBy>
  <cp:revision>46</cp:revision>
  <dcterms:created xsi:type="dcterms:W3CDTF">2026-07-07T04:18:56Z</dcterms:created>
  <dcterms:modified xsi:type="dcterms:W3CDTF">2026-08-20T10:12:25Z</dcterms:modified>
</cp:coreProperties>
</file>