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61B45-065F-F1B9-8099-AE4419EC64E0}" v="50" dt="2026-08-21T05:14:33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nam Chitare" userId="S::poonam.chitare@grihumhousing.com::16f1bd48-8f47-4169-8634-47fbb4141e07" providerId="AD" clId="Web-{4E361B45-065F-F1B9-8099-AE4419EC64E0}"/>
    <pc:docChg chg="modSld">
      <pc:chgData name="Poonam Chitare" userId="S::poonam.chitare@grihumhousing.com::16f1bd48-8f47-4169-8634-47fbb4141e07" providerId="AD" clId="Web-{4E361B45-065F-F1B9-8099-AE4419EC64E0}" dt="2026-08-21T05:14:25.036" v="29" actId="14100"/>
      <pc:docMkLst>
        <pc:docMk/>
      </pc:docMkLst>
      <pc:sldChg chg="modSp">
        <pc:chgData name="Poonam Chitare" userId="S::poonam.chitare@grihumhousing.com::16f1bd48-8f47-4169-8634-47fbb4141e07" providerId="AD" clId="Web-{4E361B45-065F-F1B9-8099-AE4419EC64E0}" dt="2026-08-21T05:13:44.207" v="23" actId="20577"/>
        <pc:sldMkLst>
          <pc:docMk/>
          <pc:sldMk cId="2423764235" sldId="257"/>
        </pc:sldMkLst>
        <pc:spChg chg="mod">
          <ac:chgData name="Poonam Chitare" userId="S::poonam.chitare@grihumhousing.com::16f1bd48-8f47-4169-8634-47fbb4141e07" providerId="AD" clId="Web-{4E361B45-065F-F1B9-8099-AE4419EC64E0}" dt="2026-08-21T05:13:44.207" v="23" actId="20577"/>
          <ac:spMkLst>
            <pc:docMk/>
            <pc:sldMk cId="2423764235" sldId="257"/>
            <ac:spMk id="2" creationId="{108D0882-FAB8-C276-4F03-A923C129139B}"/>
          </ac:spMkLst>
        </pc:spChg>
      </pc:sldChg>
      <pc:sldChg chg="addSp delSp modSp">
        <pc:chgData name="Poonam Chitare" userId="S::poonam.chitare@grihumhousing.com::16f1bd48-8f47-4169-8634-47fbb4141e07" providerId="AD" clId="Web-{4E361B45-065F-F1B9-8099-AE4419EC64E0}" dt="2026-08-21T05:14:25.036" v="29" actId="14100"/>
        <pc:sldMkLst>
          <pc:docMk/>
          <pc:sldMk cId="3396393447" sldId="259"/>
        </pc:sldMkLst>
        <pc:picChg chg="del">
          <ac:chgData name="Poonam Chitare" userId="S::poonam.chitare@grihumhousing.com::16f1bd48-8f47-4169-8634-47fbb4141e07" providerId="AD" clId="Web-{4E361B45-065F-F1B9-8099-AE4419EC64E0}" dt="2026-08-21T05:14:12.770" v="24"/>
          <ac:picMkLst>
            <pc:docMk/>
            <pc:sldMk cId="3396393447" sldId="259"/>
            <ac:picMk id="3" creationId="{9C1B5CF4-1CF2-C061-CED9-4D284C534CCD}"/>
          </ac:picMkLst>
        </pc:picChg>
        <pc:picChg chg="add mod">
          <ac:chgData name="Poonam Chitare" userId="S::poonam.chitare@grihumhousing.com::16f1bd48-8f47-4169-8634-47fbb4141e07" providerId="AD" clId="Web-{4E361B45-065F-F1B9-8099-AE4419EC64E0}" dt="2026-08-21T05:14:25.036" v="29" actId="14100"/>
          <ac:picMkLst>
            <pc:docMk/>
            <pc:sldMk cId="3396393447" sldId="259"/>
            <ac:picMk id="4" creationId="{6E68D263-45B2-08A6-A6D0-9164C7272D8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675691-053E-C375-7DC7-C6571343EBAB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/>
              <a:t>Insurance Refund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22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D0882-FAB8-C276-4F03-A923C129139B}"/>
              </a:ext>
            </a:extLst>
          </p:cNvPr>
          <p:cNvSpPr txBox="1"/>
          <p:nvPr/>
        </p:nvSpPr>
        <p:spPr>
          <a:xfrm>
            <a:off x="2041" y="2382"/>
            <a:ext cx="11879942" cy="68777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Calibri"/>
              </a:rPr>
              <a:t>                                                        </a:t>
            </a:r>
            <a:r>
              <a:rPr lang="en-US" sz="2400" b="1" i="0" u="none" strike="noStrike" baseline="0">
                <a:solidFill>
                  <a:srgbClr val="000000"/>
                </a:solidFill>
                <a:latin typeface="Calibri"/>
              </a:rPr>
              <a:t>Process</a:t>
            </a:r>
            <a:r>
              <a:rPr lang="en-US" sz="2400" b="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1" dirty="0">
                <a:solidFill>
                  <a:srgbClr val="000000"/>
                </a:solidFill>
                <a:ea typeface="+mn-lt"/>
                <a:cs typeface="+mn-lt"/>
              </a:rPr>
              <a:t>Insurance Refund</a:t>
            </a:r>
            <a:endParaRPr lang="en-US" b="1" dirty="0"/>
          </a:p>
          <a:p>
            <a:pPr marL="342900" indent="-342900">
              <a:buFont typeface="Wingdings"/>
              <a:buChar char="Ø"/>
            </a:pP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Opening Script - Welcome to </a:t>
            </a:r>
            <a:r>
              <a:rPr lang="en-US" dirty="0" err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Housing Finance Limited. My name is (Agent Name) How may I assist you?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latin typeface="Calibri"/>
                <a:ea typeface="Calibri"/>
                <a:cs typeface="Calibri"/>
              </a:rPr>
              <a:t>Customer - I have received a message from the Insurance Team regarding an insurance refund. Kindly share the refund amount and related details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>
                <a:latin typeface="Calibri"/>
                <a:ea typeface="Calibri"/>
                <a:cs typeface="Calibri"/>
              </a:rPr>
              <a:t>AI - </a:t>
            </a: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Please note that this call is being recorded for quality assurance and training purposes.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dirty="0">
                <a:latin typeface="Calibri"/>
                <a:ea typeface="Calibri"/>
                <a:cs typeface="Calibri"/>
              </a:rPr>
              <a:t>AI - </a:t>
            </a: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To verify the information, kindly provide the registered mobile number  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( To check the details in </a:t>
            </a:r>
            <a:r>
              <a:rPr lang="en-US" i="1" dirty="0" err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finnone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slide 3)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 Verification -  Any 3 of the below verification questions needs to be answered </a:t>
            </a:r>
            <a:r>
              <a:rPr lang="en-US" i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( To verify the customer details slide 4 )</a:t>
            </a:r>
            <a:endParaRPr lang="en-US" i="1" dirty="0">
              <a:solidFill>
                <a:srgbClr val="FFC00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NAME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Date of Birth 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Registered Email ID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Loan Sanction Amount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EMI Amount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Thank you, Sir/Madam. Your verification has been completed.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r>
              <a:rPr lang="en-US" i="1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If there are two LANs, AI should first confirm the specific sanctioned amount, as the LAN number is not recollected. </a:t>
            </a:r>
            <a:endParaRPr lang="en-US" i="1">
              <a:solidFill>
                <a:srgbClr val="FFC000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Once confirmed, proceed with the relevant LAN number. Check Point: </a:t>
            </a:r>
            <a:r>
              <a:rPr lang="en-US" i="1" dirty="0" err="1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FinnOne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ea typeface="+mn-lt"/>
                <a:cs typeface="+mn-lt"/>
              </a:rPr>
              <a:t>, Slide 4.</a:t>
            </a:r>
            <a:endParaRPr lang="en-US" i="1" dirty="0">
              <a:solidFill>
                <a:srgbClr val="FFC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 As we receive the insurance amount from the Insurance Team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 We are raising a request for the insurance refund. The refund amount will be credited to your registered bank account within 10 working days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(to raise the </a:t>
            </a:r>
            <a:r>
              <a:rPr lang="en-US" i="1" dirty="0" err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the</a:t>
            </a:r>
            <a:r>
              <a:rPr lang="en-US" i="1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request in CRM the slide starts from 5 to 14  )</a:t>
            </a: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Wingdings"/>
              <a:buChar char="Ø"/>
            </a:pPr>
            <a:r>
              <a:rPr lang="en-US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 Any other details required apart from this?</a:t>
            </a:r>
            <a:endParaRPr lang="en-US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/>
              <a:buChar char="Ø"/>
            </a:pP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Thankyou for calling </a:t>
            </a:r>
            <a:r>
              <a:rPr lang="en-US" dirty="0" err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Housing Finance Limited.  Have a pleasant day!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endParaRPr lang="en-US" sz="1600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3764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02C7D-1F3D-2B1C-302A-19B99B5C7EE3}"/>
              </a:ext>
            </a:extLst>
          </p:cNvPr>
          <p:cNvSpPr txBox="1"/>
          <p:nvPr/>
        </p:nvSpPr>
        <p:spPr>
          <a:xfrm>
            <a:off x="1647372" y="-185057"/>
            <a:ext cx="960845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FINONE  ​​</a:t>
            </a:r>
            <a:r>
              <a:rPr lang="en-US" sz="4400" b="0" i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​</a:t>
            </a:r>
          </a:p>
          <a:p>
            <a:pPr algn="ctr"/>
            <a:r>
              <a:rPr lang="en-IN" sz="18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Segoe UI"/>
                <a:cs typeface="Segoe UI"/>
              </a:rPr>
              <a:t>To verify the information, please provide the </a:t>
            </a:r>
            <a:r>
              <a:rPr lang="en-IN" b="1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Segoe UI"/>
                <a:cs typeface="Segoe UI"/>
              </a:rPr>
              <a:t>customer's registered</a:t>
            </a:r>
            <a:r>
              <a:rPr lang="en-IN" sz="18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Segoe UI"/>
                <a:cs typeface="Segoe UI"/>
              </a:rPr>
              <a:t> mobile number.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​​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BD64D3-C817-8764-A880-E94459F4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1124741"/>
            <a:ext cx="11691258" cy="5610001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56BF21DE-9047-0973-A81E-4AC3F1B7F18F}"/>
              </a:ext>
            </a:extLst>
          </p:cNvPr>
          <p:cNvSpPr/>
          <p:nvPr/>
        </p:nvSpPr>
        <p:spPr>
          <a:xfrm rot="5400000">
            <a:off x="6914095" y="3678590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26DBC648-8BA4-557E-4D4C-BB35FE655D91}"/>
              </a:ext>
            </a:extLst>
          </p:cNvPr>
          <p:cNvSpPr/>
          <p:nvPr/>
        </p:nvSpPr>
        <p:spPr>
          <a:xfrm rot="5400000">
            <a:off x="1398666" y="3678589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7A6B0F0F-09FC-3F36-B671-90474EC73D98}"/>
              </a:ext>
            </a:extLst>
          </p:cNvPr>
          <p:cNvSpPr/>
          <p:nvPr/>
        </p:nvSpPr>
        <p:spPr>
          <a:xfrm rot="5400000">
            <a:off x="77865" y="5550932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45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16F39-1B76-5C04-01B9-81681FDFE7DD}"/>
              </a:ext>
            </a:extLst>
          </p:cNvPr>
          <p:cNvSpPr txBox="1"/>
          <p:nvPr/>
        </p:nvSpPr>
        <p:spPr>
          <a:xfrm>
            <a:off x="210458" y="250372"/>
            <a:ext cx="1204685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highlight>
                  <a:srgbClr val="FFFFFF"/>
                </a:highlight>
                <a:latin typeface="Aptos"/>
              </a:rPr>
              <a:t>          </a:t>
            </a:r>
            <a:r>
              <a:rPr lang="en-US" sz="24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</a:rPr>
              <a:t>Verification -  </a:t>
            </a:r>
            <a:r>
              <a:rPr lang="en-IN" sz="24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</a:rPr>
              <a:t>Any 3 of the below verification questions needs to be answered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8D263-45B2-08A6-A6D0-9164C7272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69" y="835857"/>
            <a:ext cx="11764343" cy="552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9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60C0F-6382-6334-AB15-20430F6B0318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CSR TAGGING</a:t>
            </a: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34CB4FAC-4094-5E7A-BDE7-024946094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3727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36F1AC-52C2-3C3A-351E-61779A4AB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379407"/>
            <a:ext cx="11749315" cy="6099187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6EDEAC81-2FD5-55F3-A221-0BFEC0FA31F0}"/>
              </a:ext>
            </a:extLst>
          </p:cNvPr>
          <p:cNvSpPr/>
          <p:nvPr/>
        </p:nvSpPr>
        <p:spPr>
          <a:xfrm rot="5400000">
            <a:off x="1986495" y="3402819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32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BA4EDD-47C7-562C-33F4-AE11C030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7" y="365008"/>
            <a:ext cx="11807372" cy="6127983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7A2FE87D-F960-7BE7-FAA3-B3DBDDAF3CD4}"/>
              </a:ext>
            </a:extLst>
          </p:cNvPr>
          <p:cNvSpPr/>
          <p:nvPr/>
        </p:nvSpPr>
        <p:spPr>
          <a:xfrm rot="5400000">
            <a:off x="4134609" y="3489905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0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B0946C-7528-E231-840D-D61312668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" y="422404"/>
            <a:ext cx="12010572" cy="6013191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FC221725-D9BB-7578-1D72-01E39F94EA37}"/>
              </a:ext>
            </a:extLst>
          </p:cNvPr>
          <p:cNvSpPr/>
          <p:nvPr/>
        </p:nvSpPr>
        <p:spPr>
          <a:xfrm rot="5400000">
            <a:off x="6645580" y="3402819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4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1EC7A-60DC-39A0-766F-6D2A4F46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7" y="152560"/>
            <a:ext cx="11749315" cy="6044881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9731360C-7E5B-D055-2161-A2204FEC7E40}"/>
              </a:ext>
            </a:extLst>
          </p:cNvPr>
          <p:cNvSpPr/>
          <p:nvPr/>
        </p:nvSpPr>
        <p:spPr>
          <a:xfrm rot="10920000">
            <a:off x="8140552" y="2677104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A6CF67-0ED6-31C1-D71A-F33033EE0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" y="393780"/>
            <a:ext cx="11821886" cy="6070440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65F698C9-6EFF-2EBE-54C7-EF2E08B1697B}"/>
              </a:ext>
            </a:extLst>
          </p:cNvPr>
          <p:cNvSpPr/>
          <p:nvPr/>
        </p:nvSpPr>
        <p:spPr>
          <a:xfrm rot="5400000">
            <a:off x="1543809" y="4222876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9D47407A-73F2-1529-40BF-7C5E725B6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449369"/>
            <a:ext cx="11640458" cy="5959261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229F893F-3844-DF0C-BEA2-AEAFC2F3EED1}"/>
              </a:ext>
            </a:extLst>
          </p:cNvPr>
          <p:cNvSpPr/>
          <p:nvPr/>
        </p:nvSpPr>
        <p:spPr>
          <a:xfrm rot="10800000">
            <a:off x="3401637" y="3061733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44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5B304E-47F6-40A4-319D-CBB62725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5" y="416071"/>
            <a:ext cx="11705773" cy="6025858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B8E875B5-EAD2-3DC0-2504-90ECB32C476B}"/>
              </a:ext>
            </a:extLst>
          </p:cNvPr>
          <p:cNvSpPr/>
          <p:nvPr/>
        </p:nvSpPr>
        <p:spPr>
          <a:xfrm rot="10800000">
            <a:off x="3829808" y="4491390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548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15958A-F280-C87A-7463-3C627F53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408002"/>
            <a:ext cx="11342915" cy="6041997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1FBA6D58-6CD3-240F-4CFC-396A40D2976F}"/>
              </a:ext>
            </a:extLst>
          </p:cNvPr>
          <p:cNvSpPr/>
          <p:nvPr/>
        </p:nvSpPr>
        <p:spPr>
          <a:xfrm rot="5400000">
            <a:off x="4221695" y="4222876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10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C5832-7D44-3C09-60FC-1D6C9F678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" y="461211"/>
            <a:ext cx="11785601" cy="5935579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7FA7FF1D-7618-C624-1BDE-329F54299392}"/>
              </a:ext>
            </a:extLst>
          </p:cNvPr>
          <p:cNvSpPr/>
          <p:nvPr/>
        </p:nvSpPr>
        <p:spPr>
          <a:xfrm rot="16200000">
            <a:off x="7872038" y="5311447"/>
            <a:ext cx="978408" cy="4846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197</cp:revision>
  <dcterms:created xsi:type="dcterms:W3CDTF">2026-07-08T04:11:13Z</dcterms:created>
  <dcterms:modified xsi:type="dcterms:W3CDTF">2026-08-21T05:14:35Z</dcterms:modified>
</cp:coreProperties>
</file>