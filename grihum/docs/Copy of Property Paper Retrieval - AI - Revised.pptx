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59" r:id="rId5"/>
    <p:sldId id="260" r:id="rId6"/>
    <p:sldId id="274" r:id="rId7"/>
    <p:sldId id="275" r:id="rId8"/>
    <p:sldId id="261" r:id="rId9"/>
    <p:sldId id="262" r:id="rId10"/>
    <p:sldId id="263" r:id="rId11"/>
    <p:sldId id="277" r:id="rId12"/>
    <p:sldId id="278" r:id="rId13"/>
    <p:sldId id="279" r:id="rId14"/>
    <p:sldId id="280" r:id="rId15"/>
    <p:sldId id="281" r:id="rId16"/>
    <p:sldId id="282" r:id="rId17"/>
    <p:sldId id="283" r:id="rId18"/>
    <p:sldId id="264" r:id="rId19"/>
    <p:sldId id="265" r:id="rId20"/>
    <p:sldId id="266" r:id="rId21"/>
    <p:sldId id="267" r:id="rId22"/>
    <p:sldId id="268" r:id="rId23"/>
    <p:sldId id="269" r:id="rId24"/>
    <p:sldId id="270" r:id="rId25"/>
    <p:sldId id="271" r:id="rId26"/>
    <p:sldId id="272" r:id="rId27"/>
    <p:sldId id="27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9" d="100"/>
          <a:sy n="69"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mailto:customercare@grihumhousing.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mailto:customercare@grihumhousing.com"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8BFF6F-B844-0142-660C-A172BB8C5564}"/>
              </a:ext>
            </a:extLst>
          </p:cNvPr>
          <p:cNvSpPr>
            <a:spLocks noGrp="1"/>
          </p:cNvSpPr>
          <p:nvPr>
            <p:ph type="title"/>
          </p:nvPr>
        </p:nvSpPr>
        <p:spPr>
          <a:xfrm>
            <a:off x="1524003" y="1999615"/>
            <a:ext cx="9144000" cy="2764028"/>
          </a:xfrm>
        </p:spPr>
        <p:txBody>
          <a:bodyPr vert="horz" lIns="91440" tIns="45720" rIns="91440" bIns="45720" rtlCol="0" anchor="ctr">
            <a:normAutofit fontScale="90000"/>
          </a:bodyPr>
          <a:lstStyle/>
          <a:p>
            <a:pPr algn="ctr"/>
            <a:r>
              <a:rPr lang="en-US" sz="7200" kern="1200" dirty="0">
                <a:solidFill>
                  <a:schemeClr val="tx1"/>
                </a:solidFill>
                <a:latin typeface="+mj-lt"/>
                <a:ea typeface="+mj-ea"/>
                <a:cs typeface="+mj-cs"/>
              </a:rPr>
              <a:t>Copy of Property Paper Retrieval</a:t>
            </a:r>
            <a:br>
              <a:rPr lang="en-US" sz="7200" kern="1200" dirty="0">
                <a:solidFill>
                  <a:schemeClr val="tx1"/>
                </a:solidFill>
                <a:latin typeface="+mj-lt"/>
                <a:ea typeface="+mj-ea"/>
                <a:cs typeface="+mj-cs"/>
              </a:rPr>
            </a:br>
            <a:r>
              <a:rPr lang="en-US" sz="7200" kern="1200" dirty="0">
                <a:solidFill>
                  <a:schemeClr val="tx1"/>
                </a:solidFill>
                <a:latin typeface="+mj-lt"/>
                <a:ea typeface="+mj-ea"/>
                <a:cs typeface="+mj-cs"/>
              </a:rPr>
              <a:t>Scenario1 &amp; 2</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156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3175"/>
            <a:ext cx="12192000" cy="400050"/>
          </a:xfrm>
        </p:spPr>
        <p:txBody>
          <a:bodyPr>
            <a:normAutofit/>
          </a:bodyPr>
          <a:lstStyle/>
          <a:p>
            <a:pPr algn="ctr"/>
            <a:r>
              <a:rPr lang="en-US" sz="2000" b="1" dirty="0">
                <a:latin typeface="Cambria"/>
                <a:ea typeface="Cambria"/>
              </a:rPr>
              <a:t>Process </a:t>
            </a:r>
            <a:r>
              <a:rPr lang="en-US" sz="2000" b="1" dirty="0">
                <a:latin typeface="Cambria"/>
                <a:ea typeface="Cambria"/>
                <a:cs typeface="+mj-lt"/>
              </a:rPr>
              <a:t>Copy of Property Paper Retrieval (Scenario 1)</a:t>
            </a:r>
            <a:endParaRPr lang="en-US" sz="2000" b="1" dirty="0">
              <a:latin typeface="Cambria"/>
              <a:ea typeface="Cambria"/>
            </a:endParaRPr>
          </a:p>
        </p:txBody>
      </p:sp>
      <p:sp>
        <p:nvSpPr>
          <p:cNvPr id="3" name="Subtitle 2"/>
          <p:cNvSpPr>
            <a:spLocks noGrp="1"/>
          </p:cNvSpPr>
          <p:nvPr>
            <p:ph type="subTitle" idx="4294967295"/>
          </p:nvPr>
        </p:nvSpPr>
        <p:spPr>
          <a:xfrm>
            <a:off x="0" y="411163"/>
            <a:ext cx="12192000" cy="6442075"/>
          </a:xfrm>
        </p:spPr>
        <p:txBody>
          <a:bodyPr vert="horz" lIns="91440" tIns="45720" rIns="91440" bIns="45720" rtlCol="0" anchor="t">
            <a:noAutofit/>
          </a:bodyPr>
          <a:lstStyle/>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Opening Script - </a:t>
            </a:r>
            <a:r>
              <a:rPr lang="en-US" sz="1400" i="1" dirty="0">
                <a:solidFill>
                  <a:schemeClr val="accent1"/>
                </a:solidFill>
                <a:highlight>
                  <a:srgbClr val="FFFFFF"/>
                </a:highlight>
                <a:latin typeface="Cambria"/>
                <a:ea typeface="Cambria"/>
                <a:cs typeface="Calibri"/>
              </a:rPr>
              <a:t>Welcome to </a:t>
            </a:r>
            <a:r>
              <a:rPr lang="en-US" sz="1400" i="1" dirty="0" err="1">
                <a:solidFill>
                  <a:schemeClr val="accent1"/>
                </a:solidFill>
                <a:highlight>
                  <a:srgbClr val="FFFFFF"/>
                </a:highlight>
                <a:latin typeface="Cambria"/>
                <a:ea typeface="Cambria"/>
                <a:cs typeface="Calibri"/>
              </a:rPr>
              <a:t>Grihum</a:t>
            </a:r>
            <a:r>
              <a:rPr lang="en-US" sz="1400" i="1" dirty="0">
                <a:solidFill>
                  <a:schemeClr val="accent1"/>
                </a:solidFill>
                <a:highlight>
                  <a:srgbClr val="FFFFFF"/>
                </a:highlight>
                <a:latin typeface="Cambria"/>
                <a:ea typeface="Cambria"/>
                <a:cs typeface="Calibri"/>
              </a:rPr>
              <a:t> Housing Finance Limited. My name is (Agent Name) How may I assist you?</a:t>
            </a:r>
            <a:r>
              <a:rPr lang="en-US" sz="1400" i="1" dirty="0">
                <a:solidFill>
                  <a:schemeClr val="accent1"/>
                </a:solidFill>
                <a:latin typeface="Cambria"/>
                <a:ea typeface="Cambria"/>
                <a:cs typeface="Calibri"/>
              </a:rPr>
              <a:t> </a:t>
            </a:r>
            <a:endParaRPr lang="en-US" sz="1400" i="1" dirty="0">
              <a:solidFill>
                <a:schemeClr val="accent1"/>
              </a:solidFill>
              <a:latin typeface="Cambria"/>
              <a:ea typeface="Cambria"/>
            </a:endParaRPr>
          </a:p>
          <a:p>
            <a:pPr marL="342900" indent="-342900">
              <a:lnSpc>
                <a:spcPct val="100000"/>
              </a:lnSpc>
              <a:spcBef>
                <a:spcPts val="0"/>
              </a:spcBef>
              <a:buFont typeface="Wingdings"/>
              <a:buChar char="Ø"/>
            </a:pPr>
            <a:r>
              <a:rPr lang="en-US" sz="1400" dirty="0">
                <a:latin typeface="Cambria"/>
                <a:ea typeface="Cambria"/>
                <a:cs typeface="Calibri"/>
              </a:rPr>
              <a:t>Customer </a:t>
            </a:r>
            <a:r>
              <a:rPr lang="en-US" sz="1400" i="1" dirty="0">
                <a:latin typeface="Cambria"/>
                <a:ea typeface="Cambria"/>
                <a:cs typeface="Calibri"/>
              </a:rPr>
              <a:t>– I want  </a:t>
            </a:r>
            <a:r>
              <a:rPr lang="en-US" sz="1400" i="1" dirty="0">
                <a:latin typeface="Cambria"/>
                <a:ea typeface="Cambria"/>
                <a:cs typeface="+mn-lt"/>
              </a:rPr>
              <a:t>Copy of Property Paper </a:t>
            </a:r>
            <a:endParaRPr lang="en-US" sz="1400" i="1" dirty="0">
              <a:latin typeface="Cambria"/>
              <a:ea typeface="Cambria"/>
              <a:cs typeface="Calibri"/>
            </a:endParaRPr>
          </a:p>
          <a:p>
            <a:pPr marL="285750" indent="-285750">
              <a:lnSpc>
                <a:spcPct val="100000"/>
              </a:lnSpc>
              <a:spcBef>
                <a:spcPts val="0"/>
              </a:spcBef>
              <a:buFont typeface="Wingdings"/>
              <a:buChar char="Ø"/>
            </a:pPr>
            <a:r>
              <a:rPr lang="en-US" sz="1400" dirty="0">
                <a:latin typeface="Cambria"/>
                <a:ea typeface="Cambria"/>
                <a:cs typeface="Calibri"/>
              </a:rPr>
              <a:t>AI - </a:t>
            </a:r>
            <a:r>
              <a:rPr lang="en-US" sz="1400" i="1" dirty="0">
                <a:solidFill>
                  <a:schemeClr val="accent1"/>
                </a:solidFill>
                <a:highlight>
                  <a:srgbClr val="FFFFFF"/>
                </a:highlight>
                <a:latin typeface="Cambria"/>
                <a:ea typeface="Cambria"/>
                <a:cs typeface="Calibri"/>
              </a:rPr>
              <a:t>Please note that this call is being recorded for quality assurance and training purposes</a:t>
            </a:r>
            <a:r>
              <a:rPr lang="en-US" sz="1400" dirty="0">
                <a:highlight>
                  <a:srgbClr val="FFFFFF"/>
                </a:highlight>
                <a:latin typeface="Cambria"/>
                <a:ea typeface="Cambria"/>
                <a:cs typeface="Calibri"/>
              </a:rPr>
              <a:t>.</a:t>
            </a:r>
            <a:endParaRPr lang="en-US" sz="1400" dirty="0">
              <a:latin typeface="Cambria"/>
              <a:ea typeface="Cambria"/>
              <a:cs typeface="Calibri"/>
            </a:endParaRPr>
          </a:p>
          <a:p>
            <a:pPr marL="285750" indent="-285750">
              <a:lnSpc>
                <a:spcPct val="100000"/>
              </a:lnSpc>
              <a:spcBef>
                <a:spcPts val="0"/>
              </a:spcBef>
              <a:buFont typeface="Wingdings"/>
              <a:buChar char="Ø"/>
            </a:pPr>
            <a:endParaRPr lang="en-US" sz="1400" dirty="0">
              <a:latin typeface="Cambria"/>
              <a:ea typeface="Cambria"/>
              <a:cs typeface="Calibri"/>
            </a:endParaRPr>
          </a:p>
          <a:p>
            <a:pPr marL="285750" indent="-285750">
              <a:lnSpc>
                <a:spcPct val="100000"/>
              </a:lnSpc>
              <a:spcBef>
                <a:spcPts val="0"/>
              </a:spcBef>
              <a:buFont typeface="Wingdings"/>
              <a:buChar char="Ø"/>
            </a:pPr>
            <a:r>
              <a:rPr lang="en-US" sz="1400" dirty="0">
                <a:latin typeface="Cambria"/>
                <a:ea typeface="Cambria"/>
                <a:cs typeface="Calibri"/>
              </a:rPr>
              <a:t>AI - </a:t>
            </a:r>
            <a:r>
              <a:rPr lang="en-US" sz="1400" i="1" dirty="0">
                <a:solidFill>
                  <a:schemeClr val="accent1"/>
                </a:solidFill>
                <a:highlight>
                  <a:srgbClr val="FFFFFF"/>
                </a:highlight>
                <a:latin typeface="Cambria"/>
                <a:ea typeface="Cambria"/>
                <a:cs typeface="Calibri"/>
              </a:rPr>
              <a:t>To verify the information, kindly provide the registered mobile number</a:t>
            </a:r>
            <a:r>
              <a:rPr lang="en-US" sz="1400" i="1" dirty="0">
                <a:solidFill>
                  <a:schemeClr val="accent2"/>
                </a:solidFill>
                <a:highlight>
                  <a:srgbClr val="FFFFFF"/>
                </a:highlight>
                <a:latin typeface="Cambria"/>
                <a:ea typeface="Cambria"/>
                <a:cs typeface="Calibri"/>
              </a:rPr>
              <a:t>  ( To check the details in </a:t>
            </a:r>
            <a:r>
              <a:rPr lang="en-US" sz="1400" i="1" dirty="0" err="1">
                <a:solidFill>
                  <a:schemeClr val="accent2"/>
                </a:solidFill>
                <a:highlight>
                  <a:srgbClr val="FFFFFF"/>
                </a:highlight>
                <a:latin typeface="Cambria"/>
                <a:ea typeface="Cambria"/>
                <a:cs typeface="Calibri"/>
              </a:rPr>
              <a:t>finnone</a:t>
            </a:r>
            <a:r>
              <a:rPr lang="en-US" sz="1400" i="1" dirty="0">
                <a:solidFill>
                  <a:schemeClr val="accent2"/>
                </a:solidFill>
                <a:highlight>
                  <a:srgbClr val="FFFFFF"/>
                </a:highlight>
                <a:latin typeface="Cambria"/>
                <a:ea typeface="Cambria"/>
                <a:cs typeface="Calibri"/>
              </a:rPr>
              <a:t> slide 3)</a:t>
            </a:r>
            <a:endParaRPr lang="en-US" sz="1400" i="1" dirty="0">
              <a:solidFill>
                <a:schemeClr val="accent2"/>
              </a:solidFill>
              <a:latin typeface="Cambria"/>
              <a:ea typeface="Cambria"/>
              <a:cs typeface="Calibri"/>
            </a:endParaRPr>
          </a:p>
          <a:p>
            <a:pPr marL="285750" indent="-285750">
              <a:lnSpc>
                <a:spcPct val="100000"/>
              </a:lnSpc>
              <a:spcBef>
                <a:spcPts val="0"/>
              </a:spcBef>
              <a:buFont typeface="Wingdings"/>
              <a:buChar char="Ø"/>
            </a:pPr>
            <a:endParaRPr lang="en-US" sz="1400" i="1" dirty="0">
              <a:latin typeface="Cambria"/>
              <a:ea typeface="Cambria"/>
              <a:cs typeface="Calibri"/>
            </a:endParaRPr>
          </a:p>
          <a:p>
            <a:pPr marL="285750" indent="-285750">
              <a:lnSpc>
                <a:spcPct val="100000"/>
              </a:lnSpc>
              <a:spcBef>
                <a:spcPts val="0"/>
              </a:spcBef>
              <a:buFont typeface="Wingdings"/>
              <a:buChar char="Ø"/>
            </a:pPr>
            <a:r>
              <a:rPr lang="en-US" sz="1400" dirty="0">
                <a:highlight>
                  <a:srgbClr val="FFFFFF"/>
                </a:highlight>
                <a:latin typeface="Cambria"/>
                <a:ea typeface="Cambria"/>
                <a:cs typeface="Calibri"/>
              </a:rPr>
              <a:t>AI - Verification -  </a:t>
            </a:r>
            <a:r>
              <a:rPr lang="en-US" sz="1400" i="1" dirty="0">
                <a:solidFill>
                  <a:schemeClr val="accent1"/>
                </a:solidFill>
                <a:highlight>
                  <a:srgbClr val="FFFFFF"/>
                </a:highlight>
                <a:latin typeface="Cambria"/>
                <a:ea typeface="Cambria"/>
                <a:cs typeface="Calibri"/>
              </a:rPr>
              <a:t>Any 3 of the below verification questions needs to be answered </a:t>
            </a:r>
            <a:r>
              <a:rPr lang="en-US" sz="1400" i="1" dirty="0">
                <a:solidFill>
                  <a:schemeClr val="accent2"/>
                </a:solidFill>
                <a:highlight>
                  <a:srgbClr val="FFFFFF"/>
                </a:highlight>
                <a:latin typeface="Cambria"/>
                <a:ea typeface="Cambria"/>
                <a:cs typeface="Calibri"/>
              </a:rPr>
              <a:t>( To verify the customer details slide 4 )</a:t>
            </a:r>
            <a:endParaRPr lang="en-US" sz="1400" i="1" dirty="0">
              <a:solidFill>
                <a:schemeClr val="accent2"/>
              </a:solidFill>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NAME     </a:t>
            </a:r>
          </a:p>
          <a:p>
            <a:pPr marL="342900" indent="-342900">
              <a:buFont typeface="Wingdings"/>
              <a:buChar char="Ø"/>
            </a:pPr>
            <a:r>
              <a:rPr lang="en-US" sz="1400" dirty="0">
                <a:highlight>
                  <a:srgbClr val="FFFFFF"/>
                </a:highlight>
                <a:latin typeface="Cambria"/>
                <a:ea typeface="Cambria"/>
                <a:cs typeface="Calibri"/>
              </a:rPr>
              <a:t>Date of Birth </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Registered Email ID</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Loan Sanction Amount</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EMI Amount</a:t>
            </a:r>
            <a:endParaRPr lang="en-US" sz="1400" dirty="0">
              <a:latin typeface="Cambria"/>
              <a:ea typeface="Cambria"/>
              <a:cs typeface="Calibri"/>
            </a:endParaRPr>
          </a:p>
          <a:p>
            <a:pPr marL="285750" indent="-285750">
              <a:lnSpc>
                <a:spcPct val="100000"/>
              </a:lnSpc>
              <a:spcBef>
                <a:spcPts val="0"/>
              </a:spcBef>
              <a:buFont typeface="Wingdings" panose="020B0604020202020204" pitchFamily="34" charset="0"/>
              <a:buChar char="Ø"/>
            </a:pPr>
            <a:endParaRPr lang="en-US" sz="1400" dirty="0">
              <a:latin typeface="Cambria"/>
              <a:ea typeface="Cambria"/>
            </a:endParaRPr>
          </a:p>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Calibri"/>
              </a:rPr>
              <a:t>Thank you, Sir/Madam. Your verification has been completed</a:t>
            </a:r>
            <a:r>
              <a:rPr lang="en-US" sz="1400" dirty="0">
                <a:highlight>
                  <a:srgbClr val="FFFFFF"/>
                </a:highlight>
                <a:latin typeface="Cambria"/>
                <a:ea typeface="Cambria"/>
                <a:cs typeface="Calibri"/>
              </a:rPr>
              <a:t>.</a:t>
            </a:r>
          </a:p>
          <a:p>
            <a:pPr marL="0" indent="0">
              <a:lnSpc>
                <a:spcPct val="100000"/>
              </a:lnSpc>
              <a:spcBef>
                <a:spcPts val="0"/>
              </a:spcBef>
              <a:buNone/>
            </a:pPr>
            <a:r>
              <a:rPr lang="en-US" sz="1600" i="1"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If there are two LANs, AI should first confirm the specific sanctioned amount, as the LAN number is not remembered by the customer. Once confirmed, proceed with the relevant LAN number. Check Point: </a:t>
            </a:r>
            <a:r>
              <a:rPr lang="en-US" sz="1600" i="1" dirty="0" err="1">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FinnOne</a:t>
            </a:r>
            <a:r>
              <a:rPr lang="en-US" sz="1600" i="1"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 Slide 4.</a:t>
            </a:r>
          </a:p>
          <a:p>
            <a:pPr marL="0" indent="0">
              <a:lnSpc>
                <a:spcPct val="100000"/>
              </a:lnSpc>
              <a:spcBef>
                <a:spcPts val="0"/>
              </a:spcBef>
              <a:buNone/>
            </a:pPr>
            <a:endParaRPr lang="en-US" sz="1600"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Segoe UI"/>
              </a:rPr>
              <a:t>As you requested a copy of the property papers, please note that there is a charge of ₹295, inclusive of 18% GST.</a:t>
            </a:r>
          </a:p>
          <a:p>
            <a:pPr marL="0" indent="0">
              <a:lnSpc>
                <a:spcPct val="100000"/>
              </a:lnSpc>
              <a:spcBef>
                <a:spcPts val="0"/>
              </a:spcBef>
              <a:buNone/>
            </a:pPr>
            <a:endParaRPr lang="en-US" sz="1400" i="1" dirty="0">
              <a:solidFill>
                <a:schemeClr val="accent1"/>
              </a:solidFill>
              <a:highlight>
                <a:srgbClr val="FFFFFF"/>
              </a:highlight>
              <a:latin typeface="Cambria"/>
              <a:ea typeface="Cambria"/>
              <a:cs typeface="Segoe UI"/>
            </a:endParaRPr>
          </a:p>
          <a:p>
            <a:pPr marL="342900" indent="-342900">
              <a:lnSpc>
                <a:spcPct val="100000"/>
              </a:lnSpc>
              <a:spcBef>
                <a:spcPts val="0"/>
              </a:spcBef>
              <a:buFont typeface="Wingdings"/>
              <a:buChar char="Ø"/>
            </a:pPr>
            <a:r>
              <a:rPr lang="en-US" sz="1400" dirty="0">
                <a:highlight>
                  <a:srgbClr val="FFFFFF"/>
                </a:highlight>
                <a:latin typeface="Cambria"/>
                <a:ea typeface="Cambria"/>
              </a:rPr>
              <a:t>AI -   </a:t>
            </a:r>
            <a:r>
              <a:rPr lang="en-US" sz="1400" i="1" dirty="0">
                <a:solidFill>
                  <a:schemeClr val="accent1"/>
                </a:solidFill>
                <a:highlight>
                  <a:srgbClr val="FFFFFF"/>
                </a:highlight>
                <a:latin typeface="Cambria"/>
                <a:ea typeface="Cambria"/>
                <a:cs typeface="Segoe UI"/>
              </a:rPr>
              <a:t>I am sharing the VAN details for the payment. After making the payment, kindly share the payment confirmation/details via email at </a:t>
            </a:r>
            <a:r>
              <a:rPr lang="en-US" sz="1400" b="1" dirty="0">
                <a:highlight>
                  <a:srgbClr val="FFFFFF"/>
                </a:highlight>
                <a:latin typeface="Cambria"/>
                <a:ea typeface="Cambria"/>
                <a:cs typeface="Segoe UI"/>
                <a:hlinkClick r:id="rId2"/>
              </a:rPr>
              <a:t>customercare@grihumhousing.com</a:t>
            </a:r>
            <a:r>
              <a:rPr lang="en-US" sz="1400" dirty="0">
                <a:highlight>
                  <a:srgbClr val="FFFFFF"/>
                </a:highlight>
                <a:latin typeface="Cambria"/>
                <a:ea typeface="Cambria"/>
                <a:cs typeface="Segoe UI"/>
              </a:rPr>
              <a:t> </a:t>
            </a:r>
            <a:r>
              <a:rPr lang="en-US" sz="1400" i="1" dirty="0">
                <a:solidFill>
                  <a:schemeClr val="accent1"/>
                </a:solidFill>
                <a:highlight>
                  <a:srgbClr val="FFFFFF"/>
                </a:highlight>
                <a:latin typeface="Cambria"/>
                <a:ea typeface="Cambria"/>
                <a:cs typeface="Segoe UI"/>
              </a:rPr>
              <a:t>or contact us on our toll-free number </a:t>
            </a:r>
            <a:r>
              <a:rPr lang="en-US" sz="1400" b="1" i="1" dirty="0">
                <a:solidFill>
                  <a:schemeClr val="accent1"/>
                </a:solidFill>
                <a:highlight>
                  <a:srgbClr val="FFFFFF"/>
                </a:highlight>
                <a:latin typeface="Cambria"/>
                <a:ea typeface="Cambria"/>
                <a:cs typeface="Segoe UI"/>
              </a:rPr>
              <a:t>1800 266 3204</a:t>
            </a:r>
            <a:r>
              <a:rPr lang="en-US" sz="1400" dirty="0">
                <a:highlight>
                  <a:srgbClr val="FFFFFF"/>
                </a:highlight>
                <a:latin typeface="Cambria"/>
                <a:ea typeface="Cambria"/>
                <a:cs typeface="Segoe UI"/>
              </a:rPr>
              <a:t>.</a:t>
            </a:r>
            <a:r>
              <a:rPr lang="en-US" sz="1400" i="1" dirty="0">
                <a:solidFill>
                  <a:schemeClr val="accent1"/>
                </a:solidFill>
                <a:highlight>
                  <a:srgbClr val="FFFFFF"/>
                </a:highlight>
                <a:latin typeface="Cambria"/>
                <a:ea typeface="Cambria"/>
                <a:cs typeface="Segoe UI"/>
              </a:rPr>
              <a:t> ( To share the VAN details  slide from 5 to 10 )</a:t>
            </a:r>
          </a:p>
          <a:p>
            <a:pPr marL="342900" indent="-342900">
              <a:lnSpc>
                <a:spcPct val="100000"/>
              </a:lnSpc>
              <a:spcBef>
                <a:spcPts val="0"/>
              </a:spcBef>
              <a:buFont typeface="Wingdings"/>
              <a:buChar char="Ø"/>
            </a:pPr>
            <a:r>
              <a:rPr lang="en-US" sz="1400" dirty="0">
                <a:highlight>
                  <a:srgbClr val="FFFFFF"/>
                </a:highlight>
                <a:latin typeface="Cambria"/>
                <a:ea typeface="Cambria"/>
              </a:rPr>
              <a:t>AI – </a:t>
            </a:r>
            <a:r>
              <a:rPr lang="en-US" sz="1400" i="1" dirty="0">
                <a:solidFill>
                  <a:schemeClr val="accent1"/>
                </a:solidFill>
                <a:highlight>
                  <a:srgbClr val="FFFFFF"/>
                </a:highlight>
                <a:latin typeface="Cambria"/>
                <a:ea typeface="Cambria"/>
                <a:cs typeface="Segoe UI"/>
              </a:rPr>
              <a:t>Once the charges are received and you call our toll free number , we will raise the request for a copy of the property papers</a:t>
            </a:r>
            <a:r>
              <a:rPr lang="en-US" sz="1400" dirty="0">
                <a:highlight>
                  <a:srgbClr val="FFFFFF"/>
                </a:highlight>
                <a:latin typeface="Cambria"/>
                <a:ea typeface="Cambria"/>
                <a:cs typeface="Segoe UI"/>
              </a:rPr>
              <a:t>. </a:t>
            </a:r>
            <a:r>
              <a:rPr lang="en-US" sz="1400" i="1" dirty="0">
                <a:solidFill>
                  <a:schemeClr val="accent1"/>
                </a:solidFill>
                <a:highlight>
                  <a:srgbClr val="FFFFFF"/>
                </a:highlight>
                <a:latin typeface="Cambria"/>
                <a:ea typeface="Cambria"/>
                <a:cs typeface="Segoe UI"/>
              </a:rPr>
              <a:t>The turnaround time (TAT) for providing the documents is </a:t>
            </a:r>
            <a:r>
              <a:rPr lang="en-US" sz="1400" b="1" i="1" dirty="0">
                <a:solidFill>
                  <a:schemeClr val="accent1"/>
                </a:solidFill>
                <a:highlight>
                  <a:srgbClr val="FFFFFF"/>
                </a:highlight>
                <a:latin typeface="Cambria"/>
                <a:ea typeface="Cambria"/>
                <a:cs typeface="Segoe UI"/>
              </a:rPr>
              <a:t>10 working days</a:t>
            </a:r>
            <a:r>
              <a:rPr lang="en-US" sz="1400" dirty="0">
                <a:highlight>
                  <a:srgbClr val="FFFFFF"/>
                </a:highlight>
                <a:latin typeface="Cambria"/>
                <a:ea typeface="Cambria"/>
                <a:cs typeface="Segoe UI"/>
              </a:rPr>
              <a:t>. </a:t>
            </a:r>
            <a:r>
              <a:rPr lang="en-US" sz="1400" i="1" dirty="0">
                <a:solidFill>
                  <a:schemeClr val="accent2"/>
                </a:solidFill>
                <a:highlight>
                  <a:srgbClr val="FFFFFF"/>
                </a:highlight>
                <a:latin typeface="Cambria"/>
                <a:ea typeface="Cambria"/>
                <a:cs typeface="Segoe UI"/>
              </a:rPr>
              <a:t>(  To raise the request slide from 11 to 20 )</a:t>
            </a:r>
            <a:endParaRPr lang="en-US" sz="1400" dirty="0">
              <a:highlight>
                <a:srgbClr val="FFFFFF"/>
              </a:highlight>
              <a:latin typeface="Cambria"/>
              <a:ea typeface="Cambria"/>
            </a:endParaRPr>
          </a:p>
          <a:p>
            <a:pPr marL="342900" indent="-342900">
              <a:lnSpc>
                <a:spcPct val="120000"/>
              </a:lnSpc>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Calibri"/>
              </a:rPr>
              <a:t>Any other details required apart from this?</a:t>
            </a:r>
          </a:p>
          <a:p>
            <a:pPr marL="342900" indent="-342900">
              <a:buFont typeface="Wingdings"/>
              <a:buChar char="Ø"/>
            </a:pPr>
            <a:r>
              <a:rPr lang="en-US" sz="1400" i="1" dirty="0">
                <a:solidFill>
                  <a:schemeClr val="accent1"/>
                </a:solidFill>
                <a:highlight>
                  <a:srgbClr val="FFFFFF"/>
                </a:highlight>
                <a:latin typeface="Cambria"/>
                <a:ea typeface="Cambria"/>
                <a:cs typeface="Calibri"/>
              </a:rPr>
              <a:t>Thankyou for calling </a:t>
            </a:r>
            <a:r>
              <a:rPr lang="en-US" sz="1400" i="1" dirty="0" err="1">
                <a:solidFill>
                  <a:schemeClr val="accent1"/>
                </a:solidFill>
                <a:highlight>
                  <a:srgbClr val="FFFFFF"/>
                </a:highlight>
                <a:latin typeface="Cambria"/>
                <a:ea typeface="Cambria"/>
                <a:cs typeface="Calibri"/>
              </a:rPr>
              <a:t>Grihum</a:t>
            </a:r>
            <a:r>
              <a:rPr lang="en-US" sz="1400" i="1" dirty="0">
                <a:solidFill>
                  <a:schemeClr val="accent1"/>
                </a:solidFill>
                <a:highlight>
                  <a:srgbClr val="FFFFFF"/>
                </a:highlight>
                <a:latin typeface="Cambria"/>
                <a:ea typeface="Cambria"/>
                <a:cs typeface="Calibri"/>
              </a:rPr>
              <a:t> Housing Finance Limited.  Have a pleasant day!</a:t>
            </a:r>
          </a:p>
          <a:p>
            <a:pPr marL="342900" indent="-342900">
              <a:lnSpc>
                <a:spcPct val="100000"/>
              </a:lnSpc>
              <a:spcBef>
                <a:spcPts val="0"/>
              </a:spcBef>
              <a:buFont typeface="Wingdings"/>
              <a:buChar char="Ø"/>
            </a:pPr>
            <a:endParaRPr lang="en-US" sz="1600" dirty="0">
              <a:highlight>
                <a:srgbClr val="FFFFFF"/>
              </a:highlight>
              <a:ea typeface="+mn-lt"/>
              <a:cs typeface="+mn-lt"/>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72C4D6-22AF-202D-8793-1EDEA07AC5A2}"/>
              </a:ext>
            </a:extLst>
          </p:cNvPr>
          <p:cNvSpPr txBox="1"/>
          <p:nvPr/>
        </p:nvSpPr>
        <p:spPr>
          <a:xfrm>
            <a:off x="0" y="-5686"/>
            <a:ext cx="1331794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0" i="0" u="none" strike="noStrike" baseline="0">
                <a:solidFill>
                  <a:srgbClr val="000000"/>
                </a:solidFill>
                <a:latin typeface="Aptos Display"/>
              </a:rPr>
              <a:t>FINONE </a:t>
            </a:r>
            <a:endParaRPr lang="en-US"/>
          </a:p>
          <a:p>
            <a:pPr algn="ctr"/>
            <a:r>
              <a:rPr lang="en-IN" b="1">
                <a:highlight>
                  <a:srgbClr val="FFFFFF"/>
                </a:highlight>
                <a:latin typeface="Calibri"/>
                <a:ea typeface="Calibri"/>
                <a:cs typeface="Calibri"/>
              </a:rPr>
              <a:t>To verify the information, please provide the customer's registered mobile number.</a:t>
            </a:r>
            <a:r>
              <a:rPr lang="en-US" dirty="0">
                <a:latin typeface="Calibri"/>
                <a:ea typeface="Calibri"/>
                <a:cs typeface="Calibri"/>
              </a:rPr>
              <a:t> </a:t>
            </a:r>
            <a:endParaRPr lang="en-US" dirty="0"/>
          </a:p>
          <a:p>
            <a:pPr marL="342900" indent="-342900" algn="ctr">
              <a:buAutoNum type="arabicPeriod"/>
            </a:pPr>
            <a:endParaRPr lang="en-US"/>
          </a:p>
        </p:txBody>
      </p:sp>
      <p:pic>
        <p:nvPicPr>
          <p:cNvPr id="3" name="Picture 2">
            <a:extLst>
              <a:ext uri="{FF2B5EF4-FFF2-40B4-BE49-F238E27FC236}">
                <a16:creationId xmlns:a16="http://schemas.microsoft.com/office/drawing/2014/main" id="{32C14F3D-B378-7BC0-D370-F0CE1C2328F0}"/>
              </a:ext>
            </a:extLst>
          </p:cNvPr>
          <p:cNvPicPr>
            <a:picLocks noChangeAspect="1"/>
          </p:cNvPicPr>
          <p:nvPr/>
        </p:nvPicPr>
        <p:blipFill>
          <a:blip r:embed="rId2"/>
          <a:stretch>
            <a:fillRect/>
          </a:stretch>
        </p:blipFill>
        <p:spPr>
          <a:xfrm>
            <a:off x="297050" y="1108333"/>
            <a:ext cx="11584984" cy="5506655"/>
          </a:xfrm>
          <a:prstGeom prst="rect">
            <a:avLst/>
          </a:prstGeom>
        </p:spPr>
      </p:pic>
      <p:sp>
        <p:nvSpPr>
          <p:cNvPr id="4" name="Arrow: Left 3">
            <a:extLst>
              <a:ext uri="{FF2B5EF4-FFF2-40B4-BE49-F238E27FC236}">
                <a16:creationId xmlns:a16="http://schemas.microsoft.com/office/drawing/2014/main" id="{B1FEA380-5512-F4B6-9380-AE404BAA4C7A}"/>
              </a:ext>
            </a:extLst>
          </p:cNvPr>
          <p:cNvSpPr/>
          <p:nvPr/>
        </p:nvSpPr>
        <p:spPr>
          <a:xfrm rot="5400000">
            <a:off x="1935167" y="3794777"/>
            <a:ext cx="978407" cy="484631"/>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E5E249-6E58-1D28-57CF-C1E98BE50387}"/>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Aptos"/>
                <a:ea typeface="Aptos"/>
                <a:cs typeface="Aptos"/>
              </a:rPr>
              <a:t>​</a:t>
            </a:r>
            <a:endParaRPr lang="en-US"/>
          </a:p>
          <a:p>
            <a:pPr algn="ctr"/>
            <a:endParaRPr lang="en-US"/>
          </a:p>
        </p:txBody>
      </p:sp>
      <p:sp>
        <p:nvSpPr>
          <p:cNvPr id="7" name="Arrow: Right 6">
            <a:extLst>
              <a:ext uri="{FF2B5EF4-FFF2-40B4-BE49-F238E27FC236}">
                <a16:creationId xmlns:a16="http://schemas.microsoft.com/office/drawing/2014/main" id="{9F3C96BB-7207-1A97-85C3-BA3B8A49ECB6}"/>
              </a:ext>
            </a:extLst>
          </p:cNvPr>
          <p:cNvSpPr/>
          <p:nvPr/>
        </p:nvSpPr>
        <p:spPr>
          <a:xfrm rot="16200000">
            <a:off x="6404284" y="3823218"/>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C72B9A46-B4F0-47CD-F243-9F7697562AF5}"/>
              </a:ext>
            </a:extLst>
          </p:cNvPr>
          <p:cNvSpPr/>
          <p:nvPr/>
        </p:nvSpPr>
        <p:spPr>
          <a:xfrm rot="16200000">
            <a:off x="262791" y="5472322"/>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244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CF6E5F-B016-C2E4-BC5A-AAA73EF89CE5}"/>
              </a:ext>
            </a:extLst>
          </p:cNvPr>
          <p:cNvSpPr txBox="1"/>
          <p:nvPr/>
        </p:nvSpPr>
        <p:spPr>
          <a:xfrm>
            <a:off x="0" y="119418"/>
            <a:ext cx="1238534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i="0" u="none" strike="noStrike" baseline="0">
                <a:solidFill>
                  <a:srgbClr val="000000"/>
                </a:solidFill>
                <a:highlight>
                  <a:srgbClr val="FFFFFF"/>
                </a:highlight>
                <a:latin typeface="Aptos"/>
              </a:rPr>
              <a:t>Verification -  </a:t>
            </a:r>
            <a:r>
              <a:rPr lang="en-IN" sz="2400" b="1" i="0" u="none" strike="noStrike" baseline="0">
                <a:solidFill>
                  <a:srgbClr val="000000"/>
                </a:solidFill>
                <a:highlight>
                  <a:srgbClr val="FFFFFF"/>
                </a:highlight>
                <a:latin typeface="Calibri"/>
              </a:rPr>
              <a:t>Any 3 of the below verification questions needs to be answered</a:t>
            </a:r>
            <a:r>
              <a:rPr sz="2400" b="0" i="0">
                <a:solidFill>
                  <a:srgbClr val="000000"/>
                </a:solidFill>
                <a:latin typeface="Calibri"/>
                <a:ea typeface="Calibri"/>
                <a:cs typeface="Calibri"/>
              </a:rPr>
              <a:t>​</a:t>
            </a:r>
            <a:endParaRPr lang="en-US"/>
          </a:p>
          <a:p>
            <a:pPr marL="342900" indent="-342900" algn="ctr">
              <a:buAutoNum type="arabicPeriod"/>
            </a:pPr>
            <a:endParaRPr lang="en-US"/>
          </a:p>
        </p:txBody>
      </p:sp>
      <p:pic>
        <p:nvPicPr>
          <p:cNvPr id="4" name="Picture 3">
            <a:extLst>
              <a:ext uri="{FF2B5EF4-FFF2-40B4-BE49-F238E27FC236}">
                <a16:creationId xmlns:a16="http://schemas.microsoft.com/office/drawing/2014/main" id="{814BEE3B-A0DE-0324-D490-B7724B2005C0}"/>
              </a:ext>
            </a:extLst>
          </p:cNvPr>
          <p:cNvPicPr>
            <a:picLocks noChangeAspect="1"/>
          </p:cNvPicPr>
          <p:nvPr/>
        </p:nvPicPr>
        <p:blipFill>
          <a:blip r:embed="rId2"/>
          <a:stretch>
            <a:fillRect/>
          </a:stretch>
        </p:blipFill>
        <p:spPr>
          <a:xfrm>
            <a:off x="154781" y="698712"/>
            <a:ext cx="11908067" cy="5703946"/>
          </a:xfrm>
          <a:prstGeom prst="rect">
            <a:avLst/>
          </a:prstGeom>
        </p:spPr>
      </p:pic>
    </p:spTree>
    <p:extLst>
      <p:ext uri="{BB962C8B-B14F-4D97-AF65-F5344CB8AC3E}">
        <p14:creationId xmlns:p14="http://schemas.microsoft.com/office/powerpoint/2010/main" val="1949583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4D0762E-0FEC-F49B-59E9-4C7D01A90484}"/>
              </a:ext>
            </a:extLst>
          </p:cNvPr>
          <p:cNvSpPr txBox="1"/>
          <p:nvPr/>
        </p:nvSpPr>
        <p:spPr>
          <a:xfrm>
            <a:off x="1524003" y="1999615"/>
            <a:ext cx="9144000" cy="276402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28600" indent="-228600" algn="ctr">
              <a:lnSpc>
                <a:spcPct val="90000"/>
              </a:lnSpc>
              <a:spcBef>
                <a:spcPct val="0"/>
              </a:spcBef>
              <a:spcAft>
                <a:spcPts val="600"/>
              </a:spcAft>
            </a:pPr>
            <a:r>
              <a:rPr lang="en-US" sz="6100" b="0" i="0" u="none" strike="noStrike" kern="1200" baseline="0">
                <a:solidFill>
                  <a:schemeClr val="tx1"/>
                </a:solidFill>
                <a:latin typeface="+mj-lt"/>
                <a:ea typeface="+mj-ea"/>
                <a:cs typeface="+mj-cs"/>
              </a:rPr>
              <a:t>The VAN details will be shared with </a:t>
            </a:r>
            <a:r>
              <a:rPr lang="en-US" sz="6100" kern="1200">
                <a:solidFill>
                  <a:schemeClr val="tx1"/>
                </a:solidFill>
                <a:latin typeface="+mj-lt"/>
                <a:ea typeface="+mj-ea"/>
                <a:cs typeface="+mj-cs"/>
              </a:rPr>
              <a:t>you via</a:t>
            </a:r>
            <a:r>
              <a:rPr lang="en-US" sz="6100" b="0" i="0" u="none" strike="noStrike" kern="1200" baseline="0">
                <a:solidFill>
                  <a:schemeClr val="tx1"/>
                </a:solidFill>
                <a:latin typeface="+mj-lt"/>
                <a:ea typeface="+mj-ea"/>
                <a:cs typeface="+mj-cs"/>
              </a:rPr>
              <a:t> email on your registered email ID.</a:t>
            </a:r>
            <a:r>
              <a:rPr lang="en-US" sz="6100" b="0" i="0" kern="1200">
                <a:solidFill>
                  <a:schemeClr val="tx1"/>
                </a:solidFill>
                <a:latin typeface="+mj-lt"/>
                <a:ea typeface="+mj-ea"/>
                <a:cs typeface="+mj-cs"/>
              </a:rPr>
              <a:t>​</a:t>
            </a:r>
          </a:p>
          <a:p>
            <a:pPr algn="ctr">
              <a:lnSpc>
                <a:spcPct val="90000"/>
              </a:lnSpc>
              <a:spcBef>
                <a:spcPct val="0"/>
              </a:spcBef>
              <a:spcAft>
                <a:spcPts val="600"/>
              </a:spcAft>
            </a:pPr>
            <a:endParaRPr lang="en-US" sz="61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514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E87995-4676-D430-07E1-0C983A65141A}"/>
              </a:ext>
            </a:extLst>
          </p:cNvPr>
          <p:cNvPicPr>
            <a:picLocks noChangeAspect="1"/>
          </p:cNvPicPr>
          <p:nvPr/>
        </p:nvPicPr>
        <p:blipFill>
          <a:blip r:embed="rId2"/>
          <a:stretch>
            <a:fillRect/>
          </a:stretch>
        </p:blipFill>
        <p:spPr>
          <a:xfrm>
            <a:off x="154983" y="813418"/>
            <a:ext cx="11830373" cy="5644453"/>
          </a:xfrm>
          <a:prstGeom prst="rect">
            <a:avLst/>
          </a:prstGeom>
        </p:spPr>
      </p:pic>
      <p:sp>
        <p:nvSpPr>
          <p:cNvPr id="3" name="Arrow: Right 2">
            <a:extLst>
              <a:ext uri="{FF2B5EF4-FFF2-40B4-BE49-F238E27FC236}">
                <a16:creationId xmlns:a16="http://schemas.microsoft.com/office/drawing/2014/main" id="{81213947-21CC-A134-7C13-F82FE052055B}"/>
              </a:ext>
            </a:extLst>
          </p:cNvPr>
          <p:cNvSpPr/>
          <p:nvPr/>
        </p:nvSpPr>
        <p:spPr>
          <a:xfrm rot="16200000">
            <a:off x="6970542" y="3678876"/>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9635ACD-9FD0-AA0D-703F-50ABD420F740}"/>
              </a:ext>
            </a:extLst>
          </p:cNvPr>
          <p:cNvSpPr>
            <a:spLocks noGrp="1"/>
          </p:cNvSpPr>
          <p:nvPr>
            <p:ph type="title"/>
          </p:nvPr>
        </p:nvSpPr>
        <p:spPr>
          <a:xfrm>
            <a:off x="7962" y="1186"/>
            <a:ext cx="12164703" cy="802398"/>
          </a:xfrm>
        </p:spPr>
        <p:txBody>
          <a:bodyPr/>
          <a:lstStyle/>
          <a:p>
            <a:pPr algn="ctr"/>
            <a:r>
              <a:rPr lang="en-US" sz="2800" b="1">
                <a:latin typeface="Segoe UI"/>
                <a:cs typeface="Segoe UI"/>
              </a:rPr>
              <a:t>Customer registered email ID</a:t>
            </a:r>
            <a:endParaRPr lang="en-US" sz="2800" b="1" dirty="0"/>
          </a:p>
          <a:p>
            <a:pPr algn="ctr"/>
            <a:endParaRPr lang="en-US" sz="2800" b="1" dirty="0"/>
          </a:p>
        </p:txBody>
      </p:sp>
    </p:spTree>
    <p:extLst>
      <p:ext uri="{BB962C8B-B14F-4D97-AF65-F5344CB8AC3E}">
        <p14:creationId xmlns:p14="http://schemas.microsoft.com/office/powerpoint/2010/main" val="375295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A30C2-FD01-DA64-5469-958C4DD8A2B5}"/>
              </a:ext>
            </a:extLst>
          </p:cNvPr>
          <p:cNvSpPr>
            <a:spLocks noGrp="1"/>
          </p:cNvSpPr>
          <p:nvPr>
            <p:ph type="title"/>
          </p:nvPr>
        </p:nvSpPr>
        <p:spPr>
          <a:xfrm>
            <a:off x="838200" y="365125"/>
            <a:ext cx="10515600" cy="336101"/>
          </a:xfrm>
        </p:spPr>
        <p:txBody>
          <a:bodyPr>
            <a:normAutofit fontScale="90000"/>
          </a:bodyPr>
          <a:lstStyle/>
          <a:p>
            <a:pPr algn="ctr"/>
            <a:r>
              <a:rPr lang="en-US" sz="3200" b="1">
                <a:latin typeface="Segoe UI"/>
                <a:cs typeface="Segoe UI"/>
              </a:rPr>
              <a:t>Subject line and email template</a:t>
            </a:r>
            <a:endParaRPr lang="en-US" sz="3200" b="1"/>
          </a:p>
          <a:p>
            <a:endParaRPr lang="en-US" dirty="0"/>
          </a:p>
        </p:txBody>
      </p:sp>
      <p:pic>
        <p:nvPicPr>
          <p:cNvPr id="3" name="Picture 2">
            <a:extLst>
              <a:ext uri="{FF2B5EF4-FFF2-40B4-BE49-F238E27FC236}">
                <a16:creationId xmlns:a16="http://schemas.microsoft.com/office/drawing/2014/main" id="{A0FE0983-ED31-E1C3-43F3-7B2AF538236D}"/>
              </a:ext>
            </a:extLst>
          </p:cNvPr>
          <p:cNvPicPr>
            <a:picLocks noChangeAspect="1"/>
          </p:cNvPicPr>
          <p:nvPr/>
        </p:nvPicPr>
        <p:blipFill>
          <a:blip r:embed="rId2"/>
          <a:stretch>
            <a:fillRect/>
          </a:stretch>
        </p:blipFill>
        <p:spPr>
          <a:xfrm>
            <a:off x="426203" y="709017"/>
            <a:ext cx="11378340" cy="5081536"/>
          </a:xfrm>
          <a:prstGeom prst="rect">
            <a:avLst/>
          </a:prstGeom>
        </p:spPr>
      </p:pic>
      <p:sp>
        <p:nvSpPr>
          <p:cNvPr id="4" name="Arrow: Right 3">
            <a:extLst>
              <a:ext uri="{FF2B5EF4-FFF2-40B4-BE49-F238E27FC236}">
                <a16:creationId xmlns:a16="http://schemas.microsoft.com/office/drawing/2014/main" id="{DDF41201-1CDB-15F1-661F-92199A6385A2}"/>
              </a:ext>
            </a:extLst>
          </p:cNvPr>
          <p:cNvSpPr/>
          <p:nvPr/>
        </p:nvSpPr>
        <p:spPr>
          <a:xfrm rot="10800000">
            <a:off x="3175141" y="2446338"/>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5416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618A23-D42D-23AC-D566-393A34C44846}"/>
              </a:ext>
            </a:extLst>
          </p:cNvPr>
          <p:cNvSpPr txBox="1"/>
          <p:nvPr/>
        </p:nvSpPr>
        <p:spPr>
          <a:xfrm>
            <a:off x="1" y="0"/>
            <a:ext cx="1218009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Dear Sir ,  </a:t>
            </a:r>
          </a:p>
          <a:p>
            <a:r>
              <a:rPr lang="en-US" dirty="0">
                <a:ea typeface="+mn-lt"/>
                <a:cs typeface="+mn-lt"/>
              </a:rPr>
              <a:t>Greetings from </a:t>
            </a:r>
            <a:r>
              <a:rPr lang="en-US" dirty="0" err="1">
                <a:ea typeface="+mn-lt"/>
                <a:cs typeface="+mn-lt"/>
              </a:rPr>
              <a:t>Grihum</a:t>
            </a:r>
            <a:r>
              <a:rPr lang="en-US" dirty="0">
                <a:ea typeface="+mn-lt"/>
                <a:cs typeface="+mn-lt"/>
              </a:rPr>
              <a:t> Housing Finance Limited. </a:t>
            </a:r>
            <a:endParaRPr lang="en-US" dirty="0"/>
          </a:p>
          <a:p>
            <a:r>
              <a:rPr lang="en-US">
                <a:ea typeface="+mn-lt"/>
                <a:cs typeface="+mn-lt"/>
              </a:rPr>
              <a:t>Thank you for contacting us. This is with reference to your request pertaining to the Copy Of Original Property Papers (OPP) for your loan account number </a:t>
            </a:r>
            <a:r>
              <a:rPr lang="en-US">
                <a:solidFill>
                  <a:srgbClr val="FF0000"/>
                </a:solidFill>
                <a:ea typeface="+mn-lt"/>
                <a:cs typeface="+mn-lt"/>
              </a:rPr>
              <a:t>HF0180H21100596. </a:t>
            </a:r>
            <a:endParaRPr lang="en-US">
              <a:solidFill>
                <a:srgbClr val="FF0000"/>
              </a:solidFill>
            </a:endParaRPr>
          </a:p>
          <a:p>
            <a:r>
              <a:rPr lang="en-US" dirty="0">
                <a:ea typeface="+mn-lt"/>
                <a:cs typeface="+mn-lt"/>
              </a:rPr>
              <a:t>In regard to the same, kindly note that the Copy Of Original Property Papers (OPP) shall be chargeable at Rs.295/-[ Rs.250/- (Rupees Five hundred only) + GST]. </a:t>
            </a:r>
            <a:endParaRPr lang="en-US" dirty="0"/>
          </a:p>
          <a:p>
            <a:r>
              <a:rPr lang="en-US">
                <a:ea typeface="+mn-lt"/>
                <a:cs typeface="+mn-lt"/>
              </a:rPr>
              <a:t>Request you to kindly make the payment for the Copy Of Original Property Papers , post which we can issue the Copy Of Original Property Papers (OPP) to you over email. </a:t>
            </a:r>
            <a:endParaRPr lang="en-US"/>
          </a:p>
          <a:p>
            <a:r>
              <a:rPr lang="en-US" b="1">
                <a:ea typeface="+mn-lt"/>
                <a:cs typeface="+mn-lt"/>
              </a:rPr>
              <a:t>Please find below the Virtual Account Number (VAN) details for making the payment :</a:t>
            </a:r>
            <a:endParaRPr lang="en-US"/>
          </a:p>
          <a:p>
            <a:endParaRPr lang="en-US" b="1" dirty="0"/>
          </a:p>
          <a:p>
            <a:endParaRPr lang="en-US" dirty="0"/>
          </a:p>
          <a:p>
            <a:endParaRPr lang="en-US" dirty="0"/>
          </a:p>
          <a:p>
            <a:endParaRPr lang="en-US" dirty="0"/>
          </a:p>
        </p:txBody>
      </p:sp>
      <p:graphicFrame>
        <p:nvGraphicFramePr>
          <p:cNvPr id="7" name="Table 6">
            <a:extLst>
              <a:ext uri="{FF2B5EF4-FFF2-40B4-BE49-F238E27FC236}">
                <a16:creationId xmlns:a16="http://schemas.microsoft.com/office/drawing/2014/main" id="{9021E4B6-D61D-9F0F-1F00-11B2EDC8BF8B}"/>
              </a:ext>
            </a:extLst>
          </p:cNvPr>
          <p:cNvGraphicFramePr>
            <a:graphicFrameLocks noGrp="1"/>
          </p:cNvGraphicFramePr>
          <p:nvPr>
            <p:extLst>
              <p:ext uri="{D42A27DB-BD31-4B8C-83A1-F6EECF244321}">
                <p14:modId xmlns:p14="http://schemas.microsoft.com/office/powerpoint/2010/main" val="2968968693"/>
              </p:ext>
            </p:extLst>
          </p:nvPr>
        </p:nvGraphicFramePr>
        <p:xfrm>
          <a:off x="45492" y="2502089"/>
          <a:ext cx="12136500" cy="1458399"/>
        </p:xfrm>
        <a:graphic>
          <a:graphicData uri="http://schemas.openxmlformats.org/drawingml/2006/table">
            <a:tbl>
              <a:tblPr bandRow="1">
                <a:tableStyleId>{5C22544A-7EE6-4342-B048-85BDC9FD1C3A}</a:tableStyleId>
              </a:tblPr>
              <a:tblGrid>
                <a:gridCol w="5953631">
                  <a:extLst>
                    <a:ext uri="{9D8B030D-6E8A-4147-A177-3AD203B41FA5}">
                      <a16:colId xmlns:a16="http://schemas.microsoft.com/office/drawing/2014/main" val="3841138063"/>
                    </a:ext>
                  </a:extLst>
                </a:gridCol>
                <a:gridCol w="6182869">
                  <a:extLst>
                    <a:ext uri="{9D8B030D-6E8A-4147-A177-3AD203B41FA5}">
                      <a16:colId xmlns:a16="http://schemas.microsoft.com/office/drawing/2014/main" val="564875514"/>
                    </a:ext>
                  </a:extLst>
                </a:gridCol>
              </a:tblGrid>
              <a:tr h="486133">
                <a:tc>
                  <a:txBody>
                    <a:bodyPr/>
                    <a:lstStyle/>
                    <a:p>
                      <a:pPr marL="0" indent="0" algn="ctr">
                        <a:buNone/>
                      </a:pPr>
                      <a:r>
                        <a:rPr lang="en-US">
                          <a:effectLst/>
                        </a:rPr>
                        <a:t>Virtual Account Number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indent="0" algn="ctr">
                        <a:buNone/>
                      </a:pPr>
                      <a:r>
                        <a:rPr lang="en-US">
                          <a:effectLst/>
                        </a:rPr>
                        <a:t>GRIHUM</a:t>
                      </a:r>
                      <a:r>
                        <a:rPr lang="en-US">
                          <a:solidFill>
                            <a:srgbClr val="FF0000"/>
                          </a:solidFill>
                          <a:effectLst/>
                        </a:rPr>
                        <a:t>HF0180H21100596</a:t>
                      </a:r>
                      <a:r>
                        <a:rPr lang="en-US">
                          <a:effectLst/>
                        </a:rPr>
                        <a:t>CHR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52571196"/>
                  </a:ext>
                </a:extLst>
              </a:tr>
              <a:tr h="486133">
                <a:tc>
                  <a:txBody>
                    <a:bodyPr/>
                    <a:lstStyle/>
                    <a:p>
                      <a:pPr marL="0" indent="0" algn="ctr">
                        <a:buNone/>
                      </a:pPr>
                      <a:r>
                        <a:rPr lang="en-US">
                          <a:effectLst/>
                        </a:rPr>
                        <a:t>IFSC Code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indent="0" algn="ctr">
                        <a:buNone/>
                      </a:pPr>
                      <a:r>
                        <a:rPr lang="en-US">
                          <a:effectLst/>
                        </a:rPr>
                        <a:t>ICIC0000106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2221388"/>
                  </a:ext>
                </a:extLst>
              </a:tr>
              <a:tr h="486133">
                <a:tc>
                  <a:txBody>
                    <a:bodyPr/>
                    <a:lstStyle/>
                    <a:p>
                      <a:pPr marL="0" indent="0" algn="ctr">
                        <a:buNone/>
                      </a:pPr>
                      <a:r>
                        <a:rPr lang="en-US">
                          <a:effectLst/>
                        </a:rPr>
                        <a:t>Bank Name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indent="0" algn="ctr">
                        <a:buNone/>
                      </a:pPr>
                      <a:r>
                        <a:rPr lang="en-US">
                          <a:effectLst/>
                        </a:rPr>
                        <a:t>ICICI Bank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79117262"/>
                  </a:ext>
                </a:extLst>
              </a:tr>
            </a:tbl>
          </a:graphicData>
        </a:graphic>
      </p:graphicFrame>
      <p:sp>
        <p:nvSpPr>
          <p:cNvPr id="9" name="TextBox 8">
            <a:extLst>
              <a:ext uri="{FF2B5EF4-FFF2-40B4-BE49-F238E27FC236}">
                <a16:creationId xmlns:a16="http://schemas.microsoft.com/office/drawing/2014/main" id="{1A1B7F8B-72FC-92FD-66B6-19AA2ED6E9CC}"/>
              </a:ext>
            </a:extLst>
          </p:cNvPr>
          <p:cNvSpPr txBox="1"/>
          <p:nvPr/>
        </p:nvSpPr>
        <p:spPr>
          <a:xfrm rot="-10800000" flipV="1">
            <a:off x="90984" y="3996603"/>
            <a:ext cx="1216925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Below is the step-by-step description for using the VAN to make the payments:</a:t>
            </a:r>
            <a:endParaRPr lang="en-US"/>
          </a:p>
          <a:p>
            <a:r>
              <a:rPr lang="en-US">
                <a:ea typeface="+mn-lt"/>
                <a:cs typeface="+mn-lt"/>
              </a:rPr>
              <a:t>Payment through Net banking </a:t>
            </a:r>
            <a:endParaRPr lang="en-US"/>
          </a:p>
          <a:p>
            <a:r>
              <a:rPr lang="en-US">
                <a:ea typeface="+mn-lt"/>
                <a:cs typeface="+mn-lt"/>
              </a:rPr>
              <a:t>· Log in to your Internet banking account using your credentials. </a:t>
            </a:r>
            <a:endParaRPr lang="en-US"/>
          </a:p>
          <a:p>
            <a:r>
              <a:rPr lang="en-US">
                <a:ea typeface="+mn-lt"/>
                <a:cs typeface="+mn-lt"/>
              </a:rPr>
              <a:t>· Locate and select ‘fund transfer’. </a:t>
            </a:r>
            <a:endParaRPr lang="en-US"/>
          </a:p>
          <a:p>
            <a:r>
              <a:rPr lang="en-US">
                <a:ea typeface="+mn-lt"/>
                <a:cs typeface="+mn-lt"/>
              </a:rPr>
              <a:t>· Choose the NEFT/RTGS/IMPS transfer option. </a:t>
            </a:r>
            <a:endParaRPr lang="en-US"/>
          </a:p>
          <a:p>
            <a:r>
              <a:rPr lang="en-US">
                <a:ea typeface="+mn-lt"/>
                <a:cs typeface="+mn-lt"/>
              </a:rPr>
              <a:t>· Enter the recipient bank account details, including the account number (use your Virtual Account Number), name and the bank’s IFSC code. </a:t>
            </a:r>
            <a:endParaRPr lang="en-US"/>
          </a:p>
          <a:p>
            <a:r>
              <a:rPr lang="en-US">
                <a:ea typeface="+mn-lt"/>
                <a:cs typeface="+mn-lt"/>
              </a:rPr>
              <a:t>Payment through UPI payment App </a:t>
            </a:r>
            <a:endParaRPr lang="en-US"/>
          </a:p>
          <a:p>
            <a:endParaRPr lang="en-US" b="1" dirty="0"/>
          </a:p>
          <a:p>
            <a:endParaRPr lang="en-US" dirty="0"/>
          </a:p>
          <a:p>
            <a:pPr algn="ctr"/>
            <a:endParaRPr lang="en-US"/>
          </a:p>
        </p:txBody>
      </p:sp>
    </p:spTree>
    <p:extLst>
      <p:ext uri="{BB962C8B-B14F-4D97-AF65-F5344CB8AC3E}">
        <p14:creationId xmlns:p14="http://schemas.microsoft.com/office/powerpoint/2010/main" val="261009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30F9AE-BC81-A2CE-3D34-893685D4A02E}"/>
              </a:ext>
            </a:extLst>
          </p:cNvPr>
          <p:cNvSpPr txBox="1"/>
          <p:nvPr/>
        </p:nvSpPr>
        <p:spPr>
          <a:xfrm>
            <a:off x="1" y="28433"/>
            <a:ext cx="11975909"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Log in UPI application · Select the option Bank transfer. · Enter the recipient bank account details, including the account number (use your Virtual Account Number), name and the bank’s IFSC code. We request you to share below mentioned details of payment to assist you further : </a:t>
            </a:r>
          </a:p>
          <a:p>
            <a:r>
              <a:rPr lang="en-US">
                <a:ea typeface="+mn-lt"/>
                <a:cs typeface="+mn-lt"/>
              </a:rPr>
              <a:t>1. Date of Payment </a:t>
            </a:r>
            <a:endParaRPr lang="en-US"/>
          </a:p>
          <a:p>
            <a:r>
              <a:rPr lang="en-US">
                <a:ea typeface="+mn-lt"/>
                <a:cs typeface="+mn-lt"/>
              </a:rPr>
              <a:t>2. Amount paid </a:t>
            </a:r>
            <a:endParaRPr lang="en-US"/>
          </a:p>
          <a:p>
            <a:r>
              <a:rPr lang="en-US">
                <a:ea typeface="+mn-lt"/>
                <a:cs typeface="+mn-lt"/>
              </a:rPr>
              <a:t>3. Mode of payment (NEFT/RTGS/QuickPay) </a:t>
            </a:r>
            <a:endParaRPr lang="en-US"/>
          </a:p>
          <a:p>
            <a:r>
              <a:rPr lang="en-US">
                <a:ea typeface="+mn-lt"/>
                <a:cs typeface="+mn-lt"/>
              </a:rPr>
              <a:t>4. UTR number/ Transaction number/ Reference ID </a:t>
            </a:r>
            <a:endParaRPr lang="en-US"/>
          </a:p>
          <a:p>
            <a:r>
              <a:rPr lang="en-US">
                <a:ea typeface="+mn-lt"/>
                <a:cs typeface="+mn-lt"/>
              </a:rPr>
              <a:t>5. Your Bank Name </a:t>
            </a:r>
            <a:endParaRPr lang="en-US"/>
          </a:p>
          <a:p>
            <a:r>
              <a:rPr lang="en-US">
                <a:ea typeface="+mn-lt"/>
                <a:cs typeface="+mn-lt"/>
              </a:rPr>
              <a:t>We hope that you will find the above clarifications and information in line with your requirements and through this communication, we have addressed all your queries, satisfactorily. In case of any further assistance, please email us at </a:t>
            </a:r>
            <a:r>
              <a:rPr lang="en-US" u="sng" dirty="0">
                <a:ea typeface="+mn-lt"/>
                <a:cs typeface="+mn-lt"/>
                <a:hlinkClick r:id="rId2"/>
              </a:rPr>
              <a:t>customercare@grihumhousing.com</a:t>
            </a:r>
            <a:r>
              <a:rPr lang="en-US">
                <a:ea typeface="+mn-lt"/>
                <a:cs typeface="+mn-lt"/>
              </a:rPr>
              <a:t> through your registered email id, quoting your loan account number. You may also reach out to us at our customer care no. at 1800-266-3204. </a:t>
            </a:r>
            <a:endParaRPr lang="en-US"/>
          </a:p>
          <a:p>
            <a:r>
              <a:rPr lang="en-US">
                <a:ea typeface="+mn-lt"/>
                <a:cs typeface="+mn-lt"/>
              </a:rPr>
              <a:t>Thanks &amp; Regards, </a:t>
            </a:r>
            <a:endParaRPr lang="en-US"/>
          </a:p>
          <a:p>
            <a:r>
              <a:rPr lang="en-US">
                <a:ea typeface="+mn-lt"/>
                <a:cs typeface="+mn-lt"/>
              </a:rPr>
              <a:t>Customer Care Team.</a:t>
            </a:r>
            <a:endParaRPr lang="en-US"/>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sz="2000" b="1">
                <a:latin typeface="Segoe UI"/>
                <a:cs typeface="Segoe UI"/>
              </a:rPr>
              <a:t>The details highlighted in red and bold can modify </a:t>
            </a:r>
            <a:endParaRPr lang="en-US" sz="2000">
              <a:latin typeface="Segoe UI"/>
              <a:cs typeface="Segoe UI"/>
            </a:endParaRPr>
          </a:p>
          <a:p>
            <a:endParaRPr lang="en-US" dirty="0"/>
          </a:p>
          <a:p>
            <a:pPr algn="ctr"/>
            <a:endParaRPr lang="en-US"/>
          </a:p>
        </p:txBody>
      </p:sp>
    </p:spTree>
    <p:extLst>
      <p:ext uri="{BB962C8B-B14F-4D97-AF65-F5344CB8AC3E}">
        <p14:creationId xmlns:p14="http://schemas.microsoft.com/office/powerpoint/2010/main" val="4214033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C26A4E-F1E6-B96C-7B9F-9C9CAC8DA697}"/>
              </a:ext>
            </a:extLst>
          </p:cNvPr>
          <p:cNvSpPr txBox="1"/>
          <p:nvPr/>
        </p:nvSpPr>
        <p:spPr>
          <a:xfrm>
            <a:off x="11374" y="119418"/>
            <a:ext cx="12032775" cy="6924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800" b="1" i="0" u="none" strike="noStrike" baseline="0">
                <a:solidFill>
                  <a:srgbClr val="000000"/>
                </a:solidFill>
                <a:latin typeface="Neue Haas Grotesk Text Pro"/>
                <a:ea typeface="Segoe UI"/>
                <a:cs typeface="Segoe UI"/>
              </a:rPr>
              <a:t>Types of VAN ( Virtual Account Number )</a:t>
            </a:r>
            <a:r>
              <a:rPr lang="en-US" sz="1800" b="0" i="0">
                <a:solidFill>
                  <a:srgbClr val="000000"/>
                </a:solidFill>
                <a:latin typeface="Neue Haas Grotesk Text Pro"/>
                <a:ea typeface="Segoe UI"/>
                <a:cs typeface="Segoe UI"/>
              </a:rPr>
              <a:t>​</a:t>
            </a:r>
          </a:p>
          <a:p>
            <a:pPr algn="l" rtl="0"/>
            <a:r>
              <a:rPr lang="en-US" sz="2400" b="0" i="0" u="none" strike="noStrike" baseline="0">
                <a:solidFill>
                  <a:srgbClr val="000000"/>
                </a:solidFill>
                <a:latin typeface="Calibri"/>
                <a:ea typeface="Segoe UI"/>
                <a:cs typeface="Segoe UI"/>
              </a:rPr>
              <a:t>   </a:t>
            </a:r>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u="none" strike="noStrike" baseline="0">
                <a:solidFill>
                  <a:srgbClr val="000000"/>
                </a:solidFill>
                <a:latin typeface="Calibri"/>
                <a:ea typeface="Segoe UI"/>
                <a:cs typeface="Segoe UI"/>
              </a:rPr>
              <a:t>EG- LAP0117200000005050628 - Last 7 digit </a:t>
            </a:r>
            <a:r>
              <a:rPr lang="en-US" sz="2400" b="0" i="0">
                <a:solidFill>
                  <a:srgbClr val="000000"/>
                </a:solidFill>
                <a:latin typeface="Calibri"/>
                <a:ea typeface="Segoe UI"/>
                <a:cs typeface="Segoe UI"/>
              </a:rPr>
              <a:t>​</a:t>
            </a:r>
          </a:p>
          <a:p>
            <a:pPr algn="l" rtl="0"/>
            <a:r>
              <a:rPr lang="en-US" sz="2400" b="0" i="0" u="none" strike="noStrike" baseline="0">
                <a:solidFill>
                  <a:srgbClr val="000000"/>
                </a:solidFill>
                <a:latin typeface="Calibri"/>
                <a:ea typeface="Segoe UI"/>
                <a:cs typeface="Segoe UI"/>
              </a:rPr>
              <a:t>        LAN HL0011420100007 - Full LAN </a:t>
            </a:r>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u="none" strike="noStrike" baseline="0">
                <a:solidFill>
                  <a:srgbClr val="000000"/>
                </a:solidFill>
                <a:latin typeface="Calibri"/>
                <a:ea typeface="Segoe UI"/>
                <a:cs typeface="Segoe UI"/>
              </a:rPr>
              <a:t>VAN - </a:t>
            </a:r>
            <a:r>
              <a:rPr lang="en-US" sz="2400">
                <a:solidFill>
                  <a:srgbClr val="000000"/>
                </a:solidFill>
                <a:latin typeface="Calibri"/>
                <a:ea typeface="Segoe UI"/>
                <a:cs typeface="Segoe UI"/>
              </a:rPr>
              <a:t>GRIHUM5050628CHR</a:t>
            </a:r>
            <a:endParaRPr lang="en-US" sz="2400" b="0" i="0">
              <a:solidFill>
                <a:srgbClr val="000000"/>
              </a:solidFill>
              <a:latin typeface="Calibri"/>
              <a:ea typeface="Segoe UI"/>
              <a:cs typeface="Segoe UI"/>
            </a:endParaRPr>
          </a:p>
          <a:p>
            <a:pPr algn="l" rtl="0"/>
            <a:r>
              <a:rPr lang="en-US" sz="2400" b="0" i="0" u="none" strike="noStrike" baseline="0">
                <a:solidFill>
                  <a:srgbClr val="000000"/>
                </a:solidFill>
                <a:latin typeface="Calibri"/>
                <a:ea typeface="Segoe UI"/>
                <a:cs typeface="Segoe UI"/>
              </a:rPr>
              <a:t>           </a:t>
            </a:r>
            <a:r>
              <a:rPr lang="en-US" sz="2400">
                <a:solidFill>
                  <a:srgbClr val="000000"/>
                </a:solidFill>
                <a:latin typeface="Calibri"/>
                <a:ea typeface="Segoe UI"/>
                <a:cs typeface="Segoe UI"/>
              </a:rPr>
              <a:t>GRIHUMHL0011420100007CHR</a:t>
            </a:r>
            <a:endParaRPr lang="en-US" sz="2400" b="0" i="0">
              <a:solidFill>
                <a:srgbClr val="000000"/>
              </a:solidFill>
              <a:latin typeface="Calibri"/>
              <a:ea typeface="Segoe UI"/>
              <a:cs typeface="Segoe UI"/>
            </a:endParaRPr>
          </a:p>
          <a:p>
            <a:pPr algn="l" rtl="0"/>
            <a:r>
              <a:rPr lang="en-US" sz="2400" b="0" i="0">
                <a:solidFill>
                  <a:srgbClr val="000000"/>
                </a:solidFill>
                <a:latin typeface="Calibri"/>
                <a:ea typeface="Segoe UI"/>
                <a:cs typeface="Segoe UI"/>
              </a:rPr>
              <a:t>​</a:t>
            </a:r>
          </a:p>
          <a:p>
            <a:pPr algn="l" rtl="0"/>
            <a:r>
              <a:rPr lang="en-US" sz="2400" b="0" i="0" u="none" strike="noStrike" baseline="0">
                <a:solidFill>
                  <a:srgbClr val="000000"/>
                </a:solidFill>
                <a:latin typeface="Calibri"/>
                <a:ea typeface="Segoe UI"/>
                <a:cs typeface="Segoe UI"/>
              </a:rPr>
              <a:t>IFSC CODE - ICIC0000106 Bank NAME -ICICI BANK </a:t>
            </a:r>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u="none" strike="noStrike" baseline="0">
                <a:solidFill>
                  <a:srgbClr val="000000"/>
                </a:solidFill>
                <a:latin typeface="Calibri"/>
                <a:ea typeface="Segoe UI"/>
                <a:cs typeface="Segoe UI"/>
              </a:rPr>
              <a:t>Definition: - For a 22-digit Loan Account Number, use the last 7 digits only. For a 15-digit or 18-digit Loan Account Number, use the entire Loan Account Number. </a:t>
            </a:r>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l" rtl="0"/>
            <a:r>
              <a:rPr lang="en-US" sz="2400" b="0" i="0">
                <a:solidFill>
                  <a:srgbClr val="000000"/>
                </a:solidFill>
                <a:latin typeface="Calibri"/>
                <a:ea typeface="Segoe UI"/>
                <a:cs typeface="Segoe UI"/>
              </a:rPr>
              <a:t>​</a:t>
            </a:r>
          </a:p>
          <a:p>
            <a:pPr algn="ctr"/>
            <a:endParaRPr lang="en-US"/>
          </a:p>
        </p:txBody>
      </p:sp>
    </p:spTree>
    <p:extLst>
      <p:ext uri="{BB962C8B-B14F-4D97-AF65-F5344CB8AC3E}">
        <p14:creationId xmlns:p14="http://schemas.microsoft.com/office/powerpoint/2010/main" val="3317121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C5F1D-4D93-8C80-A052-29F31E898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0EB26-5FA1-2378-92F2-ADAAAB4F4E2C}"/>
              </a:ext>
            </a:extLst>
          </p:cNvPr>
          <p:cNvSpPr>
            <a:spLocks noGrp="1"/>
          </p:cNvSpPr>
          <p:nvPr>
            <p:ph type="ctrTitle" idx="4294967295"/>
          </p:nvPr>
        </p:nvSpPr>
        <p:spPr>
          <a:xfrm>
            <a:off x="0" y="3175"/>
            <a:ext cx="12192000" cy="400050"/>
          </a:xfrm>
        </p:spPr>
        <p:txBody>
          <a:bodyPr>
            <a:normAutofit/>
          </a:bodyPr>
          <a:lstStyle/>
          <a:p>
            <a:pPr algn="ctr"/>
            <a:r>
              <a:rPr lang="en-US" sz="2000" b="1" dirty="0">
                <a:latin typeface="Cambria"/>
                <a:ea typeface="Cambria"/>
              </a:rPr>
              <a:t>Process </a:t>
            </a:r>
            <a:r>
              <a:rPr lang="en-US" sz="2000" b="1" dirty="0">
                <a:latin typeface="Cambria"/>
                <a:ea typeface="Cambria"/>
                <a:cs typeface="+mj-lt"/>
              </a:rPr>
              <a:t>Copy of Property Paper Retrieval(Scenario 2)</a:t>
            </a:r>
            <a:endParaRPr lang="en-US" sz="2000" b="1" dirty="0">
              <a:latin typeface="Cambria"/>
              <a:ea typeface="Cambria"/>
            </a:endParaRPr>
          </a:p>
        </p:txBody>
      </p:sp>
      <p:sp>
        <p:nvSpPr>
          <p:cNvPr id="3" name="Subtitle 2">
            <a:extLst>
              <a:ext uri="{FF2B5EF4-FFF2-40B4-BE49-F238E27FC236}">
                <a16:creationId xmlns:a16="http://schemas.microsoft.com/office/drawing/2014/main" id="{6AB922B6-470A-60AA-0125-195C21C4E882}"/>
              </a:ext>
            </a:extLst>
          </p:cNvPr>
          <p:cNvSpPr>
            <a:spLocks noGrp="1"/>
          </p:cNvSpPr>
          <p:nvPr>
            <p:ph type="subTitle" idx="4294967295"/>
          </p:nvPr>
        </p:nvSpPr>
        <p:spPr>
          <a:xfrm>
            <a:off x="0" y="411163"/>
            <a:ext cx="12192000" cy="6442075"/>
          </a:xfrm>
        </p:spPr>
        <p:txBody>
          <a:bodyPr vert="horz" lIns="91440" tIns="45720" rIns="91440" bIns="45720" rtlCol="0" anchor="t">
            <a:noAutofit/>
          </a:bodyPr>
          <a:lstStyle/>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Opening Script - </a:t>
            </a:r>
            <a:r>
              <a:rPr lang="en-US" sz="1400" i="1" dirty="0">
                <a:solidFill>
                  <a:schemeClr val="accent1"/>
                </a:solidFill>
                <a:highlight>
                  <a:srgbClr val="FFFFFF"/>
                </a:highlight>
                <a:latin typeface="Cambria"/>
                <a:ea typeface="Cambria"/>
                <a:cs typeface="Calibri"/>
              </a:rPr>
              <a:t>Welcome to </a:t>
            </a:r>
            <a:r>
              <a:rPr lang="en-US" sz="1400" i="1" dirty="0" err="1">
                <a:solidFill>
                  <a:schemeClr val="accent1"/>
                </a:solidFill>
                <a:highlight>
                  <a:srgbClr val="FFFFFF"/>
                </a:highlight>
                <a:latin typeface="Cambria"/>
                <a:ea typeface="Cambria"/>
                <a:cs typeface="Calibri"/>
              </a:rPr>
              <a:t>Grihum</a:t>
            </a:r>
            <a:r>
              <a:rPr lang="en-US" sz="1400" i="1" dirty="0">
                <a:solidFill>
                  <a:schemeClr val="accent1"/>
                </a:solidFill>
                <a:highlight>
                  <a:srgbClr val="FFFFFF"/>
                </a:highlight>
                <a:latin typeface="Cambria"/>
                <a:ea typeface="Cambria"/>
                <a:cs typeface="Calibri"/>
              </a:rPr>
              <a:t> Housing Finance Limited. My name is (Agent Name) How may I assist you?</a:t>
            </a:r>
            <a:r>
              <a:rPr lang="en-US" sz="1400" i="1" dirty="0">
                <a:solidFill>
                  <a:schemeClr val="accent1"/>
                </a:solidFill>
                <a:latin typeface="Cambria"/>
                <a:ea typeface="Cambria"/>
                <a:cs typeface="Calibri"/>
              </a:rPr>
              <a:t> </a:t>
            </a:r>
            <a:endParaRPr lang="en-US" sz="1400" i="1" dirty="0">
              <a:solidFill>
                <a:schemeClr val="accent1"/>
              </a:solidFill>
              <a:latin typeface="Cambria"/>
              <a:ea typeface="Cambria"/>
            </a:endParaRPr>
          </a:p>
          <a:p>
            <a:pPr marL="342900" indent="-342900">
              <a:lnSpc>
                <a:spcPct val="100000"/>
              </a:lnSpc>
              <a:spcBef>
                <a:spcPts val="0"/>
              </a:spcBef>
              <a:buFont typeface="Wingdings"/>
              <a:buChar char="Ø"/>
            </a:pPr>
            <a:r>
              <a:rPr lang="en-US" sz="1400" dirty="0">
                <a:latin typeface="Cambria"/>
                <a:ea typeface="Cambria"/>
                <a:cs typeface="Calibri"/>
              </a:rPr>
              <a:t>Customer </a:t>
            </a:r>
            <a:r>
              <a:rPr lang="en-US" sz="1400" i="1" dirty="0">
                <a:latin typeface="Cambria"/>
                <a:ea typeface="Cambria"/>
                <a:cs typeface="Calibri"/>
              </a:rPr>
              <a:t>– I want  </a:t>
            </a:r>
            <a:r>
              <a:rPr lang="en-US" sz="1400" i="1" dirty="0">
                <a:latin typeface="Cambria"/>
                <a:ea typeface="Cambria"/>
                <a:cs typeface="+mn-lt"/>
              </a:rPr>
              <a:t>Copy of Property Paper .I have made the payment of Rs.590 for LOD.</a:t>
            </a:r>
          </a:p>
          <a:p>
            <a:pPr marL="0" indent="0">
              <a:lnSpc>
                <a:spcPct val="100000"/>
              </a:lnSpc>
              <a:spcBef>
                <a:spcPts val="0"/>
              </a:spcBef>
              <a:buNone/>
            </a:pPr>
            <a:endParaRPr lang="en-US" sz="1400" i="1" dirty="0">
              <a:latin typeface="Cambria"/>
              <a:ea typeface="Cambria"/>
              <a:cs typeface="Calibri"/>
            </a:endParaRPr>
          </a:p>
          <a:p>
            <a:pPr marL="285750" indent="-285750">
              <a:lnSpc>
                <a:spcPct val="100000"/>
              </a:lnSpc>
              <a:spcBef>
                <a:spcPts val="0"/>
              </a:spcBef>
              <a:buFont typeface="Wingdings"/>
              <a:buChar char="Ø"/>
            </a:pPr>
            <a:r>
              <a:rPr lang="en-US" sz="1400" dirty="0">
                <a:latin typeface="Cambria"/>
                <a:ea typeface="Cambria"/>
                <a:cs typeface="Calibri"/>
              </a:rPr>
              <a:t>AI - </a:t>
            </a:r>
            <a:r>
              <a:rPr lang="en-US" sz="1400" i="1" dirty="0">
                <a:solidFill>
                  <a:schemeClr val="accent1"/>
                </a:solidFill>
                <a:highlight>
                  <a:srgbClr val="FFFFFF"/>
                </a:highlight>
                <a:latin typeface="Cambria"/>
                <a:ea typeface="Cambria"/>
                <a:cs typeface="Calibri"/>
              </a:rPr>
              <a:t>Please note that this call is being recorded for quality assurance and training purposes</a:t>
            </a:r>
            <a:r>
              <a:rPr lang="en-US" sz="1400" dirty="0">
                <a:highlight>
                  <a:srgbClr val="FFFFFF"/>
                </a:highlight>
                <a:latin typeface="Cambria"/>
                <a:ea typeface="Cambria"/>
                <a:cs typeface="Calibri"/>
              </a:rPr>
              <a:t>.</a:t>
            </a:r>
            <a:endParaRPr lang="en-US" sz="1400" dirty="0">
              <a:latin typeface="Cambria"/>
              <a:ea typeface="Cambria"/>
              <a:cs typeface="Calibri"/>
            </a:endParaRPr>
          </a:p>
          <a:p>
            <a:pPr marL="285750" indent="-285750">
              <a:lnSpc>
                <a:spcPct val="100000"/>
              </a:lnSpc>
              <a:spcBef>
                <a:spcPts val="0"/>
              </a:spcBef>
              <a:buFont typeface="Wingdings"/>
              <a:buChar char="Ø"/>
            </a:pPr>
            <a:endParaRPr lang="en-US" sz="1400" dirty="0">
              <a:latin typeface="Cambria"/>
              <a:ea typeface="Cambria"/>
              <a:cs typeface="Calibri"/>
            </a:endParaRPr>
          </a:p>
          <a:p>
            <a:pPr marL="285750" indent="-285750">
              <a:lnSpc>
                <a:spcPct val="100000"/>
              </a:lnSpc>
              <a:spcBef>
                <a:spcPts val="0"/>
              </a:spcBef>
              <a:buFont typeface="Wingdings"/>
              <a:buChar char="Ø"/>
            </a:pPr>
            <a:r>
              <a:rPr lang="en-US" sz="1400" dirty="0">
                <a:latin typeface="Cambria"/>
                <a:ea typeface="Cambria"/>
                <a:cs typeface="Calibri"/>
              </a:rPr>
              <a:t>AI - </a:t>
            </a:r>
            <a:r>
              <a:rPr lang="en-US" sz="1400" i="1" dirty="0">
                <a:solidFill>
                  <a:schemeClr val="accent1"/>
                </a:solidFill>
                <a:highlight>
                  <a:srgbClr val="FFFFFF"/>
                </a:highlight>
                <a:latin typeface="Cambria"/>
                <a:ea typeface="Cambria"/>
                <a:cs typeface="Calibri"/>
              </a:rPr>
              <a:t>To verify the information, kindly provide the registered mobile number</a:t>
            </a:r>
            <a:r>
              <a:rPr lang="en-US" sz="1400" i="1" dirty="0">
                <a:solidFill>
                  <a:schemeClr val="accent2"/>
                </a:solidFill>
                <a:highlight>
                  <a:srgbClr val="FFFFFF"/>
                </a:highlight>
                <a:latin typeface="Cambria"/>
                <a:ea typeface="Cambria"/>
                <a:cs typeface="Calibri"/>
              </a:rPr>
              <a:t>  ( To check the details in </a:t>
            </a:r>
            <a:r>
              <a:rPr lang="en-US" sz="1400" i="1" dirty="0" err="1">
                <a:solidFill>
                  <a:schemeClr val="accent2"/>
                </a:solidFill>
                <a:highlight>
                  <a:srgbClr val="FFFFFF"/>
                </a:highlight>
                <a:latin typeface="Cambria"/>
                <a:ea typeface="Cambria"/>
                <a:cs typeface="Calibri"/>
              </a:rPr>
              <a:t>finnone</a:t>
            </a:r>
            <a:r>
              <a:rPr lang="en-US" sz="1400" i="1" dirty="0">
                <a:solidFill>
                  <a:schemeClr val="accent2"/>
                </a:solidFill>
                <a:highlight>
                  <a:srgbClr val="FFFFFF"/>
                </a:highlight>
                <a:latin typeface="Cambria"/>
                <a:ea typeface="Cambria"/>
                <a:cs typeface="Calibri"/>
              </a:rPr>
              <a:t> slide 12 )</a:t>
            </a:r>
            <a:endParaRPr lang="en-US" sz="1400" i="1" dirty="0">
              <a:solidFill>
                <a:schemeClr val="accent2"/>
              </a:solidFill>
              <a:latin typeface="Cambria"/>
              <a:ea typeface="Cambria"/>
              <a:cs typeface="Calibri"/>
            </a:endParaRPr>
          </a:p>
          <a:p>
            <a:pPr marL="285750" indent="-285750">
              <a:lnSpc>
                <a:spcPct val="100000"/>
              </a:lnSpc>
              <a:spcBef>
                <a:spcPts val="0"/>
              </a:spcBef>
              <a:buFont typeface="Wingdings"/>
              <a:buChar char="Ø"/>
            </a:pPr>
            <a:endParaRPr lang="en-US" sz="1400" i="1" dirty="0">
              <a:latin typeface="Cambria"/>
              <a:ea typeface="Cambria"/>
              <a:cs typeface="Calibri"/>
            </a:endParaRPr>
          </a:p>
          <a:p>
            <a:pPr marL="285750" indent="-285750">
              <a:lnSpc>
                <a:spcPct val="100000"/>
              </a:lnSpc>
              <a:spcBef>
                <a:spcPts val="0"/>
              </a:spcBef>
              <a:buFont typeface="Wingdings"/>
              <a:buChar char="Ø"/>
            </a:pPr>
            <a:r>
              <a:rPr lang="en-US" sz="1400" dirty="0">
                <a:highlight>
                  <a:srgbClr val="FFFFFF"/>
                </a:highlight>
                <a:latin typeface="Cambria"/>
                <a:ea typeface="Cambria"/>
                <a:cs typeface="Calibri"/>
              </a:rPr>
              <a:t>AI - Verification -  </a:t>
            </a:r>
            <a:r>
              <a:rPr lang="en-US" sz="1400" i="1" dirty="0">
                <a:solidFill>
                  <a:schemeClr val="accent1"/>
                </a:solidFill>
                <a:highlight>
                  <a:srgbClr val="FFFFFF"/>
                </a:highlight>
                <a:latin typeface="Cambria"/>
                <a:ea typeface="Cambria"/>
                <a:cs typeface="Calibri"/>
              </a:rPr>
              <a:t>Any 3 of the below verification questions needs to be answered </a:t>
            </a:r>
            <a:r>
              <a:rPr lang="en-US" sz="1400" i="1" dirty="0">
                <a:solidFill>
                  <a:schemeClr val="accent2"/>
                </a:solidFill>
                <a:highlight>
                  <a:srgbClr val="FFFFFF"/>
                </a:highlight>
                <a:latin typeface="Cambria"/>
                <a:ea typeface="Cambria"/>
                <a:cs typeface="Calibri"/>
              </a:rPr>
              <a:t>( To verify the customer details slide 13 )</a:t>
            </a:r>
            <a:endParaRPr lang="en-US" sz="1400" i="1" dirty="0">
              <a:solidFill>
                <a:schemeClr val="accent2"/>
              </a:solidFill>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NAME</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Date of Birth </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Registered Email ID</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Loan Sanction Amount</a:t>
            </a:r>
            <a:endParaRPr lang="en-US" sz="1400" dirty="0">
              <a:latin typeface="Cambria"/>
              <a:ea typeface="Cambria"/>
              <a:cs typeface="Calibri"/>
            </a:endParaRPr>
          </a:p>
          <a:p>
            <a:pPr marL="342900" indent="-342900">
              <a:buFont typeface="Wingdings"/>
              <a:buChar char="Ø"/>
            </a:pPr>
            <a:r>
              <a:rPr lang="en-US" sz="1400" dirty="0">
                <a:highlight>
                  <a:srgbClr val="FFFFFF"/>
                </a:highlight>
                <a:latin typeface="Cambria"/>
                <a:ea typeface="Cambria"/>
                <a:cs typeface="Calibri"/>
              </a:rPr>
              <a:t>EMI Amount</a:t>
            </a:r>
            <a:endParaRPr lang="en-US" sz="1400" dirty="0">
              <a:latin typeface="Cambria"/>
              <a:ea typeface="Cambria"/>
              <a:cs typeface="Calibri"/>
            </a:endParaRPr>
          </a:p>
          <a:p>
            <a:pPr marL="285750" indent="-285750">
              <a:lnSpc>
                <a:spcPct val="100000"/>
              </a:lnSpc>
              <a:spcBef>
                <a:spcPts val="0"/>
              </a:spcBef>
              <a:buFont typeface="Wingdings" panose="020B0604020202020204" pitchFamily="34" charset="0"/>
              <a:buChar char="Ø"/>
            </a:pPr>
            <a:endParaRPr lang="en-US" sz="1400" dirty="0">
              <a:latin typeface="Cambria"/>
              <a:ea typeface="Cambria"/>
            </a:endParaRPr>
          </a:p>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Calibri"/>
              </a:rPr>
              <a:t>Thank you, Sir/Madam. Your verification has been completed</a:t>
            </a:r>
            <a:r>
              <a:rPr lang="en-US" sz="1400" dirty="0">
                <a:highlight>
                  <a:srgbClr val="FFFFFF"/>
                </a:highlight>
                <a:latin typeface="Cambria"/>
                <a:ea typeface="Cambria"/>
                <a:cs typeface="Calibri"/>
              </a:rPr>
              <a:t>.</a:t>
            </a:r>
          </a:p>
          <a:p>
            <a:pPr marL="0" indent="0">
              <a:lnSpc>
                <a:spcPct val="100000"/>
              </a:lnSpc>
              <a:spcBef>
                <a:spcPts val="0"/>
              </a:spcBef>
              <a:buNone/>
            </a:pPr>
            <a:r>
              <a:rPr lang="en-US" sz="1600" i="1"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If there are two LANs, AI should first confirm the specific sanctioned amount, as the LAN number is not remembered. Once confirmed, proceed with the relevant LAN number. Check Point: </a:t>
            </a:r>
            <a:r>
              <a:rPr lang="en-US" sz="1600" i="1" dirty="0" err="1">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FinnOne</a:t>
            </a:r>
            <a:r>
              <a:rPr lang="en-US" sz="1600" i="1"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 Slide 13.</a:t>
            </a:r>
            <a:endParaRPr lang="en-US" sz="1600"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00000"/>
              </a:lnSpc>
              <a:spcBef>
                <a:spcPts val="0"/>
              </a:spcBef>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Segoe UI"/>
              </a:rPr>
              <a:t>As you have paid the charges of  copy of the property papers, I will check whether the amount is reflecting in our system.</a:t>
            </a:r>
          </a:p>
          <a:p>
            <a:pPr marL="0" indent="0">
              <a:lnSpc>
                <a:spcPct val="100000"/>
              </a:lnSpc>
              <a:spcBef>
                <a:spcPts val="0"/>
              </a:spcBef>
              <a:buNone/>
            </a:pPr>
            <a:r>
              <a:rPr lang="en-US" sz="1600" i="1" dirty="0">
                <a:solidFill>
                  <a:schemeClr val="accent2"/>
                </a:solidFill>
                <a:highlight>
                  <a:srgbClr val="FFFFFF"/>
                </a:highlight>
                <a:latin typeface="Calibri" panose="020F0502020204030204" pitchFamily="34" charset="0"/>
                <a:ea typeface="Calibri" panose="020F0502020204030204" pitchFamily="34" charset="0"/>
                <a:cs typeface="Calibri" panose="020F0502020204030204" pitchFamily="34" charset="0"/>
              </a:rPr>
              <a:t>(Need to check whether the amount is reflecting in our system – Refer Slide 14 to 27 )</a:t>
            </a:r>
          </a:p>
          <a:p>
            <a:pPr marL="342900" indent="-342900">
              <a:lnSpc>
                <a:spcPct val="100000"/>
              </a:lnSpc>
              <a:spcBef>
                <a:spcPts val="0"/>
              </a:spcBef>
              <a:buFont typeface="Wingdings"/>
              <a:buChar char="Ø"/>
            </a:pPr>
            <a:r>
              <a:rPr lang="en-US" sz="1400" dirty="0">
                <a:highlight>
                  <a:srgbClr val="FFFFFF"/>
                </a:highlight>
                <a:latin typeface="Cambria"/>
                <a:ea typeface="Cambria"/>
              </a:rPr>
              <a:t>AI -   </a:t>
            </a:r>
            <a:r>
              <a:rPr lang="en-US" sz="1400" i="1" dirty="0">
                <a:solidFill>
                  <a:schemeClr val="accent1"/>
                </a:solidFill>
                <a:highlight>
                  <a:srgbClr val="FFFFFF"/>
                </a:highlight>
                <a:latin typeface="Cambria"/>
                <a:ea typeface="Cambria"/>
                <a:cs typeface="Segoe UI"/>
              </a:rPr>
              <a:t>Sir, we have received your charges , hence raising a request from our end</a:t>
            </a:r>
            <a:r>
              <a:rPr lang="en-US" sz="1400" dirty="0">
                <a:highlight>
                  <a:srgbClr val="FFFFFF"/>
                </a:highlight>
                <a:latin typeface="Cambria"/>
                <a:ea typeface="Cambria"/>
                <a:cs typeface="Segoe UI"/>
              </a:rPr>
              <a:t> </a:t>
            </a:r>
            <a:r>
              <a:rPr lang="en-US" sz="1400" i="1" dirty="0">
                <a:solidFill>
                  <a:schemeClr val="accent2"/>
                </a:solidFill>
                <a:highlight>
                  <a:srgbClr val="FFFFFF"/>
                </a:highlight>
                <a:latin typeface="Cambria"/>
                <a:ea typeface="Cambria"/>
                <a:cs typeface="Segoe UI"/>
              </a:rPr>
              <a:t>(  To raise the request slide from 18 to 20 )</a:t>
            </a:r>
          </a:p>
          <a:p>
            <a:pPr marL="342900" indent="-342900">
              <a:lnSpc>
                <a:spcPct val="100000"/>
              </a:lnSpc>
              <a:spcBef>
                <a:spcPts val="0"/>
              </a:spcBef>
              <a:buFont typeface="Wingdings"/>
              <a:buChar char="Ø"/>
            </a:pPr>
            <a:r>
              <a:rPr lang="en-US" sz="1400" dirty="0">
                <a:highlight>
                  <a:srgbClr val="FFFFFF"/>
                </a:highlight>
                <a:latin typeface="Cambria"/>
                <a:ea typeface="Cambria"/>
              </a:rPr>
              <a:t>AI –  </a:t>
            </a:r>
            <a:r>
              <a:rPr lang="en-US" sz="1400" i="1" dirty="0">
                <a:solidFill>
                  <a:schemeClr val="accent1"/>
                </a:solidFill>
                <a:highlight>
                  <a:srgbClr val="FFFFFF"/>
                </a:highlight>
                <a:latin typeface="Cambria"/>
                <a:ea typeface="Cambria"/>
                <a:cs typeface="Segoe UI"/>
              </a:rPr>
              <a:t>After 10 working days, kindly visit the nearest </a:t>
            </a:r>
            <a:r>
              <a:rPr lang="en-US" sz="1400" i="1" dirty="0" err="1">
                <a:solidFill>
                  <a:schemeClr val="accent1"/>
                </a:solidFill>
                <a:highlight>
                  <a:srgbClr val="FFFFFF"/>
                </a:highlight>
                <a:latin typeface="Cambria"/>
                <a:ea typeface="Cambria"/>
                <a:cs typeface="Segoe UI"/>
              </a:rPr>
              <a:t>Grihum</a:t>
            </a:r>
            <a:r>
              <a:rPr lang="en-US" sz="1400" i="1" dirty="0">
                <a:solidFill>
                  <a:schemeClr val="accent1"/>
                </a:solidFill>
                <a:highlight>
                  <a:srgbClr val="FFFFFF"/>
                </a:highlight>
                <a:latin typeface="Cambria"/>
                <a:ea typeface="Cambria"/>
                <a:cs typeface="Segoe UI"/>
              </a:rPr>
              <a:t> branch &amp;  contact us on our toll-free number </a:t>
            </a:r>
            <a:r>
              <a:rPr lang="en-US" sz="1400" b="1" i="1" dirty="0">
                <a:solidFill>
                  <a:schemeClr val="accent1"/>
                </a:solidFill>
                <a:highlight>
                  <a:srgbClr val="FFFFFF"/>
                </a:highlight>
                <a:latin typeface="Cambria"/>
                <a:ea typeface="Cambria"/>
                <a:cs typeface="Segoe UI"/>
              </a:rPr>
              <a:t>1800 266 3204</a:t>
            </a:r>
            <a:r>
              <a:rPr lang="en-US" sz="1400" i="1" dirty="0">
                <a:solidFill>
                  <a:schemeClr val="accent1"/>
                </a:solidFill>
                <a:highlight>
                  <a:srgbClr val="FFFFFF"/>
                </a:highlight>
                <a:latin typeface="Cambria"/>
                <a:ea typeface="Cambria"/>
                <a:cs typeface="Segoe UI"/>
              </a:rPr>
              <a:t>. We will share the copy of the property papers with the branch representative, and you may collect the documents from the branch</a:t>
            </a:r>
            <a:r>
              <a:rPr lang="en-US" sz="1400" dirty="0">
                <a:highlight>
                  <a:srgbClr val="FFFFFF"/>
                </a:highlight>
                <a:latin typeface="Cambria"/>
                <a:ea typeface="Cambria"/>
                <a:cs typeface="Segoe UI"/>
              </a:rPr>
              <a:t>.</a:t>
            </a:r>
            <a:endParaRPr lang="en-US" sz="1400" dirty="0">
              <a:highlight>
                <a:srgbClr val="FFFFFF"/>
              </a:highlight>
              <a:latin typeface="Cambria"/>
              <a:ea typeface="Cambria"/>
            </a:endParaRPr>
          </a:p>
          <a:p>
            <a:pPr marL="342900" indent="-342900">
              <a:lnSpc>
                <a:spcPct val="120000"/>
              </a:lnSpc>
              <a:buFont typeface="Wingdings"/>
              <a:buChar char="Ø"/>
            </a:pPr>
            <a:r>
              <a:rPr lang="en-US" sz="1400" dirty="0">
                <a:highlight>
                  <a:srgbClr val="FFFFFF"/>
                </a:highlight>
                <a:latin typeface="Cambria"/>
                <a:ea typeface="Cambria"/>
                <a:cs typeface="Calibri"/>
              </a:rPr>
              <a:t>AI - </a:t>
            </a:r>
            <a:r>
              <a:rPr lang="en-US" sz="1400" i="1" dirty="0">
                <a:solidFill>
                  <a:schemeClr val="accent1"/>
                </a:solidFill>
                <a:highlight>
                  <a:srgbClr val="FFFFFF"/>
                </a:highlight>
                <a:latin typeface="Cambria"/>
                <a:ea typeface="Cambria"/>
                <a:cs typeface="Calibri"/>
              </a:rPr>
              <a:t>Any other details required apart from this?</a:t>
            </a:r>
          </a:p>
          <a:p>
            <a:pPr marL="342900" indent="-342900">
              <a:buFont typeface="Wingdings"/>
              <a:buChar char="Ø"/>
            </a:pPr>
            <a:r>
              <a:rPr lang="en-US" sz="1400" i="1" dirty="0">
                <a:solidFill>
                  <a:schemeClr val="accent1"/>
                </a:solidFill>
                <a:highlight>
                  <a:srgbClr val="FFFFFF"/>
                </a:highlight>
                <a:latin typeface="Cambria"/>
                <a:ea typeface="Cambria"/>
                <a:cs typeface="Calibri"/>
              </a:rPr>
              <a:t>Thankyou for calling </a:t>
            </a:r>
            <a:r>
              <a:rPr lang="en-US" sz="1400" i="1" dirty="0" err="1">
                <a:solidFill>
                  <a:schemeClr val="accent1"/>
                </a:solidFill>
                <a:highlight>
                  <a:srgbClr val="FFFFFF"/>
                </a:highlight>
                <a:latin typeface="Cambria"/>
                <a:ea typeface="Cambria"/>
                <a:cs typeface="Calibri"/>
              </a:rPr>
              <a:t>Grihum</a:t>
            </a:r>
            <a:r>
              <a:rPr lang="en-US" sz="1400" i="1" dirty="0">
                <a:solidFill>
                  <a:schemeClr val="accent1"/>
                </a:solidFill>
                <a:highlight>
                  <a:srgbClr val="FFFFFF"/>
                </a:highlight>
                <a:latin typeface="Cambria"/>
                <a:ea typeface="Cambria"/>
                <a:cs typeface="Calibri"/>
              </a:rPr>
              <a:t> Housing Finance Limited.  Have a pleasant day!</a:t>
            </a:r>
          </a:p>
          <a:p>
            <a:pPr marL="342900" indent="-342900">
              <a:lnSpc>
                <a:spcPct val="100000"/>
              </a:lnSpc>
              <a:spcBef>
                <a:spcPts val="0"/>
              </a:spcBef>
              <a:buFont typeface="Wingdings"/>
              <a:buChar char="Ø"/>
            </a:pPr>
            <a:endParaRPr lang="en-US" sz="1600" dirty="0">
              <a:highlight>
                <a:srgbClr val="FFFFFF"/>
              </a:highlight>
              <a:ea typeface="+mn-lt"/>
              <a:cs typeface="+mn-lt"/>
            </a:endParaRPr>
          </a:p>
        </p:txBody>
      </p:sp>
    </p:spTree>
    <p:extLst>
      <p:ext uri="{BB962C8B-B14F-4D97-AF65-F5344CB8AC3E}">
        <p14:creationId xmlns:p14="http://schemas.microsoft.com/office/powerpoint/2010/main" val="383700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34FC5-A54A-3E76-7DC9-4D6C28FFF9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FFEDAA-A29B-6A8B-DB79-791A68C320F1}"/>
              </a:ext>
            </a:extLst>
          </p:cNvPr>
          <p:cNvSpPr txBox="1"/>
          <p:nvPr/>
        </p:nvSpPr>
        <p:spPr>
          <a:xfrm>
            <a:off x="0" y="-5686"/>
            <a:ext cx="1331794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0" i="0" u="none" strike="noStrike" baseline="0">
                <a:solidFill>
                  <a:srgbClr val="000000"/>
                </a:solidFill>
                <a:latin typeface="Aptos Display"/>
              </a:rPr>
              <a:t>FINONE </a:t>
            </a:r>
            <a:endParaRPr lang="en-US"/>
          </a:p>
          <a:p>
            <a:pPr algn="ctr"/>
            <a:r>
              <a:rPr lang="en-IN" b="1">
                <a:highlight>
                  <a:srgbClr val="FFFFFF"/>
                </a:highlight>
                <a:latin typeface="Calibri"/>
                <a:ea typeface="Calibri"/>
                <a:cs typeface="Calibri"/>
              </a:rPr>
              <a:t>To verify the information, please provide the customer's registered mobile number.</a:t>
            </a:r>
            <a:r>
              <a:rPr lang="en-US" dirty="0">
                <a:latin typeface="Calibri"/>
                <a:ea typeface="Calibri"/>
                <a:cs typeface="Calibri"/>
              </a:rPr>
              <a:t> </a:t>
            </a:r>
            <a:endParaRPr lang="en-US" dirty="0"/>
          </a:p>
          <a:p>
            <a:pPr marL="342900" indent="-342900" algn="ctr">
              <a:buAutoNum type="arabicPeriod"/>
            </a:pPr>
            <a:endParaRPr lang="en-US"/>
          </a:p>
        </p:txBody>
      </p:sp>
      <p:pic>
        <p:nvPicPr>
          <p:cNvPr id="3" name="Picture 2">
            <a:extLst>
              <a:ext uri="{FF2B5EF4-FFF2-40B4-BE49-F238E27FC236}">
                <a16:creationId xmlns:a16="http://schemas.microsoft.com/office/drawing/2014/main" id="{3D87A709-2928-6110-E320-9B3D1E710E8A}"/>
              </a:ext>
            </a:extLst>
          </p:cNvPr>
          <p:cNvPicPr>
            <a:picLocks noChangeAspect="1"/>
          </p:cNvPicPr>
          <p:nvPr/>
        </p:nvPicPr>
        <p:blipFill>
          <a:blip r:embed="rId2"/>
          <a:stretch>
            <a:fillRect/>
          </a:stretch>
        </p:blipFill>
        <p:spPr>
          <a:xfrm>
            <a:off x="297050" y="1108333"/>
            <a:ext cx="11584984" cy="5506655"/>
          </a:xfrm>
          <a:prstGeom prst="rect">
            <a:avLst/>
          </a:prstGeom>
        </p:spPr>
      </p:pic>
      <p:sp>
        <p:nvSpPr>
          <p:cNvPr id="4" name="Arrow: Left 3">
            <a:extLst>
              <a:ext uri="{FF2B5EF4-FFF2-40B4-BE49-F238E27FC236}">
                <a16:creationId xmlns:a16="http://schemas.microsoft.com/office/drawing/2014/main" id="{92128ACC-2B04-BEDB-060A-F4F58F8A8D11}"/>
              </a:ext>
            </a:extLst>
          </p:cNvPr>
          <p:cNvSpPr/>
          <p:nvPr/>
        </p:nvSpPr>
        <p:spPr>
          <a:xfrm rot="5400000">
            <a:off x="1935167" y="3794777"/>
            <a:ext cx="978407" cy="484631"/>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CD647E6-3C3E-A688-E800-5280E69D4F2E}"/>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Aptos"/>
                <a:ea typeface="Aptos"/>
                <a:cs typeface="Aptos"/>
              </a:rPr>
              <a:t>​</a:t>
            </a:r>
            <a:endParaRPr lang="en-US"/>
          </a:p>
          <a:p>
            <a:pPr algn="ctr"/>
            <a:endParaRPr lang="en-US"/>
          </a:p>
        </p:txBody>
      </p:sp>
      <p:sp>
        <p:nvSpPr>
          <p:cNvPr id="7" name="Arrow: Right 6">
            <a:extLst>
              <a:ext uri="{FF2B5EF4-FFF2-40B4-BE49-F238E27FC236}">
                <a16:creationId xmlns:a16="http://schemas.microsoft.com/office/drawing/2014/main" id="{ACC27B21-5BC1-BDE7-0577-07E6C981D2F5}"/>
              </a:ext>
            </a:extLst>
          </p:cNvPr>
          <p:cNvSpPr/>
          <p:nvPr/>
        </p:nvSpPr>
        <p:spPr>
          <a:xfrm rot="16200000">
            <a:off x="6404284" y="3823218"/>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BB330CF0-F717-33EC-9E4C-01274EA9FA00}"/>
              </a:ext>
            </a:extLst>
          </p:cNvPr>
          <p:cNvSpPr/>
          <p:nvPr/>
        </p:nvSpPr>
        <p:spPr>
          <a:xfrm rot="16200000">
            <a:off x="262791" y="5472322"/>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6843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36537-FFB9-753E-6109-1E38BB4A4E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5B74BC-D4D4-CA84-A917-C032F847ADED}"/>
              </a:ext>
            </a:extLst>
          </p:cNvPr>
          <p:cNvSpPr txBox="1"/>
          <p:nvPr/>
        </p:nvSpPr>
        <p:spPr>
          <a:xfrm>
            <a:off x="0" y="119418"/>
            <a:ext cx="1238534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i="0" u="none" strike="noStrike" baseline="0">
                <a:solidFill>
                  <a:srgbClr val="000000"/>
                </a:solidFill>
                <a:highlight>
                  <a:srgbClr val="FFFFFF"/>
                </a:highlight>
                <a:latin typeface="Aptos"/>
              </a:rPr>
              <a:t>Verification -  </a:t>
            </a:r>
            <a:r>
              <a:rPr lang="en-IN" sz="2400" b="1" i="0" u="none" strike="noStrike" baseline="0">
                <a:solidFill>
                  <a:srgbClr val="000000"/>
                </a:solidFill>
                <a:highlight>
                  <a:srgbClr val="FFFFFF"/>
                </a:highlight>
                <a:latin typeface="Calibri"/>
              </a:rPr>
              <a:t>Any 3 of the below verification questions needs to be answered</a:t>
            </a:r>
            <a:r>
              <a:rPr sz="2400" b="0" i="0">
                <a:solidFill>
                  <a:srgbClr val="000000"/>
                </a:solidFill>
                <a:latin typeface="Calibri"/>
                <a:ea typeface="Calibri"/>
                <a:cs typeface="Calibri"/>
              </a:rPr>
              <a:t>​</a:t>
            </a:r>
            <a:endParaRPr lang="en-US"/>
          </a:p>
          <a:p>
            <a:pPr marL="342900" indent="-342900" algn="ctr">
              <a:buAutoNum type="arabicPeriod"/>
            </a:pPr>
            <a:endParaRPr lang="en-US"/>
          </a:p>
        </p:txBody>
      </p:sp>
      <p:pic>
        <p:nvPicPr>
          <p:cNvPr id="4" name="Picture 3">
            <a:extLst>
              <a:ext uri="{FF2B5EF4-FFF2-40B4-BE49-F238E27FC236}">
                <a16:creationId xmlns:a16="http://schemas.microsoft.com/office/drawing/2014/main" id="{325D403F-1AFA-2A54-F592-C6FA1B596F3C}"/>
              </a:ext>
            </a:extLst>
          </p:cNvPr>
          <p:cNvPicPr>
            <a:picLocks noChangeAspect="1"/>
          </p:cNvPicPr>
          <p:nvPr/>
        </p:nvPicPr>
        <p:blipFill>
          <a:blip r:embed="rId2"/>
          <a:stretch>
            <a:fillRect/>
          </a:stretch>
        </p:blipFill>
        <p:spPr>
          <a:xfrm>
            <a:off x="154781" y="698712"/>
            <a:ext cx="11908067" cy="5703946"/>
          </a:xfrm>
          <a:prstGeom prst="rect">
            <a:avLst/>
          </a:prstGeom>
        </p:spPr>
      </p:pic>
    </p:spTree>
    <p:extLst>
      <p:ext uri="{BB962C8B-B14F-4D97-AF65-F5344CB8AC3E}">
        <p14:creationId xmlns:p14="http://schemas.microsoft.com/office/powerpoint/2010/main" val="4270772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2" y="171782"/>
            <a:ext cx="12198823" cy="722787"/>
          </a:xfrm>
        </p:spPr>
        <p:txBody>
          <a:bodyPr/>
          <a:lstStyle/>
          <a:p>
            <a:pPr algn="ctr"/>
            <a:r>
              <a:rPr lang="en-US" sz="3600" dirty="0">
                <a:latin typeface="Segoe UI"/>
                <a:cs typeface="Segoe UI"/>
              </a:rPr>
              <a:t>SOA Reflecting in </a:t>
            </a:r>
            <a:r>
              <a:rPr lang="en-US" sz="3600" dirty="0" err="1">
                <a:latin typeface="Segoe UI"/>
                <a:cs typeface="Segoe UI"/>
              </a:rPr>
              <a:t>FinnOne</a:t>
            </a:r>
            <a:endParaRPr lang="en-US" sz="3600"/>
          </a:p>
          <a:p>
            <a:endParaRPr lang="en-US"/>
          </a:p>
        </p:txBody>
      </p:sp>
      <p:pic>
        <p:nvPicPr>
          <p:cNvPr id="4" name="Picture 3">
            <a:extLst>
              <a:ext uri="{FF2B5EF4-FFF2-40B4-BE49-F238E27FC236}">
                <a16:creationId xmlns:a16="http://schemas.microsoft.com/office/drawing/2014/main" id="{0A05E4C6-6063-7FDF-D50D-AD3D7EB7CDE3}"/>
              </a:ext>
            </a:extLst>
          </p:cNvPr>
          <p:cNvPicPr>
            <a:picLocks noChangeAspect="1"/>
          </p:cNvPicPr>
          <p:nvPr/>
        </p:nvPicPr>
        <p:blipFill>
          <a:blip r:embed="rId2"/>
          <a:stretch>
            <a:fillRect/>
          </a:stretch>
        </p:blipFill>
        <p:spPr>
          <a:xfrm>
            <a:off x="271220" y="865762"/>
            <a:ext cx="11300848" cy="5539764"/>
          </a:xfrm>
          <a:prstGeom prst="rect">
            <a:avLst/>
          </a:prstGeom>
        </p:spPr>
      </p:pic>
      <p:sp>
        <p:nvSpPr>
          <p:cNvPr id="5" name="Arrow: Right 4">
            <a:extLst>
              <a:ext uri="{FF2B5EF4-FFF2-40B4-BE49-F238E27FC236}">
                <a16:creationId xmlns:a16="http://schemas.microsoft.com/office/drawing/2014/main" id="{7A822700-C912-43CC-5B04-DB5074E72F0E}"/>
              </a:ext>
            </a:extLst>
          </p:cNvPr>
          <p:cNvSpPr/>
          <p:nvPr/>
        </p:nvSpPr>
        <p:spPr>
          <a:xfrm rot="16200000">
            <a:off x="1088475" y="3182121"/>
            <a:ext cx="978407" cy="484631"/>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126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61057A-E136-9AA4-BF0A-309859DF8940}"/>
              </a:ext>
            </a:extLst>
          </p:cNvPr>
          <p:cNvPicPr>
            <a:picLocks noChangeAspect="1"/>
          </p:cNvPicPr>
          <p:nvPr/>
        </p:nvPicPr>
        <p:blipFill>
          <a:blip r:embed="rId2"/>
          <a:stretch>
            <a:fillRect/>
          </a:stretch>
        </p:blipFill>
        <p:spPr>
          <a:xfrm>
            <a:off x="413288" y="441514"/>
            <a:ext cx="11572068" cy="5974972"/>
          </a:xfrm>
          <a:prstGeom prst="rect">
            <a:avLst/>
          </a:prstGeom>
        </p:spPr>
      </p:pic>
      <p:sp>
        <p:nvSpPr>
          <p:cNvPr id="4" name="Arrow: Right 3">
            <a:extLst>
              <a:ext uri="{FF2B5EF4-FFF2-40B4-BE49-F238E27FC236}">
                <a16:creationId xmlns:a16="http://schemas.microsoft.com/office/drawing/2014/main" id="{CD7D207E-ECA8-21AC-61DA-16B2919C11BB}"/>
              </a:ext>
            </a:extLst>
          </p:cNvPr>
          <p:cNvSpPr/>
          <p:nvPr/>
        </p:nvSpPr>
        <p:spPr>
          <a:xfrm rot="5400000">
            <a:off x="10037762" y="2478066"/>
            <a:ext cx="978407" cy="484631"/>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6298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BC8BFC-6EF3-51BE-6211-FE1AF1916C27}"/>
              </a:ext>
            </a:extLst>
          </p:cNvPr>
          <p:cNvPicPr>
            <a:picLocks noChangeAspect="1"/>
          </p:cNvPicPr>
          <p:nvPr/>
        </p:nvPicPr>
        <p:blipFill>
          <a:blip r:embed="rId2"/>
          <a:stretch>
            <a:fillRect/>
          </a:stretch>
        </p:blipFill>
        <p:spPr>
          <a:xfrm>
            <a:off x="413288" y="446121"/>
            <a:ext cx="11507492" cy="5965757"/>
          </a:xfrm>
          <a:prstGeom prst="rect">
            <a:avLst/>
          </a:prstGeom>
        </p:spPr>
      </p:pic>
      <p:sp>
        <p:nvSpPr>
          <p:cNvPr id="3" name="Arrow: Right 2">
            <a:extLst>
              <a:ext uri="{FF2B5EF4-FFF2-40B4-BE49-F238E27FC236}">
                <a16:creationId xmlns:a16="http://schemas.microsoft.com/office/drawing/2014/main" id="{3D9BA95C-9CB5-0C9C-15B7-3B48A2523EE8}"/>
              </a:ext>
            </a:extLst>
          </p:cNvPr>
          <p:cNvSpPr/>
          <p:nvPr/>
        </p:nvSpPr>
        <p:spPr>
          <a:xfrm rot="16200000">
            <a:off x="3161158" y="4492743"/>
            <a:ext cx="978407" cy="484631"/>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3991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0FAAE9-CCB2-2BB4-CD82-F9B6296B717E}"/>
              </a:ext>
            </a:extLst>
          </p:cNvPr>
          <p:cNvPicPr>
            <a:picLocks noChangeAspect="1"/>
          </p:cNvPicPr>
          <p:nvPr/>
        </p:nvPicPr>
        <p:blipFill>
          <a:blip r:embed="rId2"/>
          <a:stretch>
            <a:fillRect/>
          </a:stretch>
        </p:blipFill>
        <p:spPr>
          <a:xfrm>
            <a:off x="452437" y="285750"/>
            <a:ext cx="11287125" cy="6286500"/>
          </a:xfrm>
          <a:prstGeom prst="rect">
            <a:avLst/>
          </a:prstGeom>
        </p:spPr>
      </p:pic>
      <p:sp>
        <p:nvSpPr>
          <p:cNvPr id="5" name="Arrow: Down 4">
            <a:extLst>
              <a:ext uri="{FF2B5EF4-FFF2-40B4-BE49-F238E27FC236}">
                <a16:creationId xmlns:a16="http://schemas.microsoft.com/office/drawing/2014/main" id="{49F3BFB1-DBC3-F409-8BF6-B54AA5E484A5}"/>
              </a:ext>
            </a:extLst>
          </p:cNvPr>
          <p:cNvSpPr/>
          <p:nvPr/>
        </p:nvSpPr>
        <p:spPr>
          <a:xfrm>
            <a:off x="5324843" y="4395602"/>
            <a:ext cx="484631" cy="97840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795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F56ED99-01FD-3288-82A3-C18F6FFA7E74}"/>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CSR Tagging</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5392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48A9D-BF4C-192D-048C-5EC58332F468}"/>
              </a:ext>
            </a:extLst>
          </p:cNvPr>
          <p:cNvPicPr>
            <a:picLocks noChangeAspect="1"/>
          </p:cNvPicPr>
          <p:nvPr/>
        </p:nvPicPr>
        <p:blipFill>
          <a:blip r:embed="rId2"/>
          <a:stretch>
            <a:fillRect/>
          </a:stretch>
        </p:blipFill>
        <p:spPr>
          <a:xfrm>
            <a:off x="154983" y="404925"/>
            <a:ext cx="11765797" cy="6048151"/>
          </a:xfrm>
          <a:prstGeom prst="rect">
            <a:avLst/>
          </a:prstGeom>
        </p:spPr>
      </p:pic>
      <p:sp>
        <p:nvSpPr>
          <p:cNvPr id="4" name="Arrow: Right 3">
            <a:extLst>
              <a:ext uri="{FF2B5EF4-FFF2-40B4-BE49-F238E27FC236}">
                <a16:creationId xmlns:a16="http://schemas.microsoft.com/office/drawing/2014/main" id="{3CA06700-1392-6FAE-7745-643335A2AF9D}"/>
              </a:ext>
            </a:extLst>
          </p:cNvPr>
          <p:cNvSpPr/>
          <p:nvPr/>
        </p:nvSpPr>
        <p:spPr>
          <a:xfrm rot="16200000">
            <a:off x="1534431" y="3188426"/>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15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55DCE2-11DC-6169-4CF7-D313584500B8}"/>
              </a:ext>
            </a:extLst>
          </p:cNvPr>
          <p:cNvPicPr>
            <a:picLocks noChangeAspect="1"/>
          </p:cNvPicPr>
          <p:nvPr/>
        </p:nvPicPr>
        <p:blipFill>
          <a:blip r:embed="rId2"/>
          <a:stretch>
            <a:fillRect/>
          </a:stretch>
        </p:blipFill>
        <p:spPr>
          <a:xfrm>
            <a:off x="193728" y="416145"/>
            <a:ext cx="11752883" cy="6025711"/>
          </a:xfrm>
          <a:prstGeom prst="rect">
            <a:avLst/>
          </a:prstGeom>
        </p:spPr>
      </p:pic>
      <p:sp>
        <p:nvSpPr>
          <p:cNvPr id="3" name="Arrow: Right 2">
            <a:extLst>
              <a:ext uri="{FF2B5EF4-FFF2-40B4-BE49-F238E27FC236}">
                <a16:creationId xmlns:a16="http://schemas.microsoft.com/office/drawing/2014/main" id="{C3C1E8E4-A5F0-CAB3-D9B2-30474EF51CC2}"/>
              </a:ext>
            </a:extLst>
          </p:cNvPr>
          <p:cNvSpPr/>
          <p:nvPr/>
        </p:nvSpPr>
        <p:spPr>
          <a:xfrm rot="-5400000">
            <a:off x="4498369" y="3181650"/>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337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FF5CAA-7CD9-3FDD-0512-53E08FE7E4BC}"/>
              </a:ext>
            </a:extLst>
          </p:cNvPr>
          <p:cNvPicPr>
            <a:picLocks noChangeAspect="1"/>
          </p:cNvPicPr>
          <p:nvPr/>
        </p:nvPicPr>
        <p:blipFill>
          <a:blip r:embed="rId2"/>
          <a:stretch>
            <a:fillRect/>
          </a:stretch>
        </p:blipFill>
        <p:spPr>
          <a:xfrm>
            <a:off x="238124" y="398526"/>
            <a:ext cx="11680033" cy="6060947"/>
          </a:xfrm>
          <a:prstGeom prst="rect">
            <a:avLst/>
          </a:prstGeom>
        </p:spPr>
      </p:pic>
      <p:sp>
        <p:nvSpPr>
          <p:cNvPr id="3" name="Arrow: Right 2">
            <a:extLst>
              <a:ext uri="{FF2B5EF4-FFF2-40B4-BE49-F238E27FC236}">
                <a16:creationId xmlns:a16="http://schemas.microsoft.com/office/drawing/2014/main" id="{DCD415AF-C579-18BF-2F28-31FFF7F6BF38}"/>
              </a:ext>
            </a:extLst>
          </p:cNvPr>
          <p:cNvSpPr/>
          <p:nvPr/>
        </p:nvSpPr>
        <p:spPr>
          <a:xfrm rot="16200000">
            <a:off x="7150699" y="3193507"/>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947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573D6C-CBC4-0F65-FE35-1B7852B251D4}"/>
              </a:ext>
            </a:extLst>
          </p:cNvPr>
          <p:cNvPicPr>
            <a:picLocks noChangeAspect="1"/>
          </p:cNvPicPr>
          <p:nvPr/>
        </p:nvPicPr>
        <p:blipFill>
          <a:blip r:embed="rId2"/>
          <a:stretch>
            <a:fillRect/>
          </a:stretch>
        </p:blipFill>
        <p:spPr>
          <a:xfrm>
            <a:off x="142067" y="396941"/>
            <a:ext cx="11765798" cy="6064117"/>
          </a:xfrm>
          <a:prstGeom prst="rect">
            <a:avLst/>
          </a:prstGeom>
        </p:spPr>
      </p:pic>
      <p:sp>
        <p:nvSpPr>
          <p:cNvPr id="3" name="Arrow: Right 2">
            <a:extLst>
              <a:ext uri="{FF2B5EF4-FFF2-40B4-BE49-F238E27FC236}">
                <a16:creationId xmlns:a16="http://schemas.microsoft.com/office/drawing/2014/main" id="{04A09A8B-DBC4-169B-BE39-11FF699C10D5}"/>
              </a:ext>
            </a:extLst>
          </p:cNvPr>
          <p:cNvSpPr/>
          <p:nvPr/>
        </p:nvSpPr>
        <p:spPr>
          <a:xfrm rot="5400000">
            <a:off x="8583882" y="1187361"/>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679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6D24EF-3180-837F-768F-9E44A9E6C9C9}"/>
              </a:ext>
            </a:extLst>
          </p:cNvPr>
          <p:cNvPicPr>
            <a:picLocks noChangeAspect="1"/>
          </p:cNvPicPr>
          <p:nvPr/>
        </p:nvPicPr>
        <p:blipFill>
          <a:blip r:embed="rId2"/>
          <a:stretch>
            <a:fillRect/>
          </a:stretch>
        </p:blipFill>
        <p:spPr>
          <a:xfrm>
            <a:off x="154983" y="401888"/>
            <a:ext cx="11830373" cy="6054225"/>
          </a:xfrm>
          <a:prstGeom prst="rect">
            <a:avLst/>
          </a:prstGeom>
        </p:spPr>
      </p:pic>
      <p:sp>
        <p:nvSpPr>
          <p:cNvPr id="3" name="Arrow: Right 2">
            <a:extLst>
              <a:ext uri="{FF2B5EF4-FFF2-40B4-BE49-F238E27FC236}">
                <a16:creationId xmlns:a16="http://schemas.microsoft.com/office/drawing/2014/main" id="{E044850A-496B-AA2A-BF80-73452D010197}"/>
              </a:ext>
            </a:extLst>
          </p:cNvPr>
          <p:cNvSpPr/>
          <p:nvPr/>
        </p:nvSpPr>
        <p:spPr>
          <a:xfrm rot="-5400000">
            <a:off x="1275676" y="3853592"/>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244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D77E44-43C1-72A6-19D4-E427E8A958CB}"/>
              </a:ext>
            </a:extLst>
          </p:cNvPr>
          <p:cNvPicPr>
            <a:picLocks noChangeAspect="1"/>
          </p:cNvPicPr>
          <p:nvPr/>
        </p:nvPicPr>
        <p:blipFill>
          <a:blip r:embed="rId2"/>
          <a:stretch>
            <a:fillRect/>
          </a:stretch>
        </p:blipFill>
        <p:spPr>
          <a:xfrm>
            <a:off x="130968" y="403248"/>
            <a:ext cx="11822908" cy="6051504"/>
          </a:xfrm>
          <a:prstGeom prst="rect">
            <a:avLst/>
          </a:prstGeom>
        </p:spPr>
      </p:pic>
      <p:sp>
        <p:nvSpPr>
          <p:cNvPr id="3" name="Arrow: Right 2">
            <a:extLst>
              <a:ext uri="{FF2B5EF4-FFF2-40B4-BE49-F238E27FC236}">
                <a16:creationId xmlns:a16="http://schemas.microsoft.com/office/drawing/2014/main" id="{9744EE1E-4CB8-9DED-1295-80A19B880DAD}"/>
              </a:ext>
            </a:extLst>
          </p:cNvPr>
          <p:cNvSpPr/>
          <p:nvPr/>
        </p:nvSpPr>
        <p:spPr>
          <a:xfrm rot="5400000">
            <a:off x="4004570" y="3546013"/>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9840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DA4B22-EE0C-FCB3-6878-CD528C11609E}"/>
              </a:ext>
            </a:extLst>
          </p:cNvPr>
          <p:cNvPicPr>
            <a:picLocks noChangeAspect="1"/>
          </p:cNvPicPr>
          <p:nvPr/>
        </p:nvPicPr>
        <p:blipFill>
          <a:blip r:embed="rId2"/>
          <a:stretch>
            <a:fillRect/>
          </a:stretch>
        </p:blipFill>
        <p:spPr>
          <a:xfrm>
            <a:off x="142067" y="400170"/>
            <a:ext cx="11804544" cy="6057660"/>
          </a:xfrm>
          <a:prstGeom prst="rect">
            <a:avLst/>
          </a:prstGeom>
        </p:spPr>
      </p:pic>
      <p:sp>
        <p:nvSpPr>
          <p:cNvPr id="3" name="Arrow: Right 2">
            <a:extLst>
              <a:ext uri="{FF2B5EF4-FFF2-40B4-BE49-F238E27FC236}">
                <a16:creationId xmlns:a16="http://schemas.microsoft.com/office/drawing/2014/main" id="{85B73009-07FC-2163-ADC5-F9389CC41E1A}"/>
              </a:ext>
            </a:extLst>
          </p:cNvPr>
          <p:cNvSpPr/>
          <p:nvPr/>
        </p:nvSpPr>
        <p:spPr>
          <a:xfrm rot="5400000">
            <a:off x="4220681" y="3912254"/>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2878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58BEE6-51CD-BFAA-83D1-9D821FBBC2B9}"/>
              </a:ext>
            </a:extLst>
          </p:cNvPr>
          <p:cNvPicPr>
            <a:picLocks noChangeAspect="1"/>
          </p:cNvPicPr>
          <p:nvPr/>
        </p:nvPicPr>
        <p:blipFill>
          <a:blip r:embed="rId2"/>
          <a:stretch>
            <a:fillRect/>
          </a:stretch>
        </p:blipFill>
        <p:spPr>
          <a:xfrm>
            <a:off x="154983" y="401670"/>
            <a:ext cx="11830373" cy="6054660"/>
          </a:xfrm>
          <a:prstGeom prst="rect">
            <a:avLst/>
          </a:prstGeom>
        </p:spPr>
      </p:pic>
      <p:sp>
        <p:nvSpPr>
          <p:cNvPr id="3" name="Arrow: Right 2">
            <a:extLst>
              <a:ext uri="{FF2B5EF4-FFF2-40B4-BE49-F238E27FC236}">
                <a16:creationId xmlns:a16="http://schemas.microsoft.com/office/drawing/2014/main" id="{B6B22CBD-8D1B-C0BF-6A4C-F89BBEC91592}"/>
              </a:ext>
            </a:extLst>
          </p:cNvPr>
          <p:cNvSpPr/>
          <p:nvPr/>
        </p:nvSpPr>
        <p:spPr>
          <a:xfrm rot="5400000">
            <a:off x="4671935" y="2924576"/>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517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C0D322-1125-E6AE-42EB-11B083B8F584}"/>
              </a:ext>
            </a:extLst>
          </p:cNvPr>
          <p:cNvPicPr>
            <a:picLocks noChangeAspect="1"/>
          </p:cNvPicPr>
          <p:nvPr/>
        </p:nvPicPr>
        <p:blipFill>
          <a:blip r:embed="rId2"/>
          <a:stretch>
            <a:fillRect/>
          </a:stretch>
        </p:blipFill>
        <p:spPr>
          <a:xfrm>
            <a:off x="154983" y="417684"/>
            <a:ext cx="11804543" cy="6022631"/>
          </a:xfrm>
          <a:prstGeom prst="rect">
            <a:avLst/>
          </a:prstGeom>
        </p:spPr>
      </p:pic>
      <p:sp>
        <p:nvSpPr>
          <p:cNvPr id="3" name="Arrow: Right 2">
            <a:extLst>
              <a:ext uri="{FF2B5EF4-FFF2-40B4-BE49-F238E27FC236}">
                <a16:creationId xmlns:a16="http://schemas.microsoft.com/office/drawing/2014/main" id="{0E81FF0D-3582-F407-65BA-F4AA536BF491}"/>
              </a:ext>
            </a:extLst>
          </p:cNvPr>
          <p:cNvSpPr/>
          <p:nvPr/>
        </p:nvSpPr>
        <p:spPr>
          <a:xfrm rot="5400000">
            <a:off x="7848903" y="4473914"/>
            <a:ext cx="978407" cy="484631"/>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99372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1251</Words>
  <Application>Microsoft Office PowerPoint</Application>
  <PresentationFormat>Widescreen</PresentationFormat>
  <Paragraphs>118</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Aptos</vt:lpstr>
      <vt:lpstr>Aptos Display</vt:lpstr>
      <vt:lpstr>Arial</vt:lpstr>
      <vt:lpstr>Calibri</vt:lpstr>
      <vt:lpstr>Cambria</vt:lpstr>
      <vt:lpstr>Neue Haas Grotesk Text Pro</vt:lpstr>
      <vt:lpstr>Segoe UI</vt:lpstr>
      <vt:lpstr>Wingdings</vt:lpstr>
      <vt:lpstr>Office Theme</vt:lpstr>
      <vt:lpstr>Copy of Property Paper Retrieval Scenario1 &amp; 2</vt:lpstr>
      <vt:lpstr>Process Copy of Property Paper Retrieval (Scenario 1)</vt:lpstr>
      <vt:lpstr>PowerPoint Presentation</vt:lpstr>
      <vt:lpstr>PowerPoint Presentation</vt:lpstr>
      <vt:lpstr>PowerPoint Presentation</vt:lpstr>
      <vt:lpstr>Customer registered email ID </vt:lpstr>
      <vt:lpstr>Subject line and email template </vt:lpstr>
      <vt:lpstr>PowerPoint Presentation</vt:lpstr>
      <vt:lpstr>PowerPoint Presentation</vt:lpstr>
      <vt:lpstr>PowerPoint Presentation</vt:lpstr>
      <vt:lpstr>Process Copy of Property Paper Retrieval(Scenario 2)</vt:lpstr>
      <vt:lpstr>PowerPoint Presentation</vt:lpstr>
      <vt:lpstr>PowerPoint Presentation</vt:lpstr>
      <vt:lpstr>SOA Reflecting in FinnOne </vt:lpstr>
      <vt:lpstr>PowerPoint Presentation</vt:lpstr>
      <vt:lpstr>PowerPoint Presentation</vt:lpstr>
      <vt:lpstr>PowerPoint Presentation</vt:lpstr>
      <vt:lpstr>CSR Tagging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Amruta Subhash Gaikwad</dc:creator>
  <cp:lastModifiedBy>Amruta Subhash Gaikwad</cp:lastModifiedBy>
  <cp:revision>344</cp:revision>
  <dcterms:created xsi:type="dcterms:W3CDTF">2026-08-19T09:37:30Z</dcterms:created>
  <dcterms:modified xsi:type="dcterms:W3CDTF">2026-08-20T12:04:30Z</dcterms:modified>
</cp:coreProperties>
</file>