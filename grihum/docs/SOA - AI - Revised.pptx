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SOA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Statement of Account 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397805B3-7016-722B-AF0B-F8D734C9DB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AF1E6-34F7-AEB0-075F-C3627ABE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40"/>
            <a:ext cx="10515600" cy="810306"/>
          </a:xfrm>
        </p:spPr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r>
              <a:rPr lang="en-US" sz="2800" b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Process of Statement of Account</a:t>
            </a:r>
            <a:br>
              <a:rPr lang="en-US" sz="2800">
                <a:highlight>
                  <a:srgbClr val="FFFFFF"/>
                </a:highlight>
                <a:latin typeface="Aptos"/>
              </a:rPr>
            </a:br>
            <a:endParaRPr lang="en-US" sz="2800">
              <a:highlight>
                <a:srgbClr val="FFFFFF"/>
              </a:highlight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3838-0A31-D76E-3CBA-821270E39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541111"/>
            <a:ext cx="10951029" cy="631802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Opening Script -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Welcome to </a:t>
            </a:r>
            <a:r>
              <a:rPr lang="en-US" sz="1600" i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Housing Finance Limited. My name is (Agent Name) How may I assist you?</a:t>
            </a:r>
            <a:endParaRPr lang="en-US" sz="1600" i="1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Customer Concern - </a:t>
            </a:r>
            <a:r>
              <a:rPr lang="en-US" sz="1600" i="1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I need Statement of Account for my loan</a:t>
            </a:r>
            <a:endParaRPr lang="en-US" sz="1600" i="1" dirty="0"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Please note that this call is being recorded for quality assurance and training purposes.</a:t>
            </a:r>
            <a:endParaRPr lang="en-US" sz="1600" i="1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-  To verify the information, kindly provide the registered mobile number.</a:t>
            </a:r>
            <a:endParaRPr lang="en-US" sz="1600" i="1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Verification -  Any 3 of the below verification questions needs to be answered </a:t>
            </a:r>
            <a:r>
              <a:rPr lang="en-US" sz="1600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(Information to be  retrieved from </a:t>
            </a:r>
            <a:r>
              <a:rPr lang="en-US" sz="1600" dirty="0" err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Finnone</a:t>
            </a:r>
            <a:r>
              <a:rPr lang="en-US" sz="1600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and CRM – Screen shots shared from Slide 3 onwards)</a:t>
            </a:r>
            <a:endParaRPr lang="en-US" sz="1600" dirty="0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Name/Date of Birth/Registered Email ID/Loan Sanction Amount/EMI Amount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Thankyou Sir/Madam, your verification is completed. As I understand that you need statement of Account for your Home Loan</a:t>
            </a:r>
            <a:endParaRPr lang="en-US" sz="1600" i="1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  - 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We will raise the request for Statement of Account &amp; also share the Statement of Account on your registered mail ID .  Please confirm whether your Email ID is registered with us. </a:t>
            </a: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If yes –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Thank you Sir!, </a:t>
            </a: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If NO –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In that case Sir/Ma’am we will raise an Email ID </a:t>
            </a:r>
            <a:r>
              <a:rPr lang="en-US" sz="1600" i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updation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request first . Once your Email ID is successfully registered with us,  we request you to call us back after 3 working days to raise a fresh request for SOA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</a:t>
            </a:r>
            <a:r>
              <a:rPr lang="en-US" sz="1600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(The SOA request will be raised in CRM , screenshots shared from Slide – 5)</a:t>
            </a:r>
            <a:endParaRPr lang="en-US" sz="1600" dirty="0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  - 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Any other details required apart from this?</a:t>
            </a:r>
            <a:endParaRPr lang="en-US" sz="1600" i="1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Thankyou for calling </a:t>
            </a:r>
            <a:r>
              <a:rPr lang="en-US" sz="1600" i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Housing Finance Limited.  Have a pleasant day!</a:t>
            </a:r>
            <a:endParaRPr lang="en-US" sz="1600" i="1" dirty="0">
              <a:solidFill>
                <a:schemeClr val="tx2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1600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D0E8DC-6FDF-FB91-6639-D294B7A82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98124"/>
              </p:ext>
            </p:extLst>
          </p:nvPr>
        </p:nvGraphicFramePr>
        <p:xfrm>
          <a:off x="78509" y="34606"/>
          <a:ext cx="2481811" cy="369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811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69301">
                <a:tc>
                  <a:txBody>
                    <a:bodyPr/>
                    <a:lstStyle/>
                    <a:p>
                      <a:r>
                        <a:rPr lang="en-IN" dirty="0"/>
                        <a:t>Call flow – Script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47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0F81-0518-B7F1-C3D7-6D8B784C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212724"/>
            <a:ext cx="10515600" cy="1325563"/>
          </a:xfrm>
        </p:spPr>
        <p:txBody>
          <a:bodyPr/>
          <a:lstStyle/>
          <a:p>
            <a:pPr algn="ctr"/>
            <a:r>
              <a:rPr lang="en-US"/>
              <a:t>FINONE 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C809-0962-9C06-BFD1-D4C8A3C03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315" y="154259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IN" sz="1800" b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To verify the information, please provide the customer's registered mobile number.</a:t>
            </a:r>
            <a:endParaRPr lang="en-US" sz="1800" b="1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CC1015-7CB7-BE86-EB1D-3D049C60A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" b="192"/>
          <a:stretch>
            <a:fillRect/>
          </a:stretch>
        </p:blipFill>
        <p:spPr>
          <a:xfrm>
            <a:off x="698727" y="2329316"/>
            <a:ext cx="10714713" cy="3788669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03062322-B8E0-E491-6086-C3BC80629EF7}"/>
              </a:ext>
            </a:extLst>
          </p:cNvPr>
          <p:cNvSpPr/>
          <p:nvPr/>
        </p:nvSpPr>
        <p:spPr>
          <a:xfrm rot="-2160000">
            <a:off x="2824380" y="3933113"/>
            <a:ext cx="232289" cy="1139985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D1EF12C8-F0D6-CBD2-8EFC-7A3C20FA9ECE}"/>
              </a:ext>
            </a:extLst>
          </p:cNvPr>
          <p:cNvSpPr/>
          <p:nvPr/>
        </p:nvSpPr>
        <p:spPr>
          <a:xfrm rot="-2160000">
            <a:off x="7454436" y="3933112"/>
            <a:ext cx="232289" cy="1139985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73F389E6-705A-8205-E8F3-56BAA0F2A784}"/>
              </a:ext>
            </a:extLst>
          </p:cNvPr>
          <p:cNvSpPr/>
          <p:nvPr/>
        </p:nvSpPr>
        <p:spPr>
          <a:xfrm rot="-2160000">
            <a:off x="1436796" y="4993133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C67DBA-6039-5083-C18B-A24EF7B2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17554"/>
              </p:ext>
            </p:extLst>
          </p:nvPr>
        </p:nvGraphicFramePr>
        <p:xfrm>
          <a:off x="144206" y="149098"/>
          <a:ext cx="3198762" cy="369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8762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69301">
                <a:tc>
                  <a:txBody>
                    <a:bodyPr/>
                    <a:lstStyle/>
                    <a:p>
                      <a:r>
                        <a:rPr lang="en-IN" dirty="0"/>
                        <a:t>VERFICATION TOUCHPOINT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54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B0FB-C69D-30CA-8BBC-4242E338B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56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 b="1">
                <a:highlight>
                  <a:srgbClr val="FFFFFF"/>
                </a:highlight>
              </a:rPr>
              <a:t>Verification -  </a:t>
            </a:r>
            <a:r>
              <a:rPr lang="en-IN" sz="2400" b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Any 3 of the below verification questions needs to be answered </a:t>
            </a:r>
            <a:r>
              <a:rPr lang="en-US" sz="2400" b="1">
                <a:highlight>
                  <a:srgbClr val="FFFFFF"/>
                </a:highlight>
              </a:rPr>
              <a:t> </a:t>
            </a:r>
            <a:endParaRPr lang="en-US" sz="2400" b="1"/>
          </a:p>
          <a:p>
            <a:pPr algn="ctr"/>
            <a:endParaRPr lang="en-US" b="1"/>
          </a:p>
        </p:txBody>
      </p:sp>
      <p:pic>
        <p:nvPicPr>
          <p:cNvPr id="4" name="Picture 3" descr="A screen shot of a document&#10;&#10;AI-generated content may be incorrect.">
            <a:extLst>
              <a:ext uri="{FF2B5EF4-FFF2-40B4-BE49-F238E27FC236}">
                <a16:creationId xmlns:a16="http://schemas.microsoft.com/office/drawing/2014/main" id="{C6C20927-F6B7-8093-E747-A01FCDFEA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8"/>
          <a:stretch>
            <a:fillRect/>
          </a:stretch>
        </p:blipFill>
        <p:spPr>
          <a:xfrm>
            <a:off x="228374" y="1580016"/>
            <a:ext cx="11727997" cy="319719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EB73CC-F2BE-FB8C-DF2D-0D2E00115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832700"/>
              </p:ext>
            </p:extLst>
          </p:nvPr>
        </p:nvGraphicFramePr>
        <p:xfrm>
          <a:off x="228374" y="871910"/>
          <a:ext cx="3198762" cy="369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8762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69301">
                <a:tc>
                  <a:txBody>
                    <a:bodyPr/>
                    <a:lstStyle/>
                    <a:p>
                      <a:r>
                        <a:rPr lang="en-IN" dirty="0"/>
                        <a:t>VERFICATION TOUCHPOINT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75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DC34D-89C0-E6EB-96B5-6BF5353E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CSR TAGGING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F61CFB-E0F3-422B-36F0-58063B682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241242"/>
              </p:ext>
            </p:extLst>
          </p:nvPr>
        </p:nvGraphicFramePr>
        <p:xfrm>
          <a:off x="144205" y="149098"/>
          <a:ext cx="6964517" cy="38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4517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81844">
                <a:tc>
                  <a:txBody>
                    <a:bodyPr/>
                    <a:lstStyle/>
                    <a:p>
                      <a:r>
                        <a:rPr lang="en-IN" dirty="0"/>
                        <a:t>A.I activity -  Raise Service request on call /post call – as feasible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0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6180098-2076-FD10-5E02-302F722FC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81" b="-245"/>
          <a:stretch>
            <a:fillRect/>
          </a:stretch>
        </p:blipFill>
        <p:spPr>
          <a:xfrm>
            <a:off x="1607003" y="526937"/>
            <a:ext cx="8985256" cy="29065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4F1405F9-5120-9A1D-E7F6-28AAF61BA5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34"/>
          <a:stretch>
            <a:fillRect/>
          </a:stretch>
        </p:blipFill>
        <p:spPr>
          <a:xfrm>
            <a:off x="1599519" y="3642405"/>
            <a:ext cx="8992961" cy="30421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E0DC8A12-9808-F29C-4B3C-5FD1E11F850D}"/>
              </a:ext>
            </a:extLst>
          </p:cNvPr>
          <p:cNvSpPr/>
          <p:nvPr/>
        </p:nvSpPr>
        <p:spPr>
          <a:xfrm rot="-2160000">
            <a:off x="3352682" y="1669361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66C2B23B-E397-264A-5659-8F5BE4CE5C31}"/>
              </a:ext>
            </a:extLst>
          </p:cNvPr>
          <p:cNvSpPr/>
          <p:nvPr/>
        </p:nvSpPr>
        <p:spPr>
          <a:xfrm rot="-2160000">
            <a:off x="5595138" y="4782674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1CC7C2-0284-4A57-9DB0-09154256C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916999"/>
              </p:ext>
            </p:extLst>
          </p:nvPr>
        </p:nvGraphicFramePr>
        <p:xfrm>
          <a:off x="144205" y="88135"/>
          <a:ext cx="6964517" cy="38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4517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81844">
                <a:tc>
                  <a:txBody>
                    <a:bodyPr/>
                    <a:lstStyle/>
                    <a:p>
                      <a:r>
                        <a:rPr lang="en-IN" dirty="0"/>
                        <a:t>A.I activity -  Raise Service request on call /post call – as feasible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55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application&#10;&#10;AI-generated content may be incorrect.">
            <a:extLst>
              <a:ext uri="{FF2B5EF4-FFF2-40B4-BE49-F238E27FC236}">
                <a16:creationId xmlns:a16="http://schemas.microsoft.com/office/drawing/2014/main" id="{F751A4C8-83E0-7D00-3FB7-E7337D019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49"/>
          <a:stretch>
            <a:fillRect/>
          </a:stretch>
        </p:blipFill>
        <p:spPr>
          <a:xfrm>
            <a:off x="1833562" y="652349"/>
            <a:ext cx="8220075" cy="2916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application&#10;&#10;AI-generated content may be incorrect.">
            <a:extLst>
              <a:ext uri="{FF2B5EF4-FFF2-40B4-BE49-F238E27FC236}">
                <a16:creationId xmlns:a16="http://schemas.microsoft.com/office/drawing/2014/main" id="{62816540-B7C3-A2D7-B05E-1D80B608DD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" b="-251"/>
          <a:stretch>
            <a:fillRect/>
          </a:stretch>
        </p:blipFill>
        <p:spPr>
          <a:xfrm>
            <a:off x="1828800" y="3744686"/>
            <a:ext cx="8222337" cy="2902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09F15E8F-4544-3D14-C4F3-08257F00EF11}"/>
              </a:ext>
            </a:extLst>
          </p:cNvPr>
          <p:cNvSpPr/>
          <p:nvPr/>
        </p:nvSpPr>
        <p:spPr>
          <a:xfrm rot="-2160000">
            <a:off x="6814339" y="1785475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9DAF8A8E-3F2E-31E5-0231-91D8E2B98DE9}"/>
              </a:ext>
            </a:extLst>
          </p:cNvPr>
          <p:cNvSpPr/>
          <p:nvPr/>
        </p:nvSpPr>
        <p:spPr>
          <a:xfrm rot="-2160000">
            <a:off x="3352681" y="5341474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A59478-F10D-BB42-C517-3383D187B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434"/>
              </p:ext>
            </p:extLst>
          </p:nvPr>
        </p:nvGraphicFramePr>
        <p:xfrm>
          <a:off x="144205" y="88135"/>
          <a:ext cx="6964517" cy="38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4517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81844">
                <a:tc>
                  <a:txBody>
                    <a:bodyPr/>
                    <a:lstStyle/>
                    <a:p>
                      <a:r>
                        <a:rPr lang="en-IN" dirty="0"/>
                        <a:t>A.I activity -  Raise Service request on call /post call – as feasible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85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BD107F-B853-C987-3FDA-22EF2612B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26"/>
          <a:stretch>
            <a:fillRect/>
          </a:stretch>
        </p:blipFill>
        <p:spPr>
          <a:xfrm>
            <a:off x="1750786" y="497455"/>
            <a:ext cx="8610601" cy="32702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F30F7B-B44F-9745-F8AC-EDC79199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253"/>
          <a:stretch>
            <a:fillRect/>
          </a:stretch>
        </p:blipFill>
        <p:spPr>
          <a:xfrm>
            <a:off x="1748518" y="3935640"/>
            <a:ext cx="8607878" cy="29201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C4D3E430-DF7B-54BD-DA3B-9685315388C8}"/>
              </a:ext>
            </a:extLst>
          </p:cNvPr>
          <p:cNvSpPr/>
          <p:nvPr/>
        </p:nvSpPr>
        <p:spPr>
          <a:xfrm rot="-2160000">
            <a:off x="5021824" y="1284731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EBA6C8BA-DEBC-D1CA-75E5-C15CAFC5E0C2}"/>
              </a:ext>
            </a:extLst>
          </p:cNvPr>
          <p:cNvSpPr/>
          <p:nvPr/>
        </p:nvSpPr>
        <p:spPr>
          <a:xfrm rot="-2160000">
            <a:off x="5428223" y="5348730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1159B2-AC23-D186-C7A9-41A2C1345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434"/>
              </p:ext>
            </p:extLst>
          </p:nvPr>
        </p:nvGraphicFramePr>
        <p:xfrm>
          <a:off x="144205" y="88135"/>
          <a:ext cx="6964517" cy="38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4517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81844">
                <a:tc>
                  <a:txBody>
                    <a:bodyPr/>
                    <a:lstStyle/>
                    <a:p>
                      <a:r>
                        <a:rPr lang="en-IN" dirty="0"/>
                        <a:t>A.I activity -  Raise Service request on call /post call – as feasible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562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registration form&#10;&#10;AI-generated content may be incorrect.">
            <a:extLst>
              <a:ext uri="{FF2B5EF4-FFF2-40B4-BE49-F238E27FC236}">
                <a16:creationId xmlns:a16="http://schemas.microsoft.com/office/drawing/2014/main" id="{1A3EDC39-3228-39D9-978F-FCF98D109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50"/>
          <a:stretch>
            <a:fillRect/>
          </a:stretch>
        </p:blipFill>
        <p:spPr>
          <a:xfrm>
            <a:off x="1550987" y="480445"/>
            <a:ext cx="8473167" cy="29414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registration form&#10;&#10;AI-generated content may be incorrect.">
            <a:extLst>
              <a:ext uri="{FF2B5EF4-FFF2-40B4-BE49-F238E27FC236}">
                <a16:creationId xmlns:a16="http://schemas.microsoft.com/office/drawing/2014/main" id="{E0D3BA48-0283-02C2-023D-626C7344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" b="-266"/>
          <a:stretch>
            <a:fillRect/>
          </a:stretch>
        </p:blipFill>
        <p:spPr>
          <a:xfrm>
            <a:off x="1551214" y="3646714"/>
            <a:ext cx="8494476" cy="28738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6D2B1471-EBAA-2872-0F80-55360943CC51}"/>
              </a:ext>
            </a:extLst>
          </p:cNvPr>
          <p:cNvSpPr/>
          <p:nvPr/>
        </p:nvSpPr>
        <p:spPr>
          <a:xfrm rot="-2160000">
            <a:off x="8331081" y="1161360"/>
            <a:ext cx="203260" cy="110369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20643697-A16F-54FD-96D9-46D3459EA2DF}"/>
              </a:ext>
            </a:extLst>
          </p:cNvPr>
          <p:cNvSpPr/>
          <p:nvPr/>
        </p:nvSpPr>
        <p:spPr>
          <a:xfrm rot="15000000">
            <a:off x="8031735" y="5449798"/>
            <a:ext cx="217774" cy="112547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9D0624-7104-C75B-63F8-9E1504D03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039894"/>
              </p:ext>
            </p:extLst>
          </p:nvPr>
        </p:nvGraphicFramePr>
        <p:xfrm>
          <a:off x="39697" y="35881"/>
          <a:ext cx="6964517" cy="38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4517">
                  <a:extLst>
                    <a:ext uri="{9D8B030D-6E8A-4147-A177-3AD203B41FA5}">
                      <a16:colId xmlns:a16="http://schemas.microsoft.com/office/drawing/2014/main" val="1118414341"/>
                    </a:ext>
                  </a:extLst>
                </a:gridCol>
              </a:tblGrid>
              <a:tr h="381844">
                <a:tc>
                  <a:txBody>
                    <a:bodyPr/>
                    <a:lstStyle/>
                    <a:p>
                      <a:r>
                        <a:rPr lang="en-IN" dirty="0"/>
                        <a:t>A.I activity -  Raise Service request on call /post call – as feasible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7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1350</TotalTime>
  <Words>395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office theme</vt:lpstr>
      <vt:lpstr>SOA </vt:lpstr>
      <vt:lpstr>Process of Statement of Account </vt:lpstr>
      <vt:lpstr>FINONE  </vt:lpstr>
      <vt:lpstr>PowerPoint Presentation</vt:lpstr>
      <vt:lpstr>CSR TAGGING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Richard Dsilva</dc:creator>
  <cp:lastModifiedBy>Amruta Subhash Gaikwad</cp:lastModifiedBy>
  <cp:revision>4</cp:revision>
  <dcterms:created xsi:type="dcterms:W3CDTF">2026-07-04T05:46:35Z</dcterms:created>
  <dcterms:modified xsi:type="dcterms:W3CDTF">2026-08-20T10:35:54Z</dcterms:modified>
</cp:coreProperties>
</file>