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10896"/>
            <a:ext cx="3657600" cy="182880"/>
          </a:xfrm>
          <a:prstGeom prst="rect">
            <a:avLst/>
          </a:prstGeom>
          <a:noFill/>
        </p:spPr>
        <p:txBody>
          <a:bodyPr wrap="square" anchor="t" lIns="0" rIns="0" tIns="0" bIns="0">
            <a:spAutoFit/>
          </a:bodyPr>
          <a:lstStyle/>
          <a:p>
            <a:pPr algn="l">
              <a:lnSpc>
                <a:spcPct val="100000"/>
              </a:lnSpc>
            </a:pPr>
            <a:r>
              <a:rPr sz="850" b="0">
                <a:solidFill>
                  <a:srgbClr val="8894A3"/>
                </a:solidFill>
                <a:latin typeface="Consolas"/>
              </a:rPr>
              <a:t>VOICEOWL </a:t>
            </a:r>
            <a:r>
              <a:rPr sz="850" b="0">
                <a:solidFill>
                  <a:srgbClr val="E8551F"/>
                </a:solidFill>
                <a:latin typeface="Consolas"/>
              </a:rPr>
              <a:t>x</a:t>
            </a:r>
            <a:r>
              <a:rPr sz="850" b="0">
                <a:solidFill>
                  <a:srgbClr val="8894A3"/>
                </a:solidFill>
                <a:latin typeface="Consolas"/>
              </a:rPr>
              <a:t> BHARAT GAS</a:t>
            </a:r>
          </a:p>
        </p:txBody>
      </p:sp>
      <p:sp>
        <p:nvSpPr>
          <p:cNvPr id="4" name="TextBox 3"/>
          <p:cNvSpPr txBox="1"/>
          <p:nvPr/>
        </p:nvSpPr>
        <p:spPr>
          <a:xfrm>
            <a:off x="10436047" y="310896"/>
            <a:ext cx="1097280" cy="182880"/>
          </a:xfrm>
          <a:prstGeom prst="rect">
            <a:avLst/>
          </a:prstGeom>
          <a:noFill/>
        </p:spPr>
        <p:txBody>
          <a:bodyPr wrap="square" anchor="t" lIns="0" rIns="0" tIns="0" bIns="0">
            <a:spAutoFit/>
          </a:bodyPr>
          <a:lstStyle/>
          <a:p>
            <a:pPr algn="r">
              <a:lnSpc>
                <a:spcPct val="100000"/>
              </a:lnSpc>
            </a:pPr>
            <a:r>
              <a:rPr sz="850" b="0">
                <a:solidFill>
                  <a:srgbClr val="8894A3"/>
                </a:solidFill>
                <a:latin typeface="Consolas"/>
              </a:rPr>
              <a:t>01 / 10</a:t>
            </a:r>
          </a:p>
        </p:txBody>
      </p:sp>
      <p:sp>
        <p:nvSpPr>
          <p:cNvPr id="5" name="Rounded Rectangle 4"/>
          <p:cNvSpPr/>
          <p:nvPr/>
        </p:nvSpPr>
        <p:spPr>
          <a:xfrm>
            <a:off x="658368" y="713232"/>
            <a:ext cx="384048" cy="219456"/>
          </a:xfrm>
          <a:prstGeom prst="roundRect">
            <a:avLst>
              <a:gd name="adj" fmla="val 50000"/>
            </a:avLst>
          </a:prstGeom>
          <a:solidFill>
            <a:srgbClr val="FDF0EA"/>
          </a:solidFill>
          <a:ln w="9525">
            <a:solidFill>
              <a:srgbClr val="E85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745236"/>
            <a:ext cx="384048" cy="182880"/>
          </a:xfrm>
          <a:prstGeom prst="rect">
            <a:avLst/>
          </a:prstGeom>
          <a:noFill/>
        </p:spPr>
        <p:txBody>
          <a:bodyPr wrap="square" anchor="t" lIns="0" rIns="0" tIns="0" bIns="0">
            <a:spAutoFit/>
          </a:bodyPr>
          <a:lstStyle/>
          <a:p>
            <a:pPr algn="ctr">
              <a:lnSpc>
                <a:spcPct val="100000"/>
              </a:lnSpc>
            </a:pPr>
            <a:r>
              <a:rPr sz="900" b="0">
                <a:solidFill>
                  <a:srgbClr val="E8551F"/>
                </a:solidFill>
                <a:latin typeface="Consolas"/>
              </a:rPr>
              <a:t>01</a:t>
            </a:r>
          </a:p>
        </p:txBody>
      </p:sp>
      <p:sp>
        <p:nvSpPr>
          <p:cNvPr id="7" name="TextBox 6"/>
          <p:cNvSpPr txBox="1"/>
          <p:nvPr/>
        </p:nvSpPr>
        <p:spPr>
          <a:xfrm>
            <a:off x="1161288" y="749808"/>
            <a:ext cx="5486400" cy="182880"/>
          </a:xfrm>
          <a:prstGeom prst="rect">
            <a:avLst/>
          </a:prstGeom>
          <a:noFill/>
        </p:spPr>
        <p:txBody>
          <a:bodyPr wrap="square" anchor="t" lIns="0" rIns="0" tIns="0" bIns="0">
            <a:spAutoFit/>
          </a:bodyPr>
          <a:lstStyle/>
          <a:p>
            <a:pPr algn="l">
              <a:lnSpc>
                <a:spcPct val="100000"/>
              </a:lnSpc>
            </a:pPr>
            <a:r>
              <a:rPr sz="900" b="0">
                <a:solidFill>
                  <a:srgbClr val="8894A3"/>
                </a:solidFill>
                <a:latin typeface="Consolas"/>
              </a:rPr>
              <a:t>SOLUTION OVERVIEW</a:t>
            </a:r>
          </a:p>
        </p:txBody>
      </p:sp>
      <p:sp>
        <p:nvSpPr>
          <p:cNvPr id="8" name="TextBox 7"/>
          <p:cNvSpPr txBox="1"/>
          <p:nvPr/>
        </p:nvSpPr>
        <p:spPr>
          <a:xfrm>
            <a:off x="658368" y="1234440"/>
            <a:ext cx="7863840" cy="2011680"/>
          </a:xfrm>
          <a:prstGeom prst="rect">
            <a:avLst/>
          </a:prstGeom>
          <a:noFill/>
        </p:spPr>
        <p:txBody>
          <a:bodyPr wrap="square" anchor="t" lIns="0" rIns="0" tIns="0" bIns="0">
            <a:spAutoFit/>
          </a:bodyPr>
          <a:lstStyle/>
          <a:p>
            <a:pPr algn="l">
              <a:lnSpc>
                <a:spcPct val="102000"/>
              </a:lnSpc>
            </a:pPr>
            <a:r>
              <a:rPr sz="4400" b="1">
                <a:solidFill>
                  <a:srgbClr val="1A1D23"/>
                </a:solidFill>
                <a:latin typeface="Segoe UI"/>
              </a:rPr>
              <a:t>Vaani for the Bharat Gas CRC network</a:t>
            </a:r>
          </a:p>
        </p:txBody>
      </p:sp>
      <p:sp>
        <p:nvSpPr>
          <p:cNvPr id="9" name="TextBox 8"/>
          <p:cNvSpPr txBox="1"/>
          <p:nvPr/>
        </p:nvSpPr>
        <p:spPr>
          <a:xfrm>
            <a:off x="658368" y="3246120"/>
            <a:ext cx="6766560" cy="914400"/>
          </a:xfrm>
          <a:prstGeom prst="rect">
            <a:avLst/>
          </a:prstGeom>
          <a:noFill/>
        </p:spPr>
        <p:txBody>
          <a:bodyPr wrap="square" anchor="t" lIns="0" rIns="0" tIns="0" bIns="0">
            <a:spAutoFit/>
          </a:bodyPr>
          <a:lstStyle/>
          <a:p>
            <a:pPr algn="l">
              <a:lnSpc>
                <a:spcPct val="135000"/>
              </a:lnSpc>
            </a:pPr>
            <a:r>
              <a:rPr sz="1400" b="0">
                <a:solidFill>
                  <a:srgbClr val="55606E"/>
                </a:solidFill>
                <a:latin typeface="Segoe UI"/>
              </a:rPr>
              <a:t>A 24x7 voice agent on every CRC line — and, for the first time, a complete record of what consumers are calling about and how every call is handled.</a:t>
            </a:r>
          </a:p>
        </p:txBody>
      </p:sp>
      <p:sp>
        <p:nvSpPr>
          <p:cNvPr id="10" name="Rounded Rectangle 9"/>
          <p:cNvSpPr/>
          <p:nvPr/>
        </p:nvSpPr>
        <p:spPr>
          <a:xfrm>
            <a:off x="658368" y="4617720"/>
            <a:ext cx="10874959" cy="1463040"/>
          </a:xfrm>
          <a:prstGeom prst="roundRect">
            <a:avLst>
              <a:gd name="adj" fmla="val 4500"/>
            </a:avLst>
          </a:prstGeom>
          <a:solidFill>
            <a:srgbClr val="FFFFF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837176"/>
            <a:ext cx="2261539" cy="457200"/>
          </a:xfrm>
          <a:prstGeom prst="rect">
            <a:avLst/>
          </a:prstGeom>
          <a:noFill/>
        </p:spPr>
        <p:txBody>
          <a:bodyPr wrap="square" anchor="t" lIns="0" rIns="0" tIns="0" bIns="0">
            <a:spAutoFit/>
          </a:bodyPr>
          <a:lstStyle/>
          <a:p>
            <a:pPr algn="l">
              <a:lnSpc>
                <a:spcPct val="100000"/>
              </a:lnSpc>
            </a:pPr>
            <a:r>
              <a:rPr sz="2700" b="1">
                <a:solidFill>
                  <a:srgbClr val="E8551F"/>
                </a:solidFill>
                <a:latin typeface="Segoe UI"/>
              </a:rPr>
              <a:t>64%</a:t>
            </a:r>
          </a:p>
        </p:txBody>
      </p:sp>
      <p:sp>
        <p:nvSpPr>
          <p:cNvPr id="12" name="TextBox 11"/>
          <p:cNvSpPr txBox="1"/>
          <p:nvPr/>
        </p:nvSpPr>
        <p:spPr>
          <a:xfrm>
            <a:off x="914400" y="5367528"/>
            <a:ext cx="2261539" cy="548640"/>
          </a:xfrm>
          <a:prstGeom prst="rect">
            <a:avLst/>
          </a:prstGeom>
          <a:noFill/>
        </p:spPr>
        <p:txBody>
          <a:bodyPr wrap="square" anchor="t" lIns="0" rIns="0" tIns="0" bIns="0">
            <a:spAutoFit/>
          </a:bodyPr>
          <a:lstStyle/>
          <a:p>
            <a:pPr algn="l">
              <a:lnSpc>
                <a:spcPct val="125000"/>
              </a:lnSpc>
            </a:pPr>
            <a:r>
              <a:rPr sz="950" b="0">
                <a:solidFill>
                  <a:srgbClr val="8894A3"/>
                </a:solidFill>
                <a:latin typeface="Segoe UI"/>
              </a:rPr>
              <a:t>of all calls answered by Vaani</a:t>
            </a:r>
          </a:p>
        </p:txBody>
      </p:sp>
      <p:sp>
        <p:nvSpPr>
          <p:cNvPr id="13" name="Rectangle 12"/>
          <p:cNvSpPr/>
          <p:nvPr/>
        </p:nvSpPr>
        <p:spPr>
          <a:xfrm>
            <a:off x="3377107" y="4727448"/>
            <a:ext cx="7315" cy="1243584"/>
          </a:xfrm>
          <a:prstGeom prst="rect">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33139" y="4837176"/>
            <a:ext cx="2261539" cy="457200"/>
          </a:xfrm>
          <a:prstGeom prst="rect">
            <a:avLst/>
          </a:prstGeom>
          <a:noFill/>
        </p:spPr>
        <p:txBody>
          <a:bodyPr wrap="square" anchor="t" lIns="0" rIns="0" tIns="0" bIns="0">
            <a:spAutoFit/>
          </a:bodyPr>
          <a:lstStyle/>
          <a:p>
            <a:pPr algn="l">
              <a:lnSpc>
                <a:spcPct val="100000"/>
              </a:lnSpc>
            </a:pPr>
            <a:r>
              <a:rPr sz="2700" b="1">
                <a:solidFill>
                  <a:srgbClr val="1A1D23"/>
                </a:solidFill>
                <a:latin typeface="Segoe UI"/>
              </a:rPr>
              <a:t>1,507</a:t>
            </a:r>
          </a:p>
        </p:txBody>
      </p:sp>
      <p:sp>
        <p:nvSpPr>
          <p:cNvPr id="15" name="TextBox 14"/>
          <p:cNvSpPr txBox="1"/>
          <p:nvPr/>
        </p:nvSpPr>
        <p:spPr>
          <a:xfrm>
            <a:off x="3633139" y="5367528"/>
            <a:ext cx="2261539" cy="548640"/>
          </a:xfrm>
          <a:prstGeom prst="rect">
            <a:avLst/>
          </a:prstGeom>
          <a:noFill/>
        </p:spPr>
        <p:txBody>
          <a:bodyPr wrap="square" anchor="t" lIns="0" rIns="0" tIns="0" bIns="0">
            <a:spAutoFit/>
          </a:bodyPr>
          <a:lstStyle/>
          <a:p>
            <a:pPr algn="l">
              <a:lnSpc>
                <a:spcPct val="125000"/>
              </a:lnSpc>
            </a:pPr>
            <a:r>
              <a:rPr sz="950" b="0">
                <a:solidFill>
                  <a:srgbClr val="8894A3"/>
                </a:solidFill>
                <a:latin typeface="Segoe UI"/>
              </a:rPr>
              <a:t>calls into the network</a:t>
            </a:r>
          </a:p>
        </p:txBody>
      </p:sp>
      <p:sp>
        <p:nvSpPr>
          <p:cNvPr id="16" name="Rectangle 15"/>
          <p:cNvSpPr/>
          <p:nvPr/>
        </p:nvSpPr>
        <p:spPr>
          <a:xfrm>
            <a:off x="6095847" y="4727448"/>
            <a:ext cx="7315" cy="1243584"/>
          </a:xfrm>
          <a:prstGeom prst="rect">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1879" y="4837176"/>
            <a:ext cx="2261539" cy="457200"/>
          </a:xfrm>
          <a:prstGeom prst="rect">
            <a:avLst/>
          </a:prstGeom>
          <a:noFill/>
        </p:spPr>
        <p:txBody>
          <a:bodyPr wrap="square" anchor="t" lIns="0" rIns="0" tIns="0" bIns="0">
            <a:spAutoFit/>
          </a:bodyPr>
          <a:lstStyle/>
          <a:p>
            <a:pPr algn="l">
              <a:lnSpc>
                <a:spcPct val="100000"/>
              </a:lnSpc>
            </a:pPr>
            <a:r>
              <a:rPr sz="2700" b="1">
                <a:solidFill>
                  <a:srgbClr val="1A1D23"/>
                </a:solidFill>
                <a:latin typeface="Segoe UI"/>
              </a:rPr>
              <a:t>9</a:t>
            </a:r>
          </a:p>
        </p:txBody>
      </p:sp>
      <p:sp>
        <p:nvSpPr>
          <p:cNvPr id="18" name="TextBox 17"/>
          <p:cNvSpPr txBox="1"/>
          <p:nvPr/>
        </p:nvSpPr>
        <p:spPr>
          <a:xfrm>
            <a:off x="6351879" y="5367528"/>
            <a:ext cx="2261539" cy="548640"/>
          </a:xfrm>
          <a:prstGeom prst="rect">
            <a:avLst/>
          </a:prstGeom>
          <a:noFill/>
        </p:spPr>
        <p:txBody>
          <a:bodyPr wrap="square" anchor="t" lIns="0" rIns="0" tIns="0" bIns="0">
            <a:spAutoFit/>
          </a:bodyPr>
          <a:lstStyle/>
          <a:p>
            <a:pPr algn="l">
              <a:lnSpc>
                <a:spcPct val="125000"/>
              </a:lnSpc>
            </a:pPr>
            <a:r>
              <a:rPr sz="950" b="0">
                <a:solidFill>
                  <a:srgbClr val="8894A3"/>
                </a:solidFill>
                <a:latin typeface="Segoe UI"/>
              </a:rPr>
              <a:t>CRC offices live and carrying traffic</a:t>
            </a:r>
          </a:p>
        </p:txBody>
      </p:sp>
      <p:sp>
        <p:nvSpPr>
          <p:cNvPr id="19" name="Rectangle 18"/>
          <p:cNvSpPr/>
          <p:nvPr/>
        </p:nvSpPr>
        <p:spPr>
          <a:xfrm>
            <a:off x="8814587" y="4727448"/>
            <a:ext cx="7315" cy="1243584"/>
          </a:xfrm>
          <a:prstGeom prst="rect">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70619" y="4837176"/>
            <a:ext cx="2261539" cy="457200"/>
          </a:xfrm>
          <a:prstGeom prst="rect">
            <a:avLst/>
          </a:prstGeom>
          <a:noFill/>
        </p:spPr>
        <p:txBody>
          <a:bodyPr wrap="square" anchor="t" lIns="0" rIns="0" tIns="0" bIns="0">
            <a:spAutoFit/>
          </a:bodyPr>
          <a:lstStyle/>
          <a:p>
            <a:pPr algn="l">
              <a:lnSpc>
                <a:spcPct val="100000"/>
              </a:lnSpc>
            </a:pPr>
            <a:r>
              <a:rPr sz="2700" b="1">
                <a:solidFill>
                  <a:srgbClr val="2F9E8F"/>
                </a:solidFill>
                <a:latin typeface="Segoe UI"/>
              </a:rPr>
              <a:t>100%</a:t>
            </a:r>
          </a:p>
        </p:txBody>
      </p:sp>
      <p:sp>
        <p:nvSpPr>
          <p:cNvPr id="21" name="TextBox 20"/>
          <p:cNvSpPr txBox="1"/>
          <p:nvPr/>
        </p:nvSpPr>
        <p:spPr>
          <a:xfrm>
            <a:off x="9070619" y="5367528"/>
            <a:ext cx="2261539" cy="548640"/>
          </a:xfrm>
          <a:prstGeom prst="rect">
            <a:avLst/>
          </a:prstGeom>
          <a:noFill/>
        </p:spPr>
        <p:txBody>
          <a:bodyPr wrap="square" anchor="t" lIns="0" rIns="0" tIns="0" bIns="0">
            <a:spAutoFit/>
          </a:bodyPr>
          <a:lstStyle/>
          <a:p>
            <a:pPr algn="l">
              <a:lnSpc>
                <a:spcPct val="125000"/>
              </a:lnSpc>
            </a:pPr>
            <a:r>
              <a:rPr sz="950" b="0">
                <a:solidFill>
                  <a:srgbClr val="8894A3"/>
                </a:solidFill>
                <a:latin typeface="Segoe UI"/>
              </a:rPr>
              <a:t>of calls recorded and analysed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10896"/>
            <a:ext cx="3657600" cy="182880"/>
          </a:xfrm>
          <a:prstGeom prst="rect">
            <a:avLst/>
          </a:prstGeom>
          <a:noFill/>
        </p:spPr>
        <p:txBody>
          <a:bodyPr wrap="square" anchor="t" lIns="0" rIns="0" tIns="0" bIns="0">
            <a:spAutoFit/>
          </a:bodyPr>
          <a:lstStyle/>
          <a:p>
            <a:pPr algn="l">
              <a:lnSpc>
                <a:spcPct val="100000"/>
              </a:lnSpc>
            </a:pPr>
            <a:r>
              <a:rPr sz="850" b="0">
                <a:solidFill>
                  <a:srgbClr val="8894A3"/>
                </a:solidFill>
                <a:latin typeface="Consolas"/>
              </a:rPr>
              <a:t>VOICEOWL </a:t>
            </a:r>
            <a:r>
              <a:rPr sz="850" b="0">
                <a:solidFill>
                  <a:srgbClr val="E8551F"/>
                </a:solidFill>
                <a:latin typeface="Consolas"/>
              </a:rPr>
              <a:t>x</a:t>
            </a:r>
            <a:r>
              <a:rPr sz="850" b="0">
                <a:solidFill>
                  <a:srgbClr val="8894A3"/>
                </a:solidFill>
                <a:latin typeface="Consolas"/>
              </a:rPr>
              <a:t> BHARAT GAS</a:t>
            </a:r>
          </a:p>
        </p:txBody>
      </p:sp>
      <p:sp>
        <p:nvSpPr>
          <p:cNvPr id="4" name="TextBox 3"/>
          <p:cNvSpPr txBox="1"/>
          <p:nvPr/>
        </p:nvSpPr>
        <p:spPr>
          <a:xfrm>
            <a:off x="10436047" y="310896"/>
            <a:ext cx="1097280" cy="182880"/>
          </a:xfrm>
          <a:prstGeom prst="rect">
            <a:avLst/>
          </a:prstGeom>
          <a:noFill/>
        </p:spPr>
        <p:txBody>
          <a:bodyPr wrap="square" anchor="t" lIns="0" rIns="0" tIns="0" bIns="0">
            <a:spAutoFit/>
          </a:bodyPr>
          <a:lstStyle/>
          <a:p>
            <a:pPr algn="r">
              <a:lnSpc>
                <a:spcPct val="100000"/>
              </a:lnSpc>
            </a:pPr>
            <a:r>
              <a:rPr sz="850" b="0">
                <a:solidFill>
                  <a:srgbClr val="8894A3"/>
                </a:solidFill>
                <a:latin typeface="Consolas"/>
              </a:rPr>
              <a:t>02 / 10</a:t>
            </a:r>
          </a:p>
        </p:txBody>
      </p:sp>
      <p:sp>
        <p:nvSpPr>
          <p:cNvPr id="5" name="Rounded Rectangle 4"/>
          <p:cNvSpPr/>
          <p:nvPr/>
        </p:nvSpPr>
        <p:spPr>
          <a:xfrm>
            <a:off x="658368" y="713232"/>
            <a:ext cx="384048" cy="219456"/>
          </a:xfrm>
          <a:prstGeom prst="roundRect">
            <a:avLst>
              <a:gd name="adj" fmla="val 50000"/>
            </a:avLst>
          </a:prstGeom>
          <a:solidFill>
            <a:srgbClr val="FDF0EA"/>
          </a:solidFill>
          <a:ln w="9525">
            <a:solidFill>
              <a:srgbClr val="E85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745236"/>
            <a:ext cx="384048" cy="182880"/>
          </a:xfrm>
          <a:prstGeom prst="rect">
            <a:avLst/>
          </a:prstGeom>
          <a:noFill/>
        </p:spPr>
        <p:txBody>
          <a:bodyPr wrap="square" anchor="t" lIns="0" rIns="0" tIns="0" bIns="0">
            <a:spAutoFit/>
          </a:bodyPr>
          <a:lstStyle/>
          <a:p>
            <a:pPr algn="ctr">
              <a:lnSpc>
                <a:spcPct val="100000"/>
              </a:lnSpc>
            </a:pPr>
            <a:r>
              <a:rPr sz="900" b="0">
                <a:solidFill>
                  <a:srgbClr val="E8551F"/>
                </a:solidFill>
                <a:latin typeface="Consolas"/>
              </a:rPr>
              <a:t>02</a:t>
            </a:r>
          </a:p>
        </p:txBody>
      </p:sp>
      <p:sp>
        <p:nvSpPr>
          <p:cNvPr id="7" name="TextBox 6"/>
          <p:cNvSpPr txBox="1"/>
          <p:nvPr/>
        </p:nvSpPr>
        <p:spPr>
          <a:xfrm>
            <a:off x="1161288" y="749808"/>
            <a:ext cx="5486400" cy="182880"/>
          </a:xfrm>
          <a:prstGeom prst="rect">
            <a:avLst/>
          </a:prstGeom>
          <a:noFill/>
        </p:spPr>
        <p:txBody>
          <a:bodyPr wrap="square" anchor="t" lIns="0" rIns="0" tIns="0" bIns="0">
            <a:spAutoFit/>
          </a:bodyPr>
          <a:lstStyle/>
          <a:p>
            <a:pPr algn="l">
              <a:lnSpc>
                <a:spcPct val="100000"/>
              </a:lnSpc>
            </a:pPr>
            <a:r>
              <a:rPr sz="900" b="0">
                <a:solidFill>
                  <a:srgbClr val="8894A3"/>
                </a:solidFill>
                <a:latin typeface="Consolas"/>
              </a:rPr>
              <a:t>THE STARTING POINT</a:t>
            </a:r>
          </a:p>
        </p:txBody>
      </p:sp>
      <p:sp>
        <p:nvSpPr>
          <p:cNvPr id="8" name="TextBox 7"/>
          <p:cNvSpPr txBox="1"/>
          <p:nvPr/>
        </p:nvSpPr>
        <p:spPr>
          <a:xfrm>
            <a:off x="658368" y="1051560"/>
            <a:ext cx="10874959" cy="822960"/>
          </a:xfrm>
          <a:prstGeom prst="rect">
            <a:avLst/>
          </a:prstGeom>
          <a:noFill/>
        </p:spPr>
        <p:txBody>
          <a:bodyPr wrap="square" anchor="t" lIns="0" rIns="0" tIns="0" bIns="0">
            <a:spAutoFit/>
          </a:bodyPr>
          <a:lstStyle/>
          <a:p>
            <a:pPr algn="l">
              <a:lnSpc>
                <a:spcPct val="106000"/>
              </a:lnSpc>
            </a:pPr>
            <a:r>
              <a:rPr sz="3000" b="1">
                <a:solidFill>
                  <a:srgbClr val="1A1D23"/>
                </a:solidFill>
                <a:latin typeface="Segoe UI"/>
              </a:rPr>
              <a:t>Three blind spots — and one change that closes all three</a:t>
            </a:r>
          </a:p>
        </p:txBody>
      </p:sp>
      <p:sp>
        <p:nvSpPr>
          <p:cNvPr id="9" name="TextBox 8"/>
          <p:cNvSpPr txBox="1"/>
          <p:nvPr/>
        </p:nvSpPr>
        <p:spPr>
          <a:xfrm>
            <a:off x="658368" y="1627632"/>
            <a:ext cx="10326319" cy="914400"/>
          </a:xfrm>
          <a:prstGeom prst="rect">
            <a:avLst/>
          </a:prstGeom>
          <a:noFill/>
        </p:spPr>
        <p:txBody>
          <a:bodyPr wrap="square" anchor="t" lIns="0" rIns="0" tIns="0" bIns="0">
            <a:spAutoFit/>
          </a:bodyPr>
          <a:lstStyle/>
          <a:p>
            <a:pPr algn="l">
              <a:lnSpc>
                <a:spcPct val="130000"/>
              </a:lnSpc>
            </a:pPr>
            <a:r>
              <a:rPr sz="1250" b="0">
                <a:solidFill>
                  <a:srgbClr val="55606E"/>
                </a:solidFill>
                <a:latin typeface="Segoe UI"/>
              </a:rPr>
              <a:t>A CRC is a franchised area office covering many districts and many distributors. By the time a consumer calls one, they have usually already tried their distributor and failed.</a:t>
            </a:r>
          </a:p>
        </p:txBody>
      </p:sp>
      <p:sp>
        <p:nvSpPr>
          <p:cNvPr id="10" name="Rounded Rectangle 9"/>
          <p:cNvSpPr/>
          <p:nvPr/>
        </p:nvSpPr>
        <p:spPr>
          <a:xfrm>
            <a:off x="658368" y="2212848"/>
            <a:ext cx="3442106" cy="1572768"/>
          </a:xfrm>
          <a:prstGeom prst="roundRect">
            <a:avLst>
              <a:gd name="adj" fmla="val 4500"/>
            </a:avLst>
          </a:prstGeom>
          <a:solidFill>
            <a:srgbClr val="FFFFF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414016"/>
            <a:ext cx="2984906" cy="164592"/>
          </a:xfrm>
          <a:prstGeom prst="rect">
            <a:avLst/>
          </a:prstGeom>
          <a:noFill/>
        </p:spPr>
        <p:txBody>
          <a:bodyPr wrap="square" anchor="t" lIns="0" rIns="0" tIns="0" bIns="0">
            <a:spAutoFit/>
          </a:bodyPr>
          <a:lstStyle/>
          <a:p>
            <a:pPr algn="l">
              <a:lnSpc>
                <a:spcPct val="100000"/>
              </a:lnSpc>
            </a:pPr>
            <a:r>
              <a:rPr sz="800" b="0">
                <a:solidFill>
                  <a:srgbClr val="8894A3"/>
                </a:solidFill>
                <a:latin typeface="Consolas"/>
              </a:rPr>
              <a:t>BLIND SPOT 01</a:t>
            </a:r>
          </a:p>
        </p:txBody>
      </p:sp>
      <p:sp>
        <p:nvSpPr>
          <p:cNvPr id="12" name="TextBox 11"/>
          <p:cNvSpPr txBox="1"/>
          <p:nvPr/>
        </p:nvSpPr>
        <p:spPr>
          <a:xfrm>
            <a:off x="896112" y="2651760"/>
            <a:ext cx="2984906" cy="274320"/>
          </a:xfrm>
          <a:prstGeom prst="rect">
            <a:avLst/>
          </a:prstGeom>
          <a:noFill/>
        </p:spPr>
        <p:txBody>
          <a:bodyPr wrap="square" anchor="t" lIns="0" rIns="0" tIns="0" bIns="0">
            <a:spAutoFit/>
          </a:bodyPr>
          <a:lstStyle/>
          <a:p>
            <a:pPr algn="l">
              <a:lnSpc>
                <a:spcPct val="110000"/>
              </a:lnSpc>
            </a:pPr>
            <a:r>
              <a:rPr sz="1300" b="1">
                <a:solidFill>
                  <a:srgbClr val="1A1D23"/>
                </a:solidFill>
                <a:latin typeface="Segoe UI"/>
              </a:rPr>
              <a:t>No view of ground-level issues</a:t>
            </a:r>
          </a:p>
        </p:txBody>
      </p:sp>
      <p:sp>
        <p:nvSpPr>
          <p:cNvPr id="13" name="TextBox 12"/>
          <p:cNvSpPr txBox="1"/>
          <p:nvPr/>
        </p:nvSpPr>
        <p:spPr>
          <a:xfrm>
            <a:off x="896112" y="2962656"/>
            <a:ext cx="2984906" cy="640079"/>
          </a:xfrm>
          <a:prstGeom prst="rect">
            <a:avLst/>
          </a:prstGeom>
          <a:noFill/>
        </p:spPr>
        <p:txBody>
          <a:bodyPr wrap="square" anchor="t" lIns="0" rIns="0" tIns="0" bIns="0">
            <a:spAutoFit/>
          </a:bodyPr>
          <a:lstStyle/>
          <a:p>
            <a:pPr algn="l">
              <a:lnSpc>
                <a:spcPct val="130000"/>
              </a:lnSpc>
            </a:pPr>
            <a:r>
              <a:rPr sz="1050" b="0">
                <a:solidFill>
                  <a:srgbClr val="55606E"/>
                </a:solidFill>
                <a:latin typeface="Segoe UI"/>
              </a:rPr>
              <a:t>Calls were handled verbally and left no structured record. There was no way to answer what consumers were complaining about, or where.</a:t>
            </a:r>
          </a:p>
        </p:txBody>
      </p:sp>
      <p:sp>
        <p:nvSpPr>
          <p:cNvPr id="14" name="Rounded Rectangle 13"/>
          <p:cNvSpPr/>
          <p:nvPr/>
        </p:nvSpPr>
        <p:spPr>
          <a:xfrm>
            <a:off x="4374794" y="2212848"/>
            <a:ext cx="3442106" cy="1572768"/>
          </a:xfrm>
          <a:prstGeom prst="roundRect">
            <a:avLst>
              <a:gd name="adj" fmla="val 4500"/>
            </a:avLst>
          </a:prstGeom>
          <a:solidFill>
            <a:srgbClr val="FFFFF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2538" y="2414016"/>
            <a:ext cx="2984906" cy="164592"/>
          </a:xfrm>
          <a:prstGeom prst="rect">
            <a:avLst/>
          </a:prstGeom>
          <a:noFill/>
        </p:spPr>
        <p:txBody>
          <a:bodyPr wrap="square" anchor="t" lIns="0" rIns="0" tIns="0" bIns="0">
            <a:spAutoFit/>
          </a:bodyPr>
          <a:lstStyle/>
          <a:p>
            <a:pPr algn="l">
              <a:lnSpc>
                <a:spcPct val="100000"/>
              </a:lnSpc>
            </a:pPr>
            <a:r>
              <a:rPr sz="800" b="0">
                <a:solidFill>
                  <a:srgbClr val="8894A3"/>
                </a:solidFill>
                <a:latin typeface="Consolas"/>
              </a:rPr>
              <a:t>BLIND SPOT 02</a:t>
            </a:r>
          </a:p>
        </p:txBody>
      </p:sp>
      <p:sp>
        <p:nvSpPr>
          <p:cNvPr id="16" name="TextBox 15"/>
          <p:cNvSpPr txBox="1"/>
          <p:nvPr/>
        </p:nvSpPr>
        <p:spPr>
          <a:xfrm>
            <a:off x="4612538" y="2651760"/>
            <a:ext cx="2984906" cy="274320"/>
          </a:xfrm>
          <a:prstGeom prst="rect">
            <a:avLst/>
          </a:prstGeom>
          <a:noFill/>
        </p:spPr>
        <p:txBody>
          <a:bodyPr wrap="square" anchor="t" lIns="0" rIns="0" tIns="0" bIns="0">
            <a:spAutoFit/>
          </a:bodyPr>
          <a:lstStyle/>
          <a:p>
            <a:pPr algn="l">
              <a:lnSpc>
                <a:spcPct val="110000"/>
              </a:lnSpc>
            </a:pPr>
            <a:r>
              <a:rPr sz="1300" b="1">
                <a:solidFill>
                  <a:srgbClr val="1A1D23"/>
                </a:solidFill>
                <a:latin typeface="Segoe UI"/>
              </a:rPr>
              <a:t>No view of representative conduct</a:t>
            </a:r>
          </a:p>
        </p:txBody>
      </p:sp>
      <p:sp>
        <p:nvSpPr>
          <p:cNvPr id="17" name="TextBox 16"/>
          <p:cNvSpPr txBox="1"/>
          <p:nvPr/>
        </p:nvSpPr>
        <p:spPr>
          <a:xfrm>
            <a:off x="4612538" y="2962656"/>
            <a:ext cx="2984906" cy="640079"/>
          </a:xfrm>
          <a:prstGeom prst="rect">
            <a:avLst/>
          </a:prstGeom>
          <a:noFill/>
        </p:spPr>
        <p:txBody>
          <a:bodyPr wrap="square" anchor="t" lIns="0" rIns="0" tIns="0" bIns="0">
            <a:spAutoFit/>
          </a:bodyPr>
          <a:lstStyle/>
          <a:p>
            <a:pPr algn="l">
              <a:lnSpc>
                <a:spcPct val="130000"/>
              </a:lnSpc>
            </a:pPr>
            <a:r>
              <a:rPr sz="1050" b="0">
                <a:solidFill>
                  <a:srgbClr val="55606E"/>
                </a:solidFill>
                <a:latin typeface="Segoe UI"/>
              </a:rPr>
              <a:t>The offices are franchise-run. Tone, greeting discipline, and whether an issue was properly captured were all unobservable.</a:t>
            </a:r>
          </a:p>
        </p:txBody>
      </p:sp>
      <p:sp>
        <p:nvSpPr>
          <p:cNvPr id="18" name="Rounded Rectangle 17"/>
          <p:cNvSpPr/>
          <p:nvPr/>
        </p:nvSpPr>
        <p:spPr>
          <a:xfrm>
            <a:off x="8091220" y="2212848"/>
            <a:ext cx="3442106" cy="1572768"/>
          </a:xfrm>
          <a:prstGeom prst="roundRect">
            <a:avLst>
              <a:gd name="adj" fmla="val 4500"/>
            </a:avLst>
          </a:prstGeom>
          <a:solidFill>
            <a:srgbClr val="FFFFF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8964" y="2414016"/>
            <a:ext cx="2984906" cy="164592"/>
          </a:xfrm>
          <a:prstGeom prst="rect">
            <a:avLst/>
          </a:prstGeom>
          <a:noFill/>
        </p:spPr>
        <p:txBody>
          <a:bodyPr wrap="square" anchor="t" lIns="0" rIns="0" tIns="0" bIns="0">
            <a:spAutoFit/>
          </a:bodyPr>
          <a:lstStyle/>
          <a:p>
            <a:pPr algn="l">
              <a:lnSpc>
                <a:spcPct val="100000"/>
              </a:lnSpc>
            </a:pPr>
            <a:r>
              <a:rPr sz="800" b="0">
                <a:solidFill>
                  <a:srgbClr val="8894A3"/>
                </a:solidFill>
                <a:latin typeface="Consolas"/>
              </a:rPr>
              <a:t>BLIND SPOT 03</a:t>
            </a:r>
          </a:p>
        </p:txBody>
      </p:sp>
      <p:sp>
        <p:nvSpPr>
          <p:cNvPr id="20" name="TextBox 19"/>
          <p:cNvSpPr txBox="1"/>
          <p:nvPr/>
        </p:nvSpPr>
        <p:spPr>
          <a:xfrm>
            <a:off x="8328964" y="2651760"/>
            <a:ext cx="2984906" cy="274320"/>
          </a:xfrm>
          <a:prstGeom prst="rect">
            <a:avLst/>
          </a:prstGeom>
          <a:noFill/>
        </p:spPr>
        <p:txBody>
          <a:bodyPr wrap="square" anchor="t" lIns="0" rIns="0" tIns="0" bIns="0">
            <a:spAutoFit/>
          </a:bodyPr>
          <a:lstStyle/>
          <a:p>
            <a:pPr algn="l">
              <a:lnSpc>
                <a:spcPct val="110000"/>
              </a:lnSpc>
            </a:pPr>
            <a:r>
              <a:rPr sz="1300" b="1">
                <a:solidFill>
                  <a:srgbClr val="1A1D23"/>
                </a:solidFill>
                <a:latin typeface="Segoe UI"/>
              </a:rPr>
              <a:t>No coverage after hours or at peak</a:t>
            </a:r>
          </a:p>
        </p:txBody>
      </p:sp>
      <p:sp>
        <p:nvSpPr>
          <p:cNvPr id="21" name="TextBox 20"/>
          <p:cNvSpPr txBox="1"/>
          <p:nvPr/>
        </p:nvSpPr>
        <p:spPr>
          <a:xfrm>
            <a:off x="8328964" y="2962656"/>
            <a:ext cx="2984906" cy="640079"/>
          </a:xfrm>
          <a:prstGeom prst="rect">
            <a:avLst/>
          </a:prstGeom>
          <a:noFill/>
        </p:spPr>
        <p:txBody>
          <a:bodyPr wrap="square" anchor="t" lIns="0" rIns="0" tIns="0" bIns="0">
            <a:spAutoFit/>
          </a:bodyPr>
          <a:lstStyle/>
          <a:p>
            <a:pPr algn="l">
              <a:lnSpc>
                <a:spcPct val="130000"/>
              </a:lnSpc>
            </a:pPr>
            <a:r>
              <a:rPr sz="1050" b="0">
                <a:solidFill>
                  <a:srgbClr val="55606E"/>
                </a:solidFill>
                <a:latin typeface="Segoe UI"/>
              </a:rPr>
              <a:t>Outside 9 am – 7 pm, nothing was answered. At peak, staff already on a call could not take a second — and no record survived.</a:t>
            </a:r>
          </a:p>
        </p:txBody>
      </p:sp>
      <p:sp>
        <p:nvSpPr>
          <p:cNvPr id="22" name="TextBox 21"/>
          <p:cNvSpPr txBox="1"/>
          <p:nvPr/>
        </p:nvSpPr>
        <p:spPr>
          <a:xfrm>
            <a:off x="658368" y="4041648"/>
            <a:ext cx="5486400" cy="274320"/>
          </a:xfrm>
          <a:prstGeom prst="rect">
            <a:avLst/>
          </a:prstGeom>
          <a:noFill/>
        </p:spPr>
        <p:txBody>
          <a:bodyPr wrap="square" anchor="t" lIns="0" rIns="0" tIns="0" bIns="0">
            <a:spAutoFit/>
          </a:bodyPr>
          <a:lstStyle/>
          <a:p>
            <a:pPr algn="l">
              <a:lnSpc>
                <a:spcPct val="100000"/>
              </a:lnSpc>
            </a:pPr>
            <a:r>
              <a:rPr sz="1500" b="1">
                <a:solidFill>
                  <a:srgbClr val="1A1D23"/>
                </a:solidFill>
                <a:latin typeface="Segoe UI"/>
              </a:rPr>
              <a:t>What we proposed</a:t>
            </a:r>
          </a:p>
        </p:txBody>
      </p:sp>
      <p:sp>
        <p:nvSpPr>
          <p:cNvPr id="23" name="Rounded Rectangle 22"/>
          <p:cNvSpPr/>
          <p:nvPr/>
        </p:nvSpPr>
        <p:spPr>
          <a:xfrm>
            <a:off x="658368" y="4434840"/>
            <a:ext cx="3442106" cy="1600200"/>
          </a:xfrm>
          <a:prstGeom prst="roundRect">
            <a:avLst>
              <a:gd name="adj" fmla="val 4500"/>
            </a:avLst>
          </a:prstGeom>
          <a:solidFill>
            <a:srgbClr val="FDF0EA"/>
          </a:solidFill>
          <a:ln w="15875">
            <a:solidFill>
              <a:srgbClr val="E85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636007"/>
            <a:ext cx="2984906" cy="274320"/>
          </a:xfrm>
          <a:prstGeom prst="rect">
            <a:avLst/>
          </a:prstGeom>
          <a:noFill/>
        </p:spPr>
        <p:txBody>
          <a:bodyPr wrap="square" anchor="t" lIns="0" rIns="0" tIns="0" bIns="0">
            <a:spAutoFit/>
          </a:bodyPr>
          <a:lstStyle/>
          <a:p>
            <a:pPr algn="l">
              <a:lnSpc>
                <a:spcPct val="110000"/>
              </a:lnSpc>
            </a:pPr>
            <a:r>
              <a:rPr sz="1300" b="1">
                <a:solidFill>
                  <a:srgbClr val="E8551F"/>
                </a:solidFill>
                <a:latin typeface="Segoe UI"/>
              </a:rPr>
              <a:t>Answer everything, 24x7</a:t>
            </a:r>
          </a:p>
        </p:txBody>
      </p:sp>
      <p:sp>
        <p:nvSpPr>
          <p:cNvPr id="25" name="TextBox 24"/>
          <p:cNvSpPr txBox="1"/>
          <p:nvPr/>
        </p:nvSpPr>
        <p:spPr>
          <a:xfrm>
            <a:off x="896112" y="4946903"/>
            <a:ext cx="2984906" cy="905256"/>
          </a:xfrm>
          <a:prstGeom prst="rect">
            <a:avLst/>
          </a:prstGeom>
          <a:noFill/>
        </p:spPr>
        <p:txBody>
          <a:bodyPr wrap="square" anchor="t" lIns="0" rIns="0" tIns="0" bIns="0">
            <a:spAutoFit/>
          </a:bodyPr>
          <a:lstStyle/>
          <a:p>
            <a:pPr algn="l">
              <a:lnSpc>
                <a:spcPct val="130000"/>
              </a:lnSpc>
            </a:pPr>
            <a:r>
              <a:rPr sz="1050" b="0">
                <a:solidFill>
                  <a:srgbClr val="55606E"/>
                </a:solidFill>
                <a:latin typeface="Segoe UI"/>
              </a:rPr>
              <a:t>Vaani takes what humans cannot — after hours, at weekends, at peak, and whenever the desk does not pick up.</a:t>
            </a:r>
          </a:p>
        </p:txBody>
      </p:sp>
      <p:sp>
        <p:nvSpPr>
          <p:cNvPr id="26" name="Rounded Rectangle 25"/>
          <p:cNvSpPr/>
          <p:nvPr/>
        </p:nvSpPr>
        <p:spPr>
          <a:xfrm>
            <a:off x="4374794" y="4434840"/>
            <a:ext cx="3442106" cy="1600200"/>
          </a:xfrm>
          <a:prstGeom prst="roundRect">
            <a:avLst>
              <a:gd name="adj" fmla="val 4500"/>
            </a:avLst>
          </a:prstGeom>
          <a:solidFill>
            <a:srgbClr val="EAF5F3"/>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12538" y="4636007"/>
            <a:ext cx="2984906" cy="274320"/>
          </a:xfrm>
          <a:prstGeom prst="rect">
            <a:avLst/>
          </a:prstGeom>
          <a:noFill/>
        </p:spPr>
        <p:txBody>
          <a:bodyPr wrap="square" anchor="t" lIns="0" rIns="0" tIns="0" bIns="0">
            <a:spAutoFit/>
          </a:bodyPr>
          <a:lstStyle/>
          <a:p>
            <a:pPr algn="l">
              <a:lnSpc>
                <a:spcPct val="110000"/>
              </a:lnSpc>
            </a:pPr>
            <a:r>
              <a:rPr sz="1300" b="1">
                <a:solidFill>
                  <a:srgbClr val="2F9E8F"/>
                </a:solidFill>
                <a:latin typeface="Segoe UI"/>
              </a:rPr>
              <a:t>Keep humans first</a:t>
            </a:r>
          </a:p>
        </p:txBody>
      </p:sp>
      <p:sp>
        <p:nvSpPr>
          <p:cNvPr id="28" name="TextBox 27"/>
          <p:cNvSpPr txBox="1"/>
          <p:nvPr/>
        </p:nvSpPr>
        <p:spPr>
          <a:xfrm>
            <a:off x="4612538" y="4946903"/>
            <a:ext cx="2984906" cy="905256"/>
          </a:xfrm>
          <a:prstGeom prst="rect">
            <a:avLst/>
          </a:prstGeom>
          <a:noFill/>
        </p:spPr>
        <p:txBody>
          <a:bodyPr wrap="square" anchor="t" lIns="0" rIns="0" tIns="0" bIns="0">
            <a:spAutoFit/>
          </a:bodyPr>
          <a:lstStyle/>
          <a:p>
            <a:pPr algn="l">
              <a:lnSpc>
                <a:spcPct val="130000"/>
              </a:lnSpc>
            </a:pPr>
            <a:r>
              <a:rPr sz="1050" b="0">
                <a:solidFill>
                  <a:srgbClr val="55606E"/>
                </a:solidFill>
                <a:latin typeface="Segoe UI"/>
              </a:rPr>
              <a:t>Vaani is deliberately not the first responder. The CRC representative gets a 30-second first-refusal window on every single call.</a:t>
            </a:r>
          </a:p>
        </p:txBody>
      </p:sp>
      <p:sp>
        <p:nvSpPr>
          <p:cNvPr id="29" name="Rounded Rectangle 28"/>
          <p:cNvSpPr/>
          <p:nvPr/>
        </p:nvSpPr>
        <p:spPr>
          <a:xfrm>
            <a:off x="8091220" y="4434840"/>
            <a:ext cx="3442106" cy="1600200"/>
          </a:xfrm>
          <a:prstGeom prst="roundRect">
            <a:avLst>
              <a:gd name="adj" fmla="val 4500"/>
            </a:avLst>
          </a:prstGeom>
          <a:solidFill>
            <a:srgbClr val="FFFFF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8964" y="4636007"/>
            <a:ext cx="2984906" cy="274320"/>
          </a:xfrm>
          <a:prstGeom prst="rect">
            <a:avLst/>
          </a:prstGeom>
          <a:noFill/>
        </p:spPr>
        <p:txBody>
          <a:bodyPr wrap="square" anchor="t" lIns="0" rIns="0" tIns="0" bIns="0">
            <a:spAutoFit/>
          </a:bodyPr>
          <a:lstStyle/>
          <a:p>
            <a:pPr algn="l">
              <a:lnSpc>
                <a:spcPct val="110000"/>
              </a:lnSpc>
            </a:pPr>
            <a:r>
              <a:rPr sz="1300" b="1">
                <a:solidFill>
                  <a:srgbClr val="1A1D23"/>
                </a:solidFill>
                <a:latin typeface="Segoe UI"/>
              </a:rPr>
              <a:t>Record and analyse every call</a:t>
            </a:r>
          </a:p>
        </p:txBody>
      </p:sp>
      <p:sp>
        <p:nvSpPr>
          <p:cNvPr id="31" name="TextBox 30"/>
          <p:cNvSpPr txBox="1"/>
          <p:nvPr/>
        </p:nvSpPr>
        <p:spPr>
          <a:xfrm>
            <a:off x="8328964" y="4946903"/>
            <a:ext cx="2984906" cy="905256"/>
          </a:xfrm>
          <a:prstGeom prst="rect">
            <a:avLst/>
          </a:prstGeom>
          <a:noFill/>
        </p:spPr>
        <p:txBody>
          <a:bodyPr wrap="square" anchor="t" lIns="0" rIns="0" tIns="0" bIns="0">
            <a:spAutoFit/>
          </a:bodyPr>
          <a:lstStyle/>
          <a:p>
            <a:pPr algn="l">
              <a:lnSpc>
                <a:spcPct val="130000"/>
              </a:lnSpc>
            </a:pPr>
            <a:r>
              <a:rPr sz="1050" b="0">
                <a:solidFill>
                  <a:srgbClr val="55606E"/>
                </a:solidFill>
                <a:latin typeface="Segoe UI"/>
              </a:rPr>
              <a:t>Human-handled calls included. Each becomes a structured, scored record feeding a live dashboard.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10896"/>
            <a:ext cx="3657600" cy="182880"/>
          </a:xfrm>
          <a:prstGeom prst="rect">
            <a:avLst/>
          </a:prstGeom>
          <a:noFill/>
        </p:spPr>
        <p:txBody>
          <a:bodyPr wrap="square" anchor="t" lIns="0" rIns="0" tIns="0" bIns="0">
            <a:spAutoFit/>
          </a:bodyPr>
          <a:lstStyle/>
          <a:p>
            <a:pPr algn="l">
              <a:lnSpc>
                <a:spcPct val="100000"/>
              </a:lnSpc>
            </a:pPr>
            <a:r>
              <a:rPr sz="850" b="0">
                <a:solidFill>
                  <a:srgbClr val="8894A3"/>
                </a:solidFill>
                <a:latin typeface="Consolas"/>
              </a:rPr>
              <a:t>VOICEOWL </a:t>
            </a:r>
            <a:r>
              <a:rPr sz="850" b="0">
                <a:solidFill>
                  <a:srgbClr val="E8551F"/>
                </a:solidFill>
                <a:latin typeface="Consolas"/>
              </a:rPr>
              <a:t>x</a:t>
            </a:r>
            <a:r>
              <a:rPr sz="850" b="0">
                <a:solidFill>
                  <a:srgbClr val="8894A3"/>
                </a:solidFill>
                <a:latin typeface="Consolas"/>
              </a:rPr>
              <a:t> BHARAT GAS</a:t>
            </a:r>
          </a:p>
        </p:txBody>
      </p:sp>
      <p:sp>
        <p:nvSpPr>
          <p:cNvPr id="4" name="TextBox 3"/>
          <p:cNvSpPr txBox="1"/>
          <p:nvPr/>
        </p:nvSpPr>
        <p:spPr>
          <a:xfrm>
            <a:off x="10436047" y="310896"/>
            <a:ext cx="1097280" cy="182880"/>
          </a:xfrm>
          <a:prstGeom prst="rect">
            <a:avLst/>
          </a:prstGeom>
          <a:noFill/>
        </p:spPr>
        <p:txBody>
          <a:bodyPr wrap="square" anchor="t" lIns="0" rIns="0" tIns="0" bIns="0">
            <a:spAutoFit/>
          </a:bodyPr>
          <a:lstStyle/>
          <a:p>
            <a:pPr algn="r">
              <a:lnSpc>
                <a:spcPct val="100000"/>
              </a:lnSpc>
            </a:pPr>
            <a:r>
              <a:rPr sz="850" b="0">
                <a:solidFill>
                  <a:srgbClr val="8894A3"/>
                </a:solidFill>
                <a:latin typeface="Consolas"/>
              </a:rPr>
              <a:t>03 / 10</a:t>
            </a:r>
          </a:p>
        </p:txBody>
      </p:sp>
      <p:sp>
        <p:nvSpPr>
          <p:cNvPr id="5" name="Rounded Rectangle 4"/>
          <p:cNvSpPr/>
          <p:nvPr/>
        </p:nvSpPr>
        <p:spPr>
          <a:xfrm>
            <a:off x="658368" y="713232"/>
            <a:ext cx="384048" cy="219456"/>
          </a:xfrm>
          <a:prstGeom prst="roundRect">
            <a:avLst>
              <a:gd name="adj" fmla="val 50000"/>
            </a:avLst>
          </a:prstGeom>
          <a:solidFill>
            <a:srgbClr val="FDF0EA"/>
          </a:solidFill>
          <a:ln w="9525">
            <a:solidFill>
              <a:srgbClr val="E85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745236"/>
            <a:ext cx="384048" cy="182880"/>
          </a:xfrm>
          <a:prstGeom prst="rect">
            <a:avLst/>
          </a:prstGeom>
          <a:noFill/>
        </p:spPr>
        <p:txBody>
          <a:bodyPr wrap="square" anchor="t" lIns="0" rIns="0" tIns="0" bIns="0">
            <a:spAutoFit/>
          </a:bodyPr>
          <a:lstStyle/>
          <a:p>
            <a:pPr algn="ctr">
              <a:lnSpc>
                <a:spcPct val="100000"/>
              </a:lnSpc>
            </a:pPr>
            <a:r>
              <a:rPr sz="900" b="0">
                <a:solidFill>
                  <a:srgbClr val="E8551F"/>
                </a:solidFill>
                <a:latin typeface="Consolas"/>
              </a:rPr>
              <a:t>03</a:t>
            </a:r>
          </a:p>
        </p:txBody>
      </p:sp>
      <p:sp>
        <p:nvSpPr>
          <p:cNvPr id="7" name="TextBox 6"/>
          <p:cNvSpPr txBox="1"/>
          <p:nvPr/>
        </p:nvSpPr>
        <p:spPr>
          <a:xfrm>
            <a:off x="1161288" y="749808"/>
            <a:ext cx="5486400" cy="182880"/>
          </a:xfrm>
          <a:prstGeom prst="rect">
            <a:avLst/>
          </a:prstGeom>
          <a:noFill/>
        </p:spPr>
        <p:txBody>
          <a:bodyPr wrap="square" anchor="t" lIns="0" rIns="0" tIns="0" bIns="0">
            <a:spAutoFit/>
          </a:bodyPr>
          <a:lstStyle/>
          <a:p>
            <a:pPr algn="l">
              <a:lnSpc>
                <a:spcPct val="100000"/>
              </a:lnSpc>
            </a:pPr>
            <a:r>
              <a:rPr sz="900" b="0">
                <a:solidFill>
                  <a:srgbClr val="8894A3"/>
                </a:solidFill>
                <a:latin typeface="Consolas"/>
              </a:rPr>
              <a:t>ARCHITECTURE</a:t>
            </a:r>
          </a:p>
        </p:txBody>
      </p:sp>
      <p:sp>
        <p:nvSpPr>
          <p:cNvPr id="8" name="TextBox 7"/>
          <p:cNvSpPr txBox="1"/>
          <p:nvPr/>
        </p:nvSpPr>
        <p:spPr>
          <a:xfrm>
            <a:off x="658368" y="1024128"/>
            <a:ext cx="10874959" cy="457200"/>
          </a:xfrm>
          <a:prstGeom prst="rect">
            <a:avLst/>
          </a:prstGeom>
          <a:noFill/>
        </p:spPr>
        <p:txBody>
          <a:bodyPr wrap="square" anchor="t" lIns="0" rIns="0" tIns="0" bIns="0">
            <a:spAutoFit/>
          </a:bodyPr>
          <a:lstStyle/>
          <a:p>
            <a:pPr algn="ctr">
              <a:lnSpc>
                <a:spcPct val="100000"/>
              </a:lnSpc>
            </a:pPr>
            <a:r>
              <a:rPr sz="2800" b="1">
                <a:solidFill>
                  <a:srgbClr val="1A1D23"/>
                </a:solidFill>
                <a:latin typeface="Segoe UI"/>
              </a:rPr>
              <a:t>Three numbers, one consumer experience</a:t>
            </a:r>
          </a:p>
        </p:txBody>
      </p:sp>
      <p:sp>
        <p:nvSpPr>
          <p:cNvPr id="9" name="Rounded Rectangle 8"/>
          <p:cNvSpPr/>
          <p:nvPr/>
        </p:nvSpPr>
        <p:spPr>
          <a:xfrm>
            <a:off x="4998567" y="1572768"/>
            <a:ext cx="2194560" cy="475488"/>
          </a:xfrm>
          <a:prstGeom prst="roundRect">
            <a:avLst>
              <a:gd name="adj" fmla="val 4500"/>
            </a:avLst>
          </a:prstGeom>
          <a:solidFill>
            <a:srgbClr val="FFFFF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98567" y="1673352"/>
            <a:ext cx="2194560" cy="219456"/>
          </a:xfrm>
          <a:prstGeom prst="rect">
            <a:avLst/>
          </a:prstGeom>
          <a:noFill/>
        </p:spPr>
        <p:txBody>
          <a:bodyPr wrap="square" anchor="t" lIns="0" rIns="0" tIns="0" bIns="0">
            <a:spAutoFit/>
          </a:bodyPr>
          <a:lstStyle/>
          <a:p>
            <a:pPr algn="ctr">
              <a:lnSpc>
                <a:spcPct val="100000"/>
              </a:lnSpc>
            </a:pPr>
            <a:r>
              <a:rPr sz="1250" b="1">
                <a:solidFill>
                  <a:srgbClr val="1A1D23"/>
                </a:solidFill>
                <a:latin typeface="Segoe UI"/>
              </a:rPr>
              <a:t>CONSUMER</a:t>
            </a:r>
          </a:p>
        </p:txBody>
      </p:sp>
      <p:sp>
        <p:nvSpPr>
          <p:cNvPr id="11" name="TextBox 10"/>
          <p:cNvSpPr txBox="1"/>
          <p:nvPr/>
        </p:nvSpPr>
        <p:spPr>
          <a:xfrm>
            <a:off x="4998567" y="1911095"/>
            <a:ext cx="2194560" cy="182880"/>
          </a:xfrm>
          <a:prstGeom prst="rect">
            <a:avLst/>
          </a:prstGeom>
          <a:noFill/>
        </p:spPr>
        <p:txBody>
          <a:bodyPr wrap="square" anchor="t" lIns="0" rIns="0" tIns="0" bIns="0">
            <a:spAutoFit/>
          </a:bodyPr>
          <a:lstStyle/>
          <a:p>
            <a:pPr algn="ctr">
              <a:lnSpc>
                <a:spcPct val="100000"/>
              </a:lnSpc>
            </a:pPr>
            <a:r>
              <a:rPr sz="900" b="0">
                <a:solidFill>
                  <a:srgbClr val="8894A3"/>
                </a:solidFill>
                <a:latin typeface="Segoe UI"/>
              </a:rPr>
              <a:t>dials the number already published</a:t>
            </a:r>
          </a:p>
        </p:txBody>
      </p:sp>
      <p:sp>
        <p:nvSpPr>
          <p:cNvPr id="12" name="Rectangle 11"/>
          <p:cNvSpPr/>
          <p:nvPr/>
        </p:nvSpPr>
        <p:spPr>
          <a:xfrm>
            <a:off x="6088532" y="2048256"/>
            <a:ext cx="14630" cy="201168"/>
          </a:xfrm>
          <a:prstGeom prst="rect">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6031839" y="2249424"/>
            <a:ext cx="128016" cy="82296"/>
          </a:xfrm>
          <a:prstGeom prst="triangle">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267047" y="2331720"/>
            <a:ext cx="3657600" cy="603504"/>
          </a:xfrm>
          <a:prstGeom prst="roundRect">
            <a:avLst>
              <a:gd name="adj" fmla="val 4500"/>
            </a:avLst>
          </a:prstGeom>
          <a:solidFill>
            <a:srgbClr val="FFFFF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67047" y="2432303"/>
            <a:ext cx="3657600" cy="146304"/>
          </a:xfrm>
          <a:prstGeom prst="rect">
            <a:avLst/>
          </a:prstGeom>
          <a:noFill/>
        </p:spPr>
        <p:txBody>
          <a:bodyPr wrap="square" anchor="t" lIns="0" rIns="0" tIns="0" bIns="0">
            <a:spAutoFit/>
          </a:bodyPr>
          <a:lstStyle/>
          <a:p>
            <a:pPr algn="ctr">
              <a:lnSpc>
                <a:spcPct val="100000"/>
              </a:lnSpc>
            </a:pPr>
            <a:r>
              <a:rPr sz="750" b="0">
                <a:solidFill>
                  <a:srgbClr val="8894A3"/>
                </a:solidFill>
                <a:latin typeface="Consolas"/>
              </a:rPr>
              <a:t>NUMBER 1</a:t>
            </a:r>
          </a:p>
        </p:txBody>
      </p:sp>
      <p:sp>
        <p:nvSpPr>
          <p:cNvPr id="16" name="TextBox 15"/>
          <p:cNvSpPr txBox="1"/>
          <p:nvPr/>
        </p:nvSpPr>
        <p:spPr>
          <a:xfrm>
            <a:off x="4267047" y="2615184"/>
            <a:ext cx="3657600" cy="219456"/>
          </a:xfrm>
          <a:prstGeom prst="rect">
            <a:avLst/>
          </a:prstGeom>
          <a:noFill/>
        </p:spPr>
        <p:txBody>
          <a:bodyPr wrap="square" anchor="t" lIns="0" rIns="0" tIns="0" bIns="0">
            <a:spAutoFit/>
          </a:bodyPr>
          <a:lstStyle/>
          <a:p>
            <a:pPr algn="ctr">
              <a:lnSpc>
                <a:spcPct val="100000"/>
              </a:lnSpc>
            </a:pPr>
            <a:r>
              <a:rPr sz="1250" b="1">
                <a:solidFill>
                  <a:srgbClr val="1A1D23"/>
                </a:solidFill>
                <a:latin typeface="Segoe UI"/>
              </a:rPr>
              <a:t>CRC public number</a:t>
            </a:r>
          </a:p>
        </p:txBody>
      </p:sp>
      <p:sp>
        <p:nvSpPr>
          <p:cNvPr id="17" name="TextBox 16"/>
          <p:cNvSpPr txBox="1"/>
          <p:nvPr/>
        </p:nvSpPr>
        <p:spPr>
          <a:xfrm>
            <a:off x="4267047" y="2852928"/>
            <a:ext cx="3657600" cy="182880"/>
          </a:xfrm>
          <a:prstGeom prst="rect">
            <a:avLst/>
          </a:prstGeom>
          <a:noFill/>
        </p:spPr>
        <p:txBody>
          <a:bodyPr wrap="square" anchor="t" lIns="0" rIns="0" tIns="0" bIns="0">
            <a:spAutoFit/>
          </a:bodyPr>
          <a:lstStyle/>
          <a:p>
            <a:pPr algn="ctr">
              <a:lnSpc>
                <a:spcPct val="100000"/>
              </a:lnSpc>
            </a:pPr>
            <a:r>
              <a:rPr sz="900" b="0">
                <a:solidFill>
                  <a:srgbClr val="8894A3"/>
                </a:solidFill>
                <a:latin typeface="Segoe UI"/>
              </a:rPr>
              <a:t>the advertised helpline — unchanged</a:t>
            </a:r>
          </a:p>
        </p:txBody>
      </p:sp>
      <p:sp>
        <p:nvSpPr>
          <p:cNvPr id="18" name="Rectangle 17"/>
          <p:cNvSpPr/>
          <p:nvPr/>
        </p:nvSpPr>
        <p:spPr>
          <a:xfrm>
            <a:off x="6088532" y="2935224"/>
            <a:ext cx="14630" cy="274320"/>
          </a:xfrm>
          <a:prstGeom prst="rect">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6031839" y="3209544"/>
            <a:ext cx="128016" cy="82296"/>
          </a:xfrm>
          <a:prstGeom prst="triangle">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23863" y="2990088"/>
            <a:ext cx="3108960" cy="164592"/>
          </a:xfrm>
          <a:prstGeom prst="rect">
            <a:avLst/>
          </a:prstGeom>
          <a:noFill/>
        </p:spPr>
        <p:txBody>
          <a:bodyPr wrap="square" anchor="t" lIns="0" rIns="0" tIns="0" bIns="0">
            <a:spAutoFit/>
          </a:bodyPr>
          <a:lstStyle/>
          <a:p>
            <a:pPr algn="l">
              <a:lnSpc>
                <a:spcPct val="100000"/>
              </a:lnSpc>
            </a:pPr>
            <a:r>
              <a:rPr sz="750" b="0">
                <a:solidFill>
                  <a:srgbClr val="8894A3"/>
                </a:solidFill>
                <a:latin typeface="Consolas"/>
              </a:rPr>
              <a:t>UNCONDITIONAL FORWARD</a:t>
            </a:r>
          </a:p>
        </p:txBody>
      </p:sp>
      <p:sp>
        <p:nvSpPr>
          <p:cNvPr id="21" name="Rounded Rectangle 20"/>
          <p:cNvSpPr/>
          <p:nvPr/>
        </p:nvSpPr>
        <p:spPr>
          <a:xfrm>
            <a:off x="3992727" y="3291840"/>
            <a:ext cx="4206240" cy="640080"/>
          </a:xfrm>
          <a:prstGeom prst="roundRect">
            <a:avLst>
              <a:gd name="adj" fmla="val 4500"/>
            </a:avLst>
          </a:prstGeom>
          <a:solidFill>
            <a:srgbClr val="FDF0EA"/>
          </a:solidFill>
          <a:ln w="20320">
            <a:solidFill>
              <a:srgbClr val="E85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92727" y="3392424"/>
            <a:ext cx="4206240" cy="146304"/>
          </a:xfrm>
          <a:prstGeom prst="rect">
            <a:avLst/>
          </a:prstGeom>
          <a:noFill/>
        </p:spPr>
        <p:txBody>
          <a:bodyPr wrap="square" anchor="t" lIns="0" rIns="0" tIns="0" bIns="0">
            <a:spAutoFit/>
          </a:bodyPr>
          <a:lstStyle/>
          <a:p>
            <a:pPr algn="ctr">
              <a:lnSpc>
                <a:spcPct val="100000"/>
              </a:lnSpc>
            </a:pPr>
            <a:r>
              <a:rPr sz="750" b="0">
                <a:solidFill>
                  <a:srgbClr val="E8551F"/>
                </a:solidFill>
                <a:latin typeface="Consolas"/>
              </a:rPr>
              <a:t>NUMBER 2</a:t>
            </a:r>
          </a:p>
        </p:txBody>
      </p:sp>
      <p:sp>
        <p:nvSpPr>
          <p:cNvPr id="23" name="TextBox 22"/>
          <p:cNvSpPr txBox="1"/>
          <p:nvPr/>
        </p:nvSpPr>
        <p:spPr>
          <a:xfrm>
            <a:off x="3992727" y="3575304"/>
            <a:ext cx="4206240" cy="219456"/>
          </a:xfrm>
          <a:prstGeom prst="rect">
            <a:avLst/>
          </a:prstGeom>
          <a:noFill/>
        </p:spPr>
        <p:txBody>
          <a:bodyPr wrap="square" anchor="t" lIns="0" rIns="0" tIns="0" bIns="0">
            <a:spAutoFit/>
          </a:bodyPr>
          <a:lstStyle/>
          <a:p>
            <a:pPr algn="ctr">
              <a:lnSpc>
                <a:spcPct val="100000"/>
              </a:lnSpc>
            </a:pPr>
            <a:r>
              <a:rPr sz="1250" b="1">
                <a:solidFill>
                  <a:srgbClr val="E8551F"/>
                </a:solidFill>
                <a:latin typeface="Segoe UI"/>
              </a:rPr>
              <a:t>VoiceOwl number — Vaani</a:t>
            </a:r>
          </a:p>
        </p:txBody>
      </p:sp>
      <p:sp>
        <p:nvSpPr>
          <p:cNvPr id="24" name="TextBox 23"/>
          <p:cNvSpPr txBox="1"/>
          <p:nvPr/>
        </p:nvSpPr>
        <p:spPr>
          <a:xfrm>
            <a:off x="3992727" y="3813048"/>
            <a:ext cx="4206240" cy="182880"/>
          </a:xfrm>
          <a:prstGeom prst="rect">
            <a:avLst/>
          </a:prstGeom>
          <a:noFill/>
        </p:spPr>
        <p:txBody>
          <a:bodyPr wrap="square" anchor="t" lIns="0" rIns="0" tIns="0" bIns="0">
            <a:spAutoFit/>
          </a:bodyPr>
          <a:lstStyle/>
          <a:p>
            <a:pPr algn="ctr">
              <a:lnSpc>
                <a:spcPct val="100000"/>
              </a:lnSpc>
            </a:pPr>
            <a:r>
              <a:rPr sz="900" b="1">
                <a:solidFill>
                  <a:srgbClr val="E8551F"/>
                </a:solidFill>
                <a:latin typeface="Segoe UI"/>
              </a:rPr>
              <a:t>● recording starts here, on every call</a:t>
            </a:r>
          </a:p>
        </p:txBody>
      </p:sp>
      <p:sp>
        <p:nvSpPr>
          <p:cNvPr id="25" name="Rectangle 24"/>
          <p:cNvSpPr/>
          <p:nvPr/>
        </p:nvSpPr>
        <p:spPr>
          <a:xfrm>
            <a:off x="6088532" y="3931920"/>
            <a:ext cx="14630" cy="274320"/>
          </a:xfrm>
          <a:prstGeom prst="rect">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Isosceles Triangle 25"/>
          <p:cNvSpPr/>
          <p:nvPr/>
        </p:nvSpPr>
        <p:spPr>
          <a:xfrm rot="10800000">
            <a:off x="6031839" y="4206240"/>
            <a:ext cx="128016" cy="82296"/>
          </a:xfrm>
          <a:prstGeom prst="triangle">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3863" y="3986784"/>
            <a:ext cx="3108960" cy="164592"/>
          </a:xfrm>
          <a:prstGeom prst="rect">
            <a:avLst/>
          </a:prstGeom>
          <a:noFill/>
        </p:spPr>
        <p:txBody>
          <a:bodyPr wrap="square" anchor="t" lIns="0" rIns="0" tIns="0" bIns="0">
            <a:spAutoFit/>
          </a:bodyPr>
          <a:lstStyle/>
          <a:p>
            <a:pPr algn="l">
              <a:lnSpc>
                <a:spcPct val="100000"/>
              </a:lnSpc>
            </a:pPr>
            <a:r>
              <a:rPr sz="750" b="0">
                <a:solidFill>
                  <a:srgbClr val="8894A3"/>
                </a:solidFill>
                <a:latin typeface="Consolas"/>
              </a:rPr>
              <a:t>RINGS THE DESK, WAITS 30 SECONDS</a:t>
            </a:r>
          </a:p>
        </p:txBody>
      </p:sp>
      <p:sp>
        <p:nvSpPr>
          <p:cNvPr id="28" name="Rounded Rectangle 27"/>
          <p:cNvSpPr/>
          <p:nvPr/>
        </p:nvSpPr>
        <p:spPr>
          <a:xfrm>
            <a:off x="4267047" y="4288536"/>
            <a:ext cx="3657600" cy="603504"/>
          </a:xfrm>
          <a:prstGeom prst="roundRect">
            <a:avLst>
              <a:gd name="adj" fmla="val 4500"/>
            </a:avLst>
          </a:prstGeom>
          <a:solidFill>
            <a:srgbClr val="FFFFF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67047" y="4389120"/>
            <a:ext cx="3657600" cy="146304"/>
          </a:xfrm>
          <a:prstGeom prst="rect">
            <a:avLst/>
          </a:prstGeom>
          <a:noFill/>
        </p:spPr>
        <p:txBody>
          <a:bodyPr wrap="square" anchor="t" lIns="0" rIns="0" tIns="0" bIns="0">
            <a:spAutoFit/>
          </a:bodyPr>
          <a:lstStyle/>
          <a:p>
            <a:pPr algn="ctr">
              <a:lnSpc>
                <a:spcPct val="100000"/>
              </a:lnSpc>
            </a:pPr>
            <a:r>
              <a:rPr sz="750" b="0">
                <a:solidFill>
                  <a:srgbClr val="8894A3"/>
                </a:solidFill>
                <a:latin typeface="Consolas"/>
              </a:rPr>
              <a:t>NUMBER 3</a:t>
            </a:r>
          </a:p>
        </p:txBody>
      </p:sp>
      <p:sp>
        <p:nvSpPr>
          <p:cNvPr id="30" name="TextBox 29"/>
          <p:cNvSpPr txBox="1"/>
          <p:nvPr/>
        </p:nvSpPr>
        <p:spPr>
          <a:xfrm>
            <a:off x="4267047" y="4572000"/>
            <a:ext cx="3657600" cy="219456"/>
          </a:xfrm>
          <a:prstGeom prst="rect">
            <a:avLst/>
          </a:prstGeom>
          <a:noFill/>
        </p:spPr>
        <p:txBody>
          <a:bodyPr wrap="square" anchor="t" lIns="0" rIns="0" tIns="0" bIns="0">
            <a:spAutoFit/>
          </a:bodyPr>
          <a:lstStyle/>
          <a:p>
            <a:pPr algn="ctr">
              <a:lnSpc>
                <a:spcPct val="100000"/>
              </a:lnSpc>
            </a:pPr>
            <a:r>
              <a:rPr sz="1250" b="1">
                <a:solidFill>
                  <a:srgbClr val="1A1D23"/>
                </a:solidFill>
                <a:latin typeface="Segoe UI"/>
              </a:rPr>
              <a:t>CRC internal number</a:t>
            </a:r>
          </a:p>
        </p:txBody>
      </p:sp>
      <p:sp>
        <p:nvSpPr>
          <p:cNvPr id="31" name="TextBox 30"/>
          <p:cNvSpPr txBox="1"/>
          <p:nvPr/>
        </p:nvSpPr>
        <p:spPr>
          <a:xfrm>
            <a:off x="4267047" y="4809744"/>
            <a:ext cx="3657600" cy="182880"/>
          </a:xfrm>
          <a:prstGeom prst="rect">
            <a:avLst/>
          </a:prstGeom>
          <a:noFill/>
        </p:spPr>
        <p:txBody>
          <a:bodyPr wrap="square" anchor="t" lIns="0" rIns="0" tIns="0" bIns="0">
            <a:spAutoFit/>
          </a:bodyPr>
          <a:lstStyle/>
          <a:p>
            <a:pPr algn="ctr">
              <a:lnSpc>
                <a:spcPct val="100000"/>
              </a:lnSpc>
            </a:pPr>
            <a:r>
              <a:rPr sz="900" b="0">
                <a:solidFill>
                  <a:srgbClr val="8894A3"/>
                </a:solidFill>
                <a:latin typeface="Segoe UI"/>
              </a:rPr>
              <a:t>the desk phone — never published</a:t>
            </a:r>
          </a:p>
        </p:txBody>
      </p:sp>
      <p:sp>
        <p:nvSpPr>
          <p:cNvPr id="32" name="Rectangle 31"/>
          <p:cNvSpPr/>
          <p:nvPr/>
        </p:nvSpPr>
        <p:spPr>
          <a:xfrm>
            <a:off x="6088532" y="4892040"/>
            <a:ext cx="14630" cy="164592"/>
          </a:xfrm>
          <a:prstGeom prst="rect">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rot="10800000">
            <a:off x="6031839" y="5056631"/>
            <a:ext cx="128016" cy="82296"/>
          </a:xfrm>
          <a:prstGeom prst="triangle">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678527" y="5120640"/>
            <a:ext cx="2834640" cy="329184"/>
          </a:xfrm>
          <a:prstGeom prst="roundRect">
            <a:avLst>
              <a:gd name="adj" fmla="val 50000"/>
            </a:avLst>
          </a:prstGeom>
          <a:solidFill>
            <a:srgbClr val="F3F3E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78527" y="5193792"/>
            <a:ext cx="2834640" cy="201168"/>
          </a:xfrm>
          <a:prstGeom prst="rect">
            <a:avLst/>
          </a:prstGeom>
          <a:noFill/>
        </p:spPr>
        <p:txBody>
          <a:bodyPr wrap="square" anchor="t" lIns="0" rIns="0" tIns="0" bIns="0">
            <a:spAutoFit/>
          </a:bodyPr>
          <a:lstStyle/>
          <a:p>
            <a:pPr algn="ctr">
              <a:lnSpc>
                <a:spcPct val="100000"/>
              </a:lnSpc>
            </a:pPr>
            <a:r>
              <a:rPr sz="1100" b="1">
                <a:solidFill>
                  <a:srgbClr val="1A1D23"/>
                </a:solidFill>
                <a:latin typeface="Segoe UI"/>
              </a:rPr>
              <a:t>Picked up within 30 seconds?</a:t>
            </a:r>
          </a:p>
        </p:txBody>
      </p:sp>
      <p:sp>
        <p:nvSpPr>
          <p:cNvPr id="36" name="Rounded Rectangle 35"/>
          <p:cNvSpPr/>
          <p:nvPr/>
        </p:nvSpPr>
        <p:spPr>
          <a:xfrm>
            <a:off x="2301087" y="5596128"/>
            <a:ext cx="3566160" cy="868680"/>
          </a:xfrm>
          <a:prstGeom prst="roundRect">
            <a:avLst>
              <a:gd name="adj" fmla="val 4500"/>
            </a:avLst>
          </a:prstGeom>
          <a:solidFill>
            <a:srgbClr val="EAF5F3"/>
          </a:solidFill>
          <a:ln w="17780">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502255" y="5705856"/>
            <a:ext cx="3163824" cy="146304"/>
          </a:xfrm>
          <a:prstGeom prst="rect">
            <a:avLst/>
          </a:prstGeom>
          <a:noFill/>
        </p:spPr>
        <p:txBody>
          <a:bodyPr wrap="square" anchor="t" lIns="0" rIns="0" tIns="0" bIns="0">
            <a:spAutoFit/>
          </a:bodyPr>
          <a:lstStyle/>
          <a:p>
            <a:pPr algn="l">
              <a:lnSpc>
                <a:spcPct val="100000"/>
              </a:lnSpc>
            </a:pPr>
            <a:r>
              <a:rPr sz="750" b="0">
                <a:solidFill>
                  <a:srgbClr val="2F9E8F"/>
                </a:solidFill>
                <a:latin typeface="Consolas"/>
              </a:rPr>
              <a:t>YES</a:t>
            </a:r>
          </a:p>
        </p:txBody>
      </p:sp>
      <p:sp>
        <p:nvSpPr>
          <p:cNvPr id="38" name="TextBox 37"/>
          <p:cNvSpPr txBox="1"/>
          <p:nvPr/>
        </p:nvSpPr>
        <p:spPr>
          <a:xfrm>
            <a:off x="2502255" y="5897880"/>
            <a:ext cx="3163824" cy="201168"/>
          </a:xfrm>
          <a:prstGeom prst="rect">
            <a:avLst/>
          </a:prstGeom>
          <a:noFill/>
        </p:spPr>
        <p:txBody>
          <a:bodyPr wrap="square" anchor="t" lIns="0" rIns="0" tIns="0" bIns="0">
            <a:spAutoFit/>
          </a:bodyPr>
          <a:lstStyle/>
          <a:p>
            <a:pPr algn="l">
              <a:lnSpc>
                <a:spcPct val="100000"/>
              </a:lnSpc>
            </a:pPr>
            <a:r>
              <a:rPr sz="1150" b="1">
                <a:solidFill>
                  <a:srgbClr val="1A1D23"/>
                </a:solidFill>
                <a:latin typeface="Segoe UI"/>
              </a:rPr>
              <a:t>The representative handles it</a:t>
            </a:r>
          </a:p>
        </p:txBody>
      </p:sp>
      <p:sp>
        <p:nvSpPr>
          <p:cNvPr id="39" name="TextBox 38"/>
          <p:cNvSpPr txBox="1"/>
          <p:nvPr/>
        </p:nvSpPr>
        <p:spPr>
          <a:xfrm>
            <a:off x="2502255" y="6126480"/>
            <a:ext cx="3163824" cy="292608"/>
          </a:xfrm>
          <a:prstGeom prst="rect">
            <a:avLst/>
          </a:prstGeom>
          <a:noFill/>
        </p:spPr>
        <p:txBody>
          <a:bodyPr wrap="square" anchor="t" lIns="0" rIns="0" tIns="0" bIns="0">
            <a:spAutoFit/>
          </a:bodyPr>
          <a:lstStyle/>
          <a:p>
            <a:pPr algn="l">
              <a:lnSpc>
                <a:spcPct val="120000"/>
              </a:lnSpc>
            </a:pPr>
            <a:r>
              <a:rPr sz="900" b="0">
                <a:solidFill>
                  <a:srgbClr val="55606E"/>
                </a:solidFill>
                <a:latin typeface="Segoe UI"/>
              </a:rPr>
              <a:t>Consumer speaks to a person, exactly as before. The full call is still recorded.</a:t>
            </a:r>
          </a:p>
        </p:txBody>
      </p:sp>
      <p:sp>
        <p:nvSpPr>
          <p:cNvPr id="40" name="Rounded Rectangle 39"/>
          <p:cNvSpPr/>
          <p:nvPr/>
        </p:nvSpPr>
        <p:spPr>
          <a:xfrm>
            <a:off x="6324447" y="5596128"/>
            <a:ext cx="3566160" cy="868680"/>
          </a:xfrm>
          <a:prstGeom prst="roundRect">
            <a:avLst>
              <a:gd name="adj" fmla="val 4500"/>
            </a:avLst>
          </a:prstGeom>
          <a:solidFill>
            <a:srgbClr val="FDF0EA"/>
          </a:solidFill>
          <a:ln w="17780">
            <a:solidFill>
              <a:srgbClr val="E85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25615" y="5705856"/>
            <a:ext cx="3163824" cy="146304"/>
          </a:xfrm>
          <a:prstGeom prst="rect">
            <a:avLst/>
          </a:prstGeom>
          <a:noFill/>
        </p:spPr>
        <p:txBody>
          <a:bodyPr wrap="square" anchor="t" lIns="0" rIns="0" tIns="0" bIns="0">
            <a:spAutoFit/>
          </a:bodyPr>
          <a:lstStyle/>
          <a:p>
            <a:pPr algn="l">
              <a:lnSpc>
                <a:spcPct val="100000"/>
              </a:lnSpc>
            </a:pPr>
            <a:r>
              <a:rPr sz="750" b="0">
                <a:solidFill>
                  <a:srgbClr val="E8551F"/>
                </a:solidFill>
                <a:latin typeface="Consolas"/>
              </a:rPr>
              <a:t>NO — TIMEOUT, BUSY, NO ANSWER</a:t>
            </a:r>
          </a:p>
        </p:txBody>
      </p:sp>
      <p:sp>
        <p:nvSpPr>
          <p:cNvPr id="42" name="TextBox 41"/>
          <p:cNvSpPr txBox="1"/>
          <p:nvPr/>
        </p:nvSpPr>
        <p:spPr>
          <a:xfrm>
            <a:off x="6525615" y="5897880"/>
            <a:ext cx="3163824" cy="201168"/>
          </a:xfrm>
          <a:prstGeom prst="rect">
            <a:avLst/>
          </a:prstGeom>
          <a:noFill/>
        </p:spPr>
        <p:txBody>
          <a:bodyPr wrap="square" anchor="t" lIns="0" rIns="0" tIns="0" bIns="0">
            <a:spAutoFit/>
          </a:bodyPr>
          <a:lstStyle/>
          <a:p>
            <a:pPr algn="l">
              <a:lnSpc>
                <a:spcPct val="100000"/>
              </a:lnSpc>
            </a:pPr>
            <a:r>
              <a:rPr sz="1150" b="1">
                <a:solidFill>
                  <a:srgbClr val="1A1D23"/>
                </a:solidFill>
                <a:latin typeface="Segoe UI"/>
              </a:rPr>
              <a:t>Vaani handles it end to end</a:t>
            </a:r>
          </a:p>
        </p:txBody>
      </p:sp>
      <p:sp>
        <p:nvSpPr>
          <p:cNvPr id="43" name="TextBox 42"/>
          <p:cNvSpPr txBox="1"/>
          <p:nvPr/>
        </p:nvSpPr>
        <p:spPr>
          <a:xfrm>
            <a:off x="6525615" y="6126480"/>
            <a:ext cx="3163824" cy="292608"/>
          </a:xfrm>
          <a:prstGeom prst="rect">
            <a:avLst/>
          </a:prstGeom>
          <a:noFill/>
        </p:spPr>
        <p:txBody>
          <a:bodyPr wrap="square" anchor="t" lIns="0" rIns="0" tIns="0" bIns="0">
            <a:spAutoFit/>
          </a:bodyPr>
          <a:lstStyle/>
          <a:p>
            <a:pPr algn="l">
              <a:lnSpc>
                <a:spcPct val="120000"/>
              </a:lnSpc>
            </a:pPr>
            <a:r>
              <a:rPr sz="900" b="0">
                <a:solidFill>
                  <a:srgbClr val="55606E"/>
                </a:solidFill>
                <a:latin typeface="Segoe UI"/>
              </a:rPr>
              <a:t>The consumer never learns a human was tried first.</a:t>
            </a:r>
          </a:p>
        </p:txBody>
      </p:sp>
      <p:sp>
        <p:nvSpPr>
          <p:cNvPr id="44" name="TextBox 43"/>
          <p:cNvSpPr txBox="1"/>
          <p:nvPr/>
        </p:nvSpPr>
        <p:spPr>
          <a:xfrm>
            <a:off x="658368" y="6528816"/>
            <a:ext cx="10874959" cy="182880"/>
          </a:xfrm>
          <a:prstGeom prst="rect">
            <a:avLst/>
          </a:prstGeom>
          <a:noFill/>
        </p:spPr>
        <p:txBody>
          <a:bodyPr wrap="square" anchor="t" lIns="0" rIns="0" tIns="0" bIns="0">
            <a:spAutoFit/>
          </a:bodyPr>
          <a:lstStyle/>
          <a:p>
            <a:pPr algn="ctr">
              <a:lnSpc>
                <a:spcPct val="100000"/>
              </a:lnSpc>
            </a:pPr>
            <a:r>
              <a:rPr sz="800" b="0">
                <a:solidFill>
                  <a:srgbClr val="8894A3"/>
                </a:solidFill>
                <a:latin typeface="Consolas"/>
              </a:rPr>
              <a:t>EVERY CALL, EITHER PATH  →  POST-CALL ANALYSIS  →  BPCL DASHBOARD (both streams, scored separately, charted side by side)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10896"/>
            <a:ext cx="3657600" cy="182880"/>
          </a:xfrm>
          <a:prstGeom prst="rect">
            <a:avLst/>
          </a:prstGeom>
          <a:noFill/>
        </p:spPr>
        <p:txBody>
          <a:bodyPr wrap="square" anchor="t" lIns="0" rIns="0" tIns="0" bIns="0">
            <a:spAutoFit/>
          </a:bodyPr>
          <a:lstStyle/>
          <a:p>
            <a:pPr algn="l">
              <a:lnSpc>
                <a:spcPct val="100000"/>
              </a:lnSpc>
            </a:pPr>
            <a:r>
              <a:rPr sz="850" b="0">
                <a:solidFill>
                  <a:srgbClr val="8894A3"/>
                </a:solidFill>
                <a:latin typeface="Consolas"/>
              </a:rPr>
              <a:t>VOICEOWL </a:t>
            </a:r>
            <a:r>
              <a:rPr sz="850" b="0">
                <a:solidFill>
                  <a:srgbClr val="E8551F"/>
                </a:solidFill>
                <a:latin typeface="Consolas"/>
              </a:rPr>
              <a:t>x</a:t>
            </a:r>
            <a:r>
              <a:rPr sz="850" b="0">
                <a:solidFill>
                  <a:srgbClr val="8894A3"/>
                </a:solidFill>
                <a:latin typeface="Consolas"/>
              </a:rPr>
              <a:t> BHARAT GAS</a:t>
            </a:r>
          </a:p>
        </p:txBody>
      </p:sp>
      <p:sp>
        <p:nvSpPr>
          <p:cNvPr id="4" name="TextBox 3"/>
          <p:cNvSpPr txBox="1"/>
          <p:nvPr/>
        </p:nvSpPr>
        <p:spPr>
          <a:xfrm>
            <a:off x="10436047" y="310896"/>
            <a:ext cx="1097280" cy="182880"/>
          </a:xfrm>
          <a:prstGeom prst="rect">
            <a:avLst/>
          </a:prstGeom>
          <a:noFill/>
        </p:spPr>
        <p:txBody>
          <a:bodyPr wrap="square" anchor="t" lIns="0" rIns="0" tIns="0" bIns="0">
            <a:spAutoFit/>
          </a:bodyPr>
          <a:lstStyle/>
          <a:p>
            <a:pPr algn="r">
              <a:lnSpc>
                <a:spcPct val="100000"/>
              </a:lnSpc>
            </a:pPr>
            <a:r>
              <a:rPr sz="850" b="0">
                <a:solidFill>
                  <a:srgbClr val="8894A3"/>
                </a:solidFill>
                <a:latin typeface="Consolas"/>
              </a:rPr>
              <a:t>04 / 10</a:t>
            </a:r>
          </a:p>
        </p:txBody>
      </p:sp>
      <p:sp>
        <p:nvSpPr>
          <p:cNvPr id="5" name="Rounded Rectangle 4"/>
          <p:cNvSpPr/>
          <p:nvPr/>
        </p:nvSpPr>
        <p:spPr>
          <a:xfrm>
            <a:off x="658368" y="713232"/>
            <a:ext cx="384048" cy="219456"/>
          </a:xfrm>
          <a:prstGeom prst="roundRect">
            <a:avLst>
              <a:gd name="adj" fmla="val 50000"/>
            </a:avLst>
          </a:prstGeom>
          <a:solidFill>
            <a:srgbClr val="FDF0EA"/>
          </a:solidFill>
          <a:ln w="9525">
            <a:solidFill>
              <a:srgbClr val="E85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745236"/>
            <a:ext cx="384048" cy="182880"/>
          </a:xfrm>
          <a:prstGeom prst="rect">
            <a:avLst/>
          </a:prstGeom>
          <a:noFill/>
        </p:spPr>
        <p:txBody>
          <a:bodyPr wrap="square" anchor="t" lIns="0" rIns="0" tIns="0" bIns="0">
            <a:spAutoFit/>
          </a:bodyPr>
          <a:lstStyle/>
          <a:p>
            <a:pPr algn="ctr">
              <a:lnSpc>
                <a:spcPct val="100000"/>
              </a:lnSpc>
            </a:pPr>
            <a:r>
              <a:rPr sz="900" b="0">
                <a:solidFill>
                  <a:srgbClr val="E8551F"/>
                </a:solidFill>
                <a:latin typeface="Consolas"/>
              </a:rPr>
              <a:t>04</a:t>
            </a:r>
          </a:p>
        </p:txBody>
      </p:sp>
      <p:sp>
        <p:nvSpPr>
          <p:cNvPr id="7" name="TextBox 6"/>
          <p:cNvSpPr txBox="1"/>
          <p:nvPr/>
        </p:nvSpPr>
        <p:spPr>
          <a:xfrm>
            <a:off x="1161288" y="749808"/>
            <a:ext cx="5486400" cy="182880"/>
          </a:xfrm>
          <a:prstGeom prst="rect">
            <a:avLst/>
          </a:prstGeom>
          <a:noFill/>
        </p:spPr>
        <p:txBody>
          <a:bodyPr wrap="square" anchor="t" lIns="0" rIns="0" tIns="0" bIns="0">
            <a:spAutoFit/>
          </a:bodyPr>
          <a:lstStyle/>
          <a:p>
            <a:pPr algn="l">
              <a:lnSpc>
                <a:spcPct val="100000"/>
              </a:lnSpc>
            </a:pPr>
            <a:r>
              <a:rPr sz="900" b="0">
                <a:solidFill>
                  <a:srgbClr val="8894A3"/>
                </a:solidFill>
                <a:latin typeface="Consolas"/>
              </a:rPr>
              <a:t>WHY IT WORKS</a:t>
            </a:r>
          </a:p>
        </p:txBody>
      </p:sp>
      <p:sp>
        <p:nvSpPr>
          <p:cNvPr id="8" name="TextBox 7"/>
          <p:cNvSpPr txBox="1"/>
          <p:nvPr/>
        </p:nvSpPr>
        <p:spPr>
          <a:xfrm>
            <a:off x="658368" y="1051560"/>
            <a:ext cx="10874959" cy="822960"/>
          </a:xfrm>
          <a:prstGeom prst="rect">
            <a:avLst/>
          </a:prstGeom>
          <a:noFill/>
        </p:spPr>
        <p:txBody>
          <a:bodyPr wrap="square" anchor="t" lIns="0" rIns="0" tIns="0" bIns="0">
            <a:spAutoFit/>
          </a:bodyPr>
          <a:lstStyle/>
          <a:p>
            <a:pPr algn="l">
              <a:lnSpc>
                <a:spcPct val="106000"/>
              </a:lnSpc>
            </a:pPr>
            <a:r>
              <a:rPr sz="3000" b="1">
                <a:solidFill>
                  <a:srgbClr val="1A1D23"/>
                </a:solidFill>
                <a:latin typeface="Segoe UI"/>
              </a:rPr>
              <a:t>What the architecture buys</a:t>
            </a:r>
          </a:p>
        </p:txBody>
      </p:sp>
      <p:sp>
        <p:nvSpPr>
          <p:cNvPr id="9" name="Rounded Rectangle 8"/>
          <p:cNvSpPr/>
          <p:nvPr/>
        </p:nvSpPr>
        <p:spPr>
          <a:xfrm>
            <a:off x="658368" y="1943100"/>
            <a:ext cx="64008" cy="64008"/>
          </a:xfrm>
          <a:prstGeom prst="roundRect">
            <a:avLst>
              <a:gd name="adj" fmla="val 50000"/>
            </a:avLst>
          </a:prstGeom>
          <a:solidFill>
            <a:srgbClr val="E8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856231"/>
            <a:ext cx="4984851" cy="822960"/>
          </a:xfrm>
          <a:prstGeom prst="rect">
            <a:avLst/>
          </a:prstGeom>
          <a:noFill/>
        </p:spPr>
        <p:txBody>
          <a:bodyPr wrap="square" anchor="t" lIns="0" rIns="0" tIns="0" bIns="0">
            <a:spAutoFit/>
          </a:bodyPr>
          <a:lstStyle/>
          <a:p>
            <a:pPr algn="l">
              <a:lnSpc>
                <a:spcPct val="128000"/>
              </a:lnSpc>
            </a:pPr>
            <a:r>
              <a:rPr sz="1150" b="1">
                <a:solidFill>
                  <a:srgbClr val="1A1D23"/>
                </a:solidFill>
                <a:latin typeface="Segoe UI"/>
              </a:rPr>
              <a:t>Zero consumer-facing change. </a:t>
            </a:r>
            <a:r>
              <a:rPr sz="1150" b="0">
                <a:solidFill>
                  <a:srgbClr val="55606E"/>
                </a:solidFill>
                <a:latin typeface="Segoe UI"/>
              </a:rPr>
              <a:t>The published number stays exactly as advertised — no re-education, no new number to promote.</a:t>
            </a:r>
          </a:p>
        </p:txBody>
      </p:sp>
      <p:sp>
        <p:nvSpPr>
          <p:cNvPr id="11" name="Rounded Rectangle 10"/>
          <p:cNvSpPr/>
          <p:nvPr/>
        </p:nvSpPr>
        <p:spPr>
          <a:xfrm>
            <a:off x="658368" y="2784348"/>
            <a:ext cx="64008" cy="64008"/>
          </a:xfrm>
          <a:prstGeom prst="roundRect">
            <a:avLst>
              <a:gd name="adj" fmla="val 50000"/>
            </a:avLst>
          </a:prstGeom>
          <a:solidFill>
            <a:srgbClr val="E8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2697479"/>
            <a:ext cx="4984851" cy="822960"/>
          </a:xfrm>
          <a:prstGeom prst="rect">
            <a:avLst/>
          </a:prstGeom>
          <a:noFill/>
        </p:spPr>
        <p:txBody>
          <a:bodyPr wrap="square" anchor="t" lIns="0" rIns="0" tIns="0" bIns="0">
            <a:spAutoFit/>
          </a:bodyPr>
          <a:lstStyle/>
          <a:p>
            <a:pPr algn="l">
              <a:lnSpc>
                <a:spcPct val="128000"/>
              </a:lnSpc>
            </a:pPr>
            <a:r>
              <a:rPr sz="1150" b="1">
                <a:solidFill>
                  <a:srgbClr val="1A1D23"/>
                </a:solidFill>
                <a:latin typeface="Segoe UI"/>
              </a:rPr>
              <a:t>Zero CRC workflow change. </a:t>
            </a:r>
            <a:r>
              <a:rPr sz="1150" b="0">
                <a:solidFill>
                  <a:srgbClr val="55606E"/>
                </a:solidFill>
                <a:latin typeface="Segoe UI"/>
              </a:rPr>
              <a:t>Staff answer their desk phone the way they always have.</a:t>
            </a:r>
          </a:p>
        </p:txBody>
      </p:sp>
      <p:sp>
        <p:nvSpPr>
          <p:cNvPr id="13" name="Rounded Rectangle 12"/>
          <p:cNvSpPr/>
          <p:nvPr/>
        </p:nvSpPr>
        <p:spPr>
          <a:xfrm>
            <a:off x="658368" y="3625596"/>
            <a:ext cx="64008" cy="64008"/>
          </a:xfrm>
          <a:prstGeom prst="roundRect">
            <a:avLst>
              <a:gd name="adj" fmla="val 50000"/>
            </a:avLst>
          </a:prstGeom>
          <a:solidFill>
            <a:srgbClr val="E8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3538727"/>
            <a:ext cx="4984851" cy="822960"/>
          </a:xfrm>
          <a:prstGeom prst="rect">
            <a:avLst/>
          </a:prstGeom>
          <a:noFill/>
        </p:spPr>
        <p:txBody>
          <a:bodyPr wrap="square" anchor="t" lIns="0" rIns="0" tIns="0" bIns="0">
            <a:spAutoFit/>
          </a:bodyPr>
          <a:lstStyle/>
          <a:p>
            <a:pPr algn="l">
              <a:lnSpc>
                <a:spcPct val="128000"/>
              </a:lnSpc>
            </a:pPr>
            <a:r>
              <a:rPr sz="1150" b="1">
                <a:solidFill>
                  <a:srgbClr val="1A1D23"/>
                </a:solidFill>
                <a:latin typeface="Segoe UI"/>
              </a:rPr>
              <a:t>Complete recording coverage. </a:t>
            </a:r>
            <a:r>
              <a:rPr sz="1150" b="0">
                <a:solidFill>
                  <a:srgbClr val="55606E"/>
                </a:solidFill>
                <a:latin typeface="Segoe UI"/>
              </a:rPr>
              <a:t>Because the first hop is unconditional, VoiceOwl sits in the path of every call — including the ones a human answers. This is what makes representative analysis possible at all.</a:t>
            </a:r>
          </a:p>
        </p:txBody>
      </p:sp>
      <p:sp>
        <p:nvSpPr>
          <p:cNvPr id="15" name="Rounded Rectangle 14"/>
          <p:cNvSpPr/>
          <p:nvPr/>
        </p:nvSpPr>
        <p:spPr>
          <a:xfrm>
            <a:off x="658368" y="4466844"/>
            <a:ext cx="64008" cy="64008"/>
          </a:xfrm>
          <a:prstGeom prst="roundRect">
            <a:avLst>
              <a:gd name="adj" fmla="val 50000"/>
            </a:avLst>
          </a:prstGeom>
          <a:solidFill>
            <a:srgbClr val="E8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4379976"/>
            <a:ext cx="4984851" cy="822960"/>
          </a:xfrm>
          <a:prstGeom prst="rect">
            <a:avLst/>
          </a:prstGeom>
          <a:noFill/>
        </p:spPr>
        <p:txBody>
          <a:bodyPr wrap="square" anchor="t" lIns="0" rIns="0" tIns="0" bIns="0">
            <a:spAutoFit/>
          </a:bodyPr>
          <a:lstStyle/>
          <a:p>
            <a:pPr algn="l">
              <a:lnSpc>
                <a:spcPct val="128000"/>
              </a:lnSpc>
            </a:pPr>
            <a:r>
              <a:rPr sz="1150" b="1">
                <a:solidFill>
                  <a:srgbClr val="1A1D23"/>
                </a:solidFill>
                <a:latin typeface="Segoe UI"/>
              </a:rPr>
              <a:t>Invisible fallback. </a:t>
            </a:r>
            <a:r>
              <a:rPr sz="1150" b="0">
                <a:solidFill>
                  <a:srgbClr val="55606E"/>
                </a:solidFill>
                <a:latin typeface="Segoe UI"/>
              </a:rPr>
              <a:t>The consumer never knows a human was tried first, so no call feels like a second-class one.</a:t>
            </a:r>
          </a:p>
        </p:txBody>
      </p:sp>
      <p:sp>
        <p:nvSpPr>
          <p:cNvPr id="17" name="Rounded Rectangle 16"/>
          <p:cNvSpPr/>
          <p:nvPr/>
        </p:nvSpPr>
        <p:spPr>
          <a:xfrm>
            <a:off x="6347307" y="1874519"/>
            <a:ext cx="5186019" cy="1965960"/>
          </a:xfrm>
          <a:prstGeom prst="roundRect">
            <a:avLst>
              <a:gd name="adj" fmla="val 4500"/>
            </a:avLst>
          </a:prstGeom>
          <a:solidFill>
            <a:srgbClr val="FFFFF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5051" y="2066543"/>
            <a:ext cx="4728819" cy="237744"/>
          </a:xfrm>
          <a:prstGeom prst="rect">
            <a:avLst/>
          </a:prstGeom>
          <a:noFill/>
        </p:spPr>
        <p:txBody>
          <a:bodyPr wrap="square" anchor="t" lIns="0" rIns="0" tIns="0" bIns="0">
            <a:spAutoFit/>
          </a:bodyPr>
          <a:lstStyle/>
          <a:p>
            <a:pPr algn="l">
              <a:lnSpc>
                <a:spcPct val="100000"/>
              </a:lnSpc>
            </a:pPr>
            <a:r>
              <a:rPr sz="1300" b="1">
                <a:solidFill>
                  <a:srgbClr val="1A1D23"/>
                </a:solidFill>
                <a:latin typeface="Segoe UI"/>
              </a:rPr>
              <a:t>The handover window</a:t>
            </a:r>
          </a:p>
        </p:txBody>
      </p:sp>
      <p:sp>
        <p:nvSpPr>
          <p:cNvPr id="19" name="TextBox 18"/>
          <p:cNvSpPr txBox="1"/>
          <p:nvPr/>
        </p:nvSpPr>
        <p:spPr>
          <a:xfrm>
            <a:off x="6585051" y="2377440"/>
            <a:ext cx="4728819" cy="640080"/>
          </a:xfrm>
          <a:prstGeom prst="rect">
            <a:avLst/>
          </a:prstGeom>
          <a:noFill/>
        </p:spPr>
        <p:txBody>
          <a:bodyPr wrap="square" anchor="t" lIns="0" rIns="0" tIns="0" bIns="0">
            <a:spAutoFit/>
          </a:bodyPr>
          <a:lstStyle/>
          <a:p>
            <a:pPr algn="l">
              <a:lnSpc>
                <a:spcPct val="130000"/>
              </a:lnSpc>
            </a:pPr>
            <a:r>
              <a:rPr sz="1050" b="0">
                <a:solidFill>
                  <a:srgbClr val="55606E"/>
                </a:solidFill>
                <a:latin typeface="Segoe UI"/>
              </a:rPr>
              <a:t>Thirty seconds is long enough that a representative genuinely at their desk answers, and short enough that a consumer does not abandon the call.</a:t>
            </a:r>
          </a:p>
        </p:txBody>
      </p:sp>
      <p:sp>
        <p:nvSpPr>
          <p:cNvPr id="20" name="TextBox 19"/>
          <p:cNvSpPr txBox="1"/>
          <p:nvPr/>
        </p:nvSpPr>
        <p:spPr>
          <a:xfrm>
            <a:off x="6585051" y="3090672"/>
            <a:ext cx="1463040" cy="365760"/>
          </a:xfrm>
          <a:prstGeom prst="rect">
            <a:avLst/>
          </a:prstGeom>
          <a:noFill/>
        </p:spPr>
        <p:txBody>
          <a:bodyPr wrap="square" anchor="t" lIns="0" rIns="0" tIns="0" bIns="0">
            <a:spAutoFit/>
          </a:bodyPr>
          <a:lstStyle/>
          <a:p>
            <a:pPr algn="l">
              <a:lnSpc>
                <a:spcPct val="100000"/>
              </a:lnSpc>
            </a:pPr>
            <a:r>
              <a:rPr sz="2500" b="1">
                <a:solidFill>
                  <a:srgbClr val="2F9E8F"/>
                </a:solidFill>
                <a:latin typeface="Segoe UI"/>
              </a:rPr>
              <a:t>10.7s</a:t>
            </a:r>
          </a:p>
        </p:txBody>
      </p:sp>
      <p:sp>
        <p:nvSpPr>
          <p:cNvPr id="21" name="TextBox 20"/>
          <p:cNvSpPr txBox="1"/>
          <p:nvPr/>
        </p:nvSpPr>
        <p:spPr>
          <a:xfrm>
            <a:off x="6585051" y="3456432"/>
            <a:ext cx="1828800" cy="365760"/>
          </a:xfrm>
          <a:prstGeom prst="rect">
            <a:avLst/>
          </a:prstGeom>
          <a:noFill/>
        </p:spPr>
        <p:txBody>
          <a:bodyPr wrap="square" anchor="t" lIns="0" rIns="0" tIns="0" bIns="0">
            <a:spAutoFit/>
          </a:bodyPr>
          <a:lstStyle/>
          <a:p>
            <a:pPr algn="l">
              <a:lnSpc>
                <a:spcPct val="125000"/>
              </a:lnSpc>
            </a:pPr>
            <a:r>
              <a:rPr sz="900" b="0">
                <a:solidFill>
                  <a:srgbClr val="8894A3"/>
                </a:solidFill>
                <a:latin typeface="Segoe UI"/>
              </a:rPr>
              <a:t>median time for a desk
to pick up, when they do</a:t>
            </a:r>
          </a:p>
        </p:txBody>
      </p:sp>
      <p:sp>
        <p:nvSpPr>
          <p:cNvPr id="22" name="TextBox 21"/>
          <p:cNvSpPr txBox="1"/>
          <p:nvPr/>
        </p:nvSpPr>
        <p:spPr>
          <a:xfrm>
            <a:off x="8633307" y="3090672"/>
            <a:ext cx="1463040" cy="365760"/>
          </a:xfrm>
          <a:prstGeom prst="rect">
            <a:avLst/>
          </a:prstGeom>
          <a:noFill/>
        </p:spPr>
        <p:txBody>
          <a:bodyPr wrap="square" anchor="t" lIns="0" rIns="0" tIns="0" bIns="0">
            <a:spAutoFit/>
          </a:bodyPr>
          <a:lstStyle/>
          <a:p>
            <a:pPr algn="l">
              <a:lnSpc>
                <a:spcPct val="100000"/>
              </a:lnSpc>
            </a:pPr>
            <a:r>
              <a:rPr sz="2500" b="1">
                <a:solidFill>
                  <a:srgbClr val="1A1D23"/>
                </a:solidFill>
                <a:latin typeface="Segoe UI"/>
              </a:rPr>
              <a:t>30s</a:t>
            </a:r>
          </a:p>
        </p:txBody>
      </p:sp>
      <p:sp>
        <p:nvSpPr>
          <p:cNvPr id="23" name="TextBox 22"/>
          <p:cNvSpPr txBox="1"/>
          <p:nvPr/>
        </p:nvSpPr>
        <p:spPr>
          <a:xfrm>
            <a:off x="8633307" y="3456432"/>
            <a:ext cx="1828800" cy="365760"/>
          </a:xfrm>
          <a:prstGeom prst="rect">
            <a:avLst/>
          </a:prstGeom>
          <a:noFill/>
        </p:spPr>
        <p:txBody>
          <a:bodyPr wrap="square" anchor="t" lIns="0" rIns="0" tIns="0" bIns="0">
            <a:spAutoFit/>
          </a:bodyPr>
          <a:lstStyle/>
          <a:p>
            <a:pPr algn="l">
              <a:lnSpc>
                <a:spcPct val="125000"/>
              </a:lnSpc>
            </a:pPr>
            <a:r>
              <a:rPr sz="900" b="0">
                <a:solidFill>
                  <a:srgbClr val="8894A3"/>
                </a:solidFill>
                <a:latin typeface="Segoe UI"/>
              </a:rPr>
              <a:t>window before Vaani
takes the call</a:t>
            </a:r>
          </a:p>
        </p:txBody>
      </p:sp>
      <p:sp>
        <p:nvSpPr>
          <p:cNvPr id="24" name="Rounded Rectangle 23"/>
          <p:cNvSpPr/>
          <p:nvPr/>
        </p:nvSpPr>
        <p:spPr>
          <a:xfrm>
            <a:off x="6347307" y="4023360"/>
            <a:ext cx="5186019" cy="1371600"/>
          </a:xfrm>
          <a:prstGeom prst="roundRect">
            <a:avLst>
              <a:gd name="adj" fmla="val 4500"/>
            </a:avLst>
          </a:prstGeom>
          <a:solidFill>
            <a:srgbClr val="FFFFF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5051" y="4224528"/>
            <a:ext cx="4728819" cy="237744"/>
          </a:xfrm>
          <a:prstGeom prst="rect">
            <a:avLst/>
          </a:prstGeom>
          <a:noFill/>
        </p:spPr>
        <p:txBody>
          <a:bodyPr wrap="square" anchor="t" lIns="0" rIns="0" tIns="0" bIns="0">
            <a:spAutoFit/>
          </a:bodyPr>
          <a:lstStyle/>
          <a:p>
            <a:pPr algn="l">
              <a:lnSpc>
                <a:spcPct val="100000"/>
              </a:lnSpc>
            </a:pPr>
            <a:r>
              <a:rPr sz="1300" b="1">
                <a:solidFill>
                  <a:srgbClr val="1A1D23"/>
                </a:solidFill>
                <a:latin typeface="Segoe UI"/>
              </a:rPr>
              <a:t>Handling profile</a:t>
            </a:r>
          </a:p>
        </p:txBody>
      </p:sp>
      <p:sp>
        <p:nvSpPr>
          <p:cNvPr id="26" name="TextBox 25"/>
          <p:cNvSpPr txBox="1"/>
          <p:nvPr/>
        </p:nvSpPr>
        <p:spPr>
          <a:xfrm>
            <a:off x="6585051" y="4535424"/>
            <a:ext cx="4728819" cy="731520"/>
          </a:xfrm>
          <a:prstGeom prst="rect">
            <a:avLst/>
          </a:prstGeom>
          <a:noFill/>
        </p:spPr>
        <p:txBody>
          <a:bodyPr wrap="square" anchor="t" lIns="0" rIns="0" tIns="0" bIns="0">
            <a:spAutoFit/>
          </a:bodyPr>
          <a:lstStyle/>
          <a:p>
            <a:pPr algn="l">
              <a:lnSpc>
                <a:spcPct val="135000"/>
              </a:lnSpc>
            </a:pPr>
            <a:r>
              <a:rPr sz="1050" b="1">
                <a:solidFill>
                  <a:srgbClr val="1A1D23"/>
                </a:solidFill>
                <a:latin typeface="Segoe UI"/>
              </a:rPr>
              <a:t>97.7%</a:t>
            </a:r>
            <a:r>
              <a:rPr sz="1050" b="0">
                <a:solidFill>
                  <a:srgbClr val="55606E"/>
                </a:solidFill>
                <a:latin typeface="Segoe UI"/>
              </a:rPr>
              <a:t> of calls handled without transfer  ·  </a:t>
            </a:r>
            <a:r>
              <a:rPr sz="1050" b="1">
                <a:solidFill>
                  <a:srgbClr val="1A1D23"/>
                </a:solidFill>
                <a:latin typeface="Segoe UI"/>
              </a:rPr>
              <a:t>2.3%</a:t>
            </a:r>
            <a:r>
              <a:rPr sz="1050" b="0">
                <a:solidFill>
                  <a:srgbClr val="55606E"/>
                </a:solidFill>
                <a:latin typeface="Segoe UI"/>
              </a:rPr>
              <a:t> escalated to a person  ·  </a:t>
            </a:r>
            <a:r>
              <a:rPr sz="1050" b="1">
                <a:solidFill>
                  <a:srgbClr val="1A1D23"/>
                </a:solidFill>
                <a:latin typeface="Segoe UI"/>
              </a:rPr>
              <a:t>181</a:t>
            </a:r>
            <a:r>
              <a:rPr sz="1050" b="0">
                <a:solidFill>
                  <a:srgbClr val="55606E"/>
                </a:solidFill>
                <a:latin typeface="Segoe UI"/>
              </a:rPr>
              <a:t> complaints registered by Vaani  ·  </a:t>
            </a:r>
            <a:r>
              <a:rPr sz="1050" b="1">
                <a:solidFill>
                  <a:srgbClr val="1A1D23"/>
                </a:solidFill>
                <a:latin typeface="Segoe UI"/>
              </a:rPr>
              <a:t>2 min 56 s</a:t>
            </a:r>
            <a:r>
              <a:rPr sz="1050" b="0">
                <a:solidFill>
                  <a:srgbClr val="55606E"/>
                </a:solidFill>
                <a:latin typeface="Segoe UI"/>
              </a:rPr>
              <a:t> mean call length.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10896"/>
            <a:ext cx="3657600" cy="182880"/>
          </a:xfrm>
          <a:prstGeom prst="rect">
            <a:avLst/>
          </a:prstGeom>
          <a:noFill/>
        </p:spPr>
        <p:txBody>
          <a:bodyPr wrap="square" anchor="t" lIns="0" rIns="0" tIns="0" bIns="0">
            <a:spAutoFit/>
          </a:bodyPr>
          <a:lstStyle/>
          <a:p>
            <a:pPr algn="l">
              <a:lnSpc>
                <a:spcPct val="100000"/>
              </a:lnSpc>
            </a:pPr>
            <a:r>
              <a:rPr sz="850" b="0">
                <a:solidFill>
                  <a:srgbClr val="8894A3"/>
                </a:solidFill>
                <a:latin typeface="Consolas"/>
              </a:rPr>
              <a:t>VOICEOWL </a:t>
            </a:r>
            <a:r>
              <a:rPr sz="850" b="0">
                <a:solidFill>
                  <a:srgbClr val="E8551F"/>
                </a:solidFill>
                <a:latin typeface="Consolas"/>
              </a:rPr>
              <a:t>x</a:t>
            </a:r>
            <a:r>
              <a:rPr sz="850" b="0">
                <a:solidFill>
                  <a:srgbClr val="8894A3"/>
                </a:solidFill>
                <a:latin typeface="Consolas"/>
              </a:rPr>
              <a:t> BHARAT GAS</a:t>
            </a:r>
          </a:p>
        </p:txBody>
      </p:sp>
      <p:sp>
        <p:nvSpPr>
          <p:cNvPr id="4" name="TextBox 3"/>
          <p:cNvSpPr txBox="1"/>
          <p:nvPr/>
        </p:nvSpPr>
        <p:spPr>
          <a:xfrm>
            <a:off x="10436047" y="310896"/>
            <a:ext cx="1097280" cy="182880"/>
          </a:xfrm>
          <a:prstGeom prst="rect">
            <a:avLst/>
          </a:prstGeom>
          <a:noFill/>
        </p:spPr>
        <p:txBody>
          <a:bodyPr wrap="square" anchor="t" lIns="0" rIns="0" tIns="0" bIns="0">
            <a:spAutoFit/>
          </a:bodyPr>
          <a:lstStyle/>
          <a:p>
            <a:pPr algn="r">
              <a:lnSpc>
                <a:spcPct val="100000"/>
              </a:lnSpc>
            </a:pPr>
            <a:r>
              <a:rPr sz="850" b="0">
                <a:solidFill>
                  <a:srgbClr val="8894A3"/>
                </a:solidFill>
                <a:latin typeface="Consolas"/>
              </a:rPr>
              <a:t>05 / 10</a:t>
            </a:r>
          </a:p>
        </p:txBody>
      </p:sp>
      <p:sp>
        <p:nvSpPr>
          <p:cNvPr id="5" name="Rounded Rectangle 4"/>
          <p:cNvSpPr/>
          <p:nvPr/>
        </p:nvSpPr>
        <p:spPr>
          <a:xfrm>
            <a:off x="658368" y="713232"/>
            <a:ext cx="384048" cy="219456"/>
          </a:xfrm>
          <a:prstGeom prst="roundRect">
            <a:avLst>
              <a:gd name="adj" fmla="val 50000"/>
            </a:avLst>
          </a:prstGeom>
          <a:solidFill>
            <a:srgbClr val="FDF0EA"/>
          </a:solidFill>
          <a:ln w="9525">
            <a:solidFill>
              <a:srgbClr val="E85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745236"/>
            <a:ext cx="384048" cy="182880"/>
          </a:xfrm>
          <a:prstGeom prst="rect">
            <a:avLst/>
          </a:prstGeom>
          <a:noFill/>
        </p:spPr>
        <p:txBody>
          <a:bodyPr wrap="square" anchor="t" lIns="0" rIns="0" tIns="0" bIns="0">
            <a:spAutoFit/>
          </a:bodyPr>
          <a:lstStyle/>
          <a:p>
            <a:pPr algn="ctr">
              <a:lnSpc>
                <a:spcPct val="100000"/>
              </a:lnSpc>
            </a:pPr>
            <a:r>
              <a:rPr sz="900" b="0">
                <a:solidFill>
                  <a:srgbClr val="E8551F"/>
                </a:solidFill>
                <a:latin typeface="Consolas"/>
              </a:rPr>
              <a:t>05</a:t>
            </a:r>
          </a:p>
        </p:txBody>
      </p:sp>
      <p:sp>
        <p:nvSpPr>
          <p:cNvPr id="7" name="TextBox 6"/>
          <p:cNvSpPr txBox="1"/>
          <p:nvPr/>
        </p:nvSpPr>
        <p:spPr>
          <a:xfrm>
            <a:off x="1161288" y="749808"/>
            <a:ext cx="5486400" cy="182880"/>
          </a:xfrm>
          <a:prstGeom prst="rect">
            <a:avLst/>
          </a:prstGeom>
          <a:noFill/>
        </p:spPr>
        <p:txBody>
          <a:bodyPr wrap="square" anchor="t" lIns="0" rIns="0" tIns="0" bIns="0">
            <a:spAutoFit/>
          </a:bodyPr>
          <a:lstStyle/>
          <a:p>
            <a:pPr algn="l">
              <a:lnSpc>
                <a:spcPct val="100000"/>
              </a:lnSpc>
            </a:pPr>
            <a:r>
              <a:rPr sz="900" b="0">
                <a:solidFill>
                  <a:srgbClr val="8894A3"/>
                </a:solidFill>
                <a:latin typeface="Consolas"/>
              </a:rPr>
              <a:t>THE CORE OF THE OFFERING</a:t>
            </a:r>
          </a:p>
        </p:txBody>
      </p:sp>
      <p:sp>
        <p:nvSpPr>
          <p:cNvPr id="8" name="TextBox 7"/>
          <p:cNvSpPr txBox="1"/>
          <p:nvPr/>
        </p:nvSpPr>
        <p:spPr>
          <a:xfrm>
            <a:off x="658368" y="1051560"/>
            <a:ext cx="10874959" cy="822960"/>
          </a:xfrm>
          <a:prstGeom prst="rect">
            <a:avLst/>
          </a:prstGeom>
          <a:noFill/>
        </p:spPr>
        <p:txBody>
          <a:bodyPr wrap="square" anchor="t" lIns="0" rIns="0" tIns="0" bIns="0">
            <a:spAutoFit/>
          </a:bodyPr>
          <a:lstStyle/>
          <a:p>
            <a:pPr algn="l">
              <a:lnSpc>
                <a:spcPct val="106000"/>
              </a:lnSpc>
            </a:pPr>
            <a:r>
              <a:rPr sz="3000" b="1">
                <a:solidFill>
                  <a:srgbClr val="1A1D23"/>
                </a:solidFill>
                <a:latin typeface="Segoe UI"/>
              </a:rPr>
              <a:t>Two analysers, because there are two subjects</a:t>
            </a:r>
          </a:p>
        </p:txBody>
      </p:sp>
      <p:sp>
        <p:nvSpPr>
          <p:cNvPr id="9" name="TextBox 8"/>
          <p:cNvSpPr txBox="1"/>
          <p:nvPr/>
        </p:nvSpPr>
        <p:spPr>
          <a:xfrm>
            <a:off x="658368" y="1572768"/>
            <a:ext cx="9594799" cy="914400"/>
          </a:xfrm>
          <a:prstGeom prst="rect">
            <a:avLst/>
          </a:prstGeom>
          <a:noFill/>
        </p:spPr>
        <p:txBody>
          <a:bodyPr wrap="square" anchor="t" lIns="0" rIns="0" tIns="0" bIns="0">
            <a:spAutoFit/>
          </a:bodyPr>
          <a:lstStyle/>
          <a:p>
            <a:pPr algn="l">
              <a:lnSpc>
                <a:spcPct val="130000"/>
              </a:lnSpc>
            </a:pPr>
            <a:r>
              <a:rPr sz="1250" b="0">
                <a:solidFill>
                  <a:srgbClr val="55606E"/>
                </a:solidFill>
                <a:latin typeface="Segoe UI"/>
              </a:rPr>
              <a:t>Every completed call is analysed after it ends — and which analyser runs depends on who answered. They measure different things because they are judging different subjects.</a:t>
            </a:r>
          </a:p>
        </p:txBody>
      </p:sp>
      <p:sp>
        <p:nvSpPr>
          <p:cNvPr id="10" name="Rounded Rectangle 9"/>
          <p:cNvSpPr/>
          <p:nvPr/>
        </p:nvSpPr>
        <p:spPr>
          <a:xfrm>
            <a:off x="658368" y="2157984"/>
            <a:ext cx="5186019" cy="1417320"/>
          </a:xfrm>
          <a:prstGeom prst="roundRect">
            <a:avLst>
              <a:gd name="adj" fmla="val 4500"/>
            </a:avLst>
          </a:prstGeom>
          <a:solidFill>
            <a:srgbClr val="FFFFFF"/>
          </a:solidFill>
          <a:ln w="16510">
            <a:solidFill>
              <a:srgbClr val="E85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340864"/>
            <a:ext cx="4728819" cy="146304"/>
          </a:xfrm>
          <a:prstGeom prst="rect">
            <a:avLst/>
          </a:prstGeom>
          <a:noFill/>
        </p:spPr>
        <p:txBody>
          <a:bodyPr wrap="square" anchor="t" lIns="0" rIns="0" tIns="0" bIns="0">
            <a:spAutoFit/>
          </a:bodyPr>
          <a:lstStyle/>
          <a:p>
            <a:pPr algn="l">
              <a:lnSpc>
                <a:spcPct val="100000"/>
              </a:lnSpc>
            </a:pPr>
            <a:r>
              <a:rPr sz="800" b="0">
                <a:solidFill>
                  <a:srgbClr val="E8551F"/>
                </a:solidFill>
                <a:latin typeface="Consolas"/>
              </a:rPr>
              <a:t>AI-HANDLED CALLS</a:t>
            </a:r>
          </a:p>
        </p:txBody>
      </p:sp>
      <p:sp>
        <p:nvSpPr>
          <p:cNvPr id="12" name="TextBox 11"/>
          <p:cNvSpPr txBox="1"/>
          <p:nvPr/>
        </p:nvSpPr>
        <p:spPr>
          <a:xfrm>
            <a:off x="896112" y="2560320"/>
            <a:ext cx="4728819" cy="219456"/>
          </a:xfrm>
          <a:prstGeom prst="rect">
            <a:avLst/>
          </a:prstGeom>
          <a:noFill/>
        </p:spPr>
        <p:txBody>
          <a:bodyPr wrap="square" anchor="t" lIns="0" rIns="0" tIns="0" bIns="0">
            <a:spAutoFit/>
          </a:bodyPr>
          <a:lstStyle/>
          <a:p>
            <a:pPr algn="l">
              <a:lnSpc>
                <a:spcPct val="100000"/>
              </a:lnSpc>
            </a:pPr>
            <a:r>
              <a:rPr sz="1300" b="1">
                <a:solidFill>
                  <a:srgbClr val="1A1D23"/>
                </a:solidFill>
                <a:latin typeface="Segoe UI"/>
              </a:rPr>
              <a:t>The conversation and its outcome</a:t>
            </a:r>
          </a:p>
        </p:txBody>
      </p:sp>
      <p:sp>
        <p:nvSpPr>
          <p:cNvPr id="13" name="TextBox 12"/>
          <p:cNvSpPr txBox="1"/>
          <p:nvPr/>
        </p:nvSpPr>
        <p:spPr>
          <a:xfrm>
            <a:off x="896112" y="2852928"/>
            <a:ext cx="4728819" cy="384048"/>
          </a:xfrm>
          <a:prstGeom prst="rect">
            <a:avLst/>
          </a:prstGeom>
          <a:noFill/>
        </p:spPr>
        <p:txBody>
          <a:bodyPr wrap="square" anchor="t" lIns="0" rIns="0" tIns="0" bIns="0">
            <a:spAutoFit/>
          </a:bodyPr>
          <a:lstStyle/>
          <a:p>
            <a:pPr algn="l">
              <a:lnSpc>
                <a:spcPct val="128000"/>
              </a:lnSpc>
            </a:pPr>
            <a:r>
              <a:rPr sz="1050" b="0">
                <a:solidFill>
                  <a:srgbClr val="55606E"/>
                </a:solidFill>
                <a:latin typeface="Segoe UI"/>
              </a:rPr>
              <a:t>Intent, area, outcome, disposition, consumer sentiment, complaint details, follow-up need.</a:t>
            </a:r>
          </a:p>
        </p:txBody>
      </p:sp>
      <p:sp>
        <p:nvSpPr>
          <p:cNvPr id="14" name="TextBox 13"/>
          <p:cNvSpPr txBox="1"/>
          <p:nvPr/>
        </p:nvSpPr>
        <p:spPr>
          <a:xfrm>
            <a:off x="896112" y="3273552"/>
            <a:ext cx="4728819" cy="274320"/>
          </a:xfrm>
          <a:prstGeom prst="rect">
            <a:avLst/>
          </a:prstGeom>
          <a:noFill/>
        </p:spPr>
        <p:txBody>
          <a:bodyPr wrap="square" anchor="t" lIns="0" rIns="0" tIns="0" bIns="0">
            <a:spAutoFit/>
          </a:bodyPr>
          <a:lstStyle/>
          <a:p>
            <a:pPr algn="l">
              <a:lnSpc>
                <a:spcPct val="125000"/>
              </a:lnSpc>
            </a:pPr>
            <a:r>
              <a:rPr sz="1050" b="1">
                <a:solidFill>
                  <a:srgbClr val="1A1D23"/>
                </a:solidFill>
                <a:latin typeface="Segoe UI"/>
              </a:rPr>
              <a:t>Answers: </a:t>
            </a:r>
            <a:r>
              <a:rPr sz="1050" b="0">
                <a:solidFill>
                  <a:srgbClr val="1A1D23"/>
                </a:solidFill>
                <a:latin typeface="Segoe UI"/>
              </a:rPr>
              <a:t>what are consumers reporting?</a:t>
            </a:r>
          </a:p>
        </p:txBody>
      </p:sp>
      <p:sp>
        <p:nvSpPr>
          <p:cNvPr id="15" name="Rounded Rectangle 14"/>
          <p:cNvSpPr/>
          <p:nvPr/>
        </p:nvSpPr>
        <p:spPr>
          <a:xfrm>
            <a:off x="6347307" y="2157984"/>
            <a:ext cx="5186019" cy="1417320"/>
          </a:xfrm>
          <a:prstGeom prst="roundRect">
            <a:avLst>
              <a:gd name="adj" fmla="val 4500"/>
            </a:avLst>
          </a:prstGeom>
          <a:solidFill>
            <a:srgbClr val="FFFFFF"/>
          </a:solidFill>
          <a:ln w="16510">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5051" y="2340864"/>
            <a:ext cx="4728819" cy="146304"/>
          </a:xfrm>
          <a:prstGeom prst="rect">
            <a:avLst/>
          </a:prstGeom>
          <a:noFill/>
        </p:spPr>
        <p:txBody>
          <a:bodyPr wrap="square" anchor="t" lIns="0" rIns="0" tIns="0" bIns="0">
            <a:spAutoFit/>
          </a:bodyPr>
          <a:lstStyle/>
          <a:p>
            <a:pPr algn="l">
              <a:lnSpc>
                <a:spcPct val="100000"/>
              </a:lnSpc>
            </a:pPr>
            <a:r>
              <a:rPr sz="800" b="0">
                <a:solidFill>
                  <a:srgbClr val="2F9E8F"/>
                </a:solidFill>
                <a:latin typeface="Consolas"/>
              </a:rPr>
              <a:t>HUMAN-HANDLED CALLS</a:t>
            </a:r>
          </a:p>
        </p:txBody>
      </p:sp>
      <p:sp>
        <p:nvSpPr>
          <p:cNvPr id="17" name="TextBox 16"/>
          <p:cNvSpPr txBox="1"/>
          <p:nvPr/>
        </p:nvSpPr>
        <p:spPr>
          <a:xfrm>
            <a:off x="6585051" y="2560320"/>
            <a:ext cx="4728819" cy="219456"/>
          </a:xfrm>
          <a:prstGeom prst="rect">
            <a:avLst/>
          </a:prstGeom>
          <a:noFill/>
        </p:spPr>
        <p:txBody>
          <a:bodyPr wrap="square" anchor="t" lIns="0" rIns="0" tIns="0" bIns="0">
            <a:spAutoFit/>
          </a:bodyPr>
          <a:lstStyle/>
          <a:p>
            <a:pPr algn="l">
              <a:lnSpc>
                <a:spcPct val="100000"/>
              </a:lnSpc>
            </a:pPr>
            <a:r>
              <a:rPr sz="1300" b="1">
                <a:solidFill>
                  <a:srgbClr val="1A1D23"/>
                </a:solidFill>
                <a:latin typeface="Segoe UI"/>
              </a:rPr>
              <a:t>The representative</a:t>
            </a:r>
          </a:p>
        </p:txBody>
      </p:sp>
      <p:sp>
        <p:nvSpPr>
          <p:cNvPr id="18" name="TextBox 17"/>
          <p:cNvSpPr txBox="1"/>
          <p:nvPr/>
        </p:nvSpPr>
        <p:spPr>
          <a:xfrm>
            <a:off x="6585051" y="2852928"/>
            <a:ext cx="4728819" cy="384048"/>
          </a:xfrm>
          <a:prstGeom prst="rect">
            <a:avLst/>
          </a:prstGeom>
          <a:noFill/>
        </p:spPr>
        <p:txBody>
          <a:bodyPr wrap="square" anchor="t" lIns="0" rIns="0" tIns="0" bIns="0">
            <a:spAutoFit/>
          </a:bodyPr>
          <a:lstStyle/>
          <a:p>
            <a:pPr algn="l">
              <a:lnSpc>
                <a:spcPct val="128000"/>
              </a:lnSpc>
            </a:pPr>
            <a:r>
              <a:rPr sz="1050" b="0">
                <a:solidFill>
                  <a:srgbClr val="55606E"/>
                </a:solidFill>
                <a:latin typeface="Segoe UI"/>
              </a:rPr>
              <a:t>Conduct, tone, greeting, issue containment, consumer effort, escalation risk, satisfaction.</a:t>
            </a:r>
          </a:p>
        </p:txBody>
      </p:sp>
      <p:sp>
        <p:nvSpPr>
          <p:cNvPr id="19" name="TextBox 18"/>
          <p:cNvSpPr txBox="1"/>
          <p:nvPr/>
        </p:nvSpPr>
        <p:spPr>
          <a:xfrm>
            <a:off x="6585051" y="3273552"/>
            <a:ext cx="4728819" cy="274320"/>
          </a:xfrm>
          <a:prstGeom prst="rect">
            <a:avLst/>
          </a:prstGeom>
          <a:noFill/>
        </p:spPr>
        <p:txBody>
          <a:bodyPr wrap="square" anchor="t" lIns="0" rIns="0" tIns="0" bIns="0">
            <a:spAutoFit/>
          </a:bodyPr>
          <a:lstStyle/>
          <a:p>
            <a:pPr algn="l">
              <a:lnSpc>
                <a:spcPct val="125000"/>
              </a:lnSpc>
            </a:pPr>
            <a:r>
              <a:rPr sz="1050" b="1">
                <a:solidFill>
                  <a:srgbClr val="1A1D23"/>
                </a:solidFill>
                <a:latin typeface="Segoe UI"/>
              </a:rPr>
              <a:t>Answers: </a:t>
            </a:r>
            <a:r>
              <a:rPr sz="1050" b="0">
                <a:solidFill>
                  <a:srgbClr val="1A1D23"/>
                </a:solidFill>
                <a:latin typeface="Segoe UI"/>
              </a:rPr>
              <a:t>what are consumers reporting? </a:t>
            </a:r>
            <a:r>
              <a:rPr sz="1050" b="1">
                <a:solidFill>
                  <a:srgbClr val="2F9E8F"/>
                </a:solidFill>
                <a:latin typeface="Segoe UI"/>
              </a:rPr>
              <a:t>+</a:t>
            </a:r>
            <a:r>
              <a:rPr sz="1050" b="0">
                <a:solidFill>
                  <a:srgbClr val="1A1D23"/>
                </a:solidFill>
                <a:latin typeface="Segoe UI"/>
              </a:rPr>
              <a:t> how are our representatives performing?</a:t>
            </a:r>
          </a:p>
        </p:txBody>
      </p:sp>
      <p:sp>
        <p:nvSpPr>
          <p:cNvPr id="20" name="TextBox 19"/>
          <p:cNvSpPr txBox="1"/>
          <p:nvPr/>
        </p:nvSpPr>
        <p:spPr>
          <a:xfrm>
            <a:off x="658368" y="3785615"/>
            <a:ext cx="4572000" cy="182880"/>
          </a:xfrm>
          <a:prstGeom prst="rect">
            <a:avLst/>
          </a:prstGeom>
          <a:noFill/>
        </p:spPr>
        <p:txBody>
          <a:bodyPr wrap="square" anchor="t" lIns="0" rIns="0" tIns="0" bIns="0">
            <a:spAutoFit/>
          </a:bodyPr>
          <a:lstStyle/>
          <a:p>
            <a:pPr algn="l">
              <a:lnSpc>
                <a:spcPct val="100000"/>
              </a:lnSpc>
            </a:pPr>
            <a:r>
              <a:rPr sz="800" b="0">
                <a:solidFill>
                  <a:srgbClr val="8894A3"/>
                </a:solidFill>
                <a:latin typeface="Consolas"/>
              </a:rPr>
              <a:t>THE REPRESENTATIVE SCORECARD</a:t>
            </a:r>
          </a:p>
        </p:txBody>
      </p:sp>
      <p:sp>
        <p:nvSpPr>
          <p:cNvPr id="21" name="Rectangle 20"/>
          <p:cNvSpPr/>
          <p:nvPr/>
        </p:nvSpPr>
        <p:spPr>
          <a:xfrm>
            <a:off x="658368" y="4041648"/>
            <a:ext cx="5186019" cy="7315"/>
          </a:xfrm>
          <a:prstGeom prst="rect">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4123944"/>
            <a:ext cx="1691640" cy="182880"/>
          </a:xfrm>
          <a:prstGeom prst="rect">
            <a:avLst/>
          </a:prstGeom>
          <a:noFill/>
        </p:spPr>
        <p:txBody>
          <a:bodyPr wrap="square" anchor="t" lIns="0" rIns="0" tIns="0" bIns="0">
            <a:spAutoFit/>
          </a:bodyPr>
          <a:lstStyle/>
          <a:p>
            <a:pPr algn="l">
              <a:lnSpc>
                <a:spcPct val="100000"/>
              </a:lnSpc>
            </a:pPr>
            <a:r>
              <a:rPr sz="1000" b="1">
                <a:solidFill>
                  <a:srgbClr val="1A1D23"/>
                </a:solidFill>
                <a:latin typeface="Segoe UI"/>
              </a:rPr>
              <a:t>Satisfaction</a:t>
            </a:r>
          </a:p>
        </p:txBody>
      </p:sp>
      <p:sp>
        <p:nvSpPr>
          <p:cNvPr id="23" name="TextBox 22"/>
          <p:cNvSpPr txBox="1"/>
          <p:nvPr/>
        </p:nvSpPr>
        <p:spPr>
          <a:xfrm>
            <a:off x="2395728" y="4123944"/>
            <a:ext cx="3448659" cy="182880"/>
          </a:xfrm>
          <a:prstGeom prst="rect">
            <a:avLst/>
          </a:prstGeom>
          <a:noFill/>
        </p:spPr>
        <p:txBody>
          <a:bodyPr wrap="square" anchor="t" lIns="0" rIns="0" tIns="0" bIns="0">
            <a:spAutoFit/>
          </a:bodyPr>
          <a:lstStyle/>
          <a:p>
            <a:pPr algn="l">
              <a:lnSpc>
                <a:spcPct val="100000"/>
              </a:lnSpc>
            </a:pPr>
            <a:r>
              <a:rPr sz="1000" b="0">
                <a:solidFill>
                  <a:srgbClr val="55606E"/>
                </a:solidFill>
                <a:latin typeface="Segoe UI"/>
              </a:rPr>
              <a:t>How satisfied the consumer was</a:t>
            </a:r>
          </a:p>
        </p:txBody>
      </p:sp>
      <p:sp>
        <p:nvSpPr>
          <p:cNvPr id="24" name="Rectangle 23"/>
          <p:cNvSpPr/>
          <p:nvPr/>
        </p:nvSpPr>
        <p:spPr>
          <a:xfrm>
            <a:off x="658368" y="4343400"/>
            <a:ext cx="5186019" cy="7315"/>
          </a:xfrm>
          <a:prstGeom prst="rect">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4425696"/>
            <a:ext cx="1691640" cy="182880"/>
          </a:xfrm>
          <a:prstGeom prst="rect">
            <a:avLst/>
          </a:prstGeom>
          <a:noFill/>
        </p:spPr>
        <p:txBody>
          <a:bodyPr wrap="square" anchor="t" lIns="0" rIns="0" tIns="0" bIns="0">
            <a:spAutoFit/>
          </a:bodyPr>
          <a:lstStyle/>
          <a:p>
            <a:pPr algn="l">
              <a:lnSpc>
                <a:spcPct val="100000"/>
              </a:lnSpc>
            </a:pPr>
            <a:r>
              <a:rPr sz="1000" b="1">
                <a:solidFill>
                  <a:srgbClr val="1A1D23"/>
                </a:solidFill>
                <a:latin typeface="Segoe UI"/>
              </a:rPr>
              <a:t>Conversation quality</a:t>
            </a:r>
          </a:p>
        </p:txBody>
      </p:sp>
      <p:sp>
        <p:nvSpPr>
          <p:cNvPr id="26" name="TextBox 25"/>
          <p:cNvSpPr txBox="1"/>
          <p:nvPr/>
        </p:nvSpPr>
        <p:spPr>
          <a:xfrm>
            <a:off x="2395728" y="4425696"/>
            <a:ext cx="3448659" cy="182880"/>
          </a:xfrm>
          <a:prstGeom prst="rect">
            <a:avLst/>
          </a:prstGeom>
          <a:noFill/>
        </p:spPr>
        <p:txBody>
          <a:bodyPr wrap="square" anchor="t" lIns="0" rIns="0" tIns="0" bIns="0">
            <a:spAutoFit/>
          </a:bodyPr>
          <a:lstStyle/>
          <a:p>
            <a:pPr algn="l">
              <a:lnSpc>
                <a:spcPct val="100000"/>
              </a:lnSpc>
            </a:pPr>
            <a:r>
              <a:rPr sz="1000" b="0">
                <a:solidFill>
                  <a:srgbClr val="55606E"/>
                </a:solidFill>
                <a:latin typeface="Segoe UI"/>
              </a:rPr>
              <a:t>Conduct, across eight dimensions</a:t>
            </a:r>
          </a:p>
        </p:txBody>
      </p:sp>
      <p:sp>
        <p:nvSpPr>
          <p:cNvPr id="27" name="Rectangle 26"/>
          <p:cNvSpPr/>
          <p:nvPr/>
        </p:nvSpPr>
        <p:spPr>
          <a:xfrm>
            <a:off x="658368" y="4645152"/>
            <a:ext cx="5186019" cy="7315"/>
          </a:xfrm>
          <a:prstGeom prst="rect">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4727448"/>
            <a:ext cx="1691640" cy="182880"/>
          </a:xfrm>
          <a:prstGeom prst="rect">
            <a:avLst/>
          </a:prstGeom>
          <a:noFill/>
        </p:spPr>
        <p:txBody>
          <a:bodyPr wrap="square" anchor="t" lIns="0" rIns="0" tIns="0" bIns="0">
            <a:spAutoFit/>
          </a:bodyPr>
          <a:lstStyle/>
          <a:p>
            <a:pPr algn="l">
              <a:lnSpc>
                <a:spcPct val="100000"/>
              </a:lnSpc>
            </a:pPr>
            <a:r>
              <a:rPr sz="1000" b="1">
                <a:solidFill>
                  <a:srgbClr val="1A1D23"/>
                </a:solidFill>
                <a:latin typeface="Segoe UI"/>
              </a:rPr>
              <a:t>Consumer effort</a:t>
            </a:r>
          </a:p>
        </p:txBody>
      </p:sp>
      <p:sp>
        <p:nvSpPr>
          <p:cNvPr id="29" name="TextBox 28"/>
          <p:cNvSpPr txBox="1"/>
          <p:nvPr/>
        </p:nvSpPr>
        <p:spPr>
          <a:xfrm>
            <a:off x="2395728" y="4727448"/>
            <a:ext cx="3448659" cy="182880"/>
          </a:xfrm>
          <a:prstGeom prst="rect">
            <a:avLst/>
          </a:prstGeom>
          <a:noFill/>
        </p:spPr>
        <p:txBody>
          <a:bodyPr wrap="square" anchor="t" lIns="0" rIns="0" tIns="0" bIns="0">
            <a:spAutoFit/>
          </a:bodyPr>
          <a:lstStyle/>
          <a:p>
            <a:pPr algn="l">
              <a:lnSpc>
                <a:spcPct val="100000"/>
              </a:lnSpc>
            </a:pPr>
            <a:r>
              <a:rPr sz="1000" b="0">
                <a:solidFill>
                  <a:srgbClr val="55606E"/>
                </a:solidFill>
                <a:latin typeface="Segoe UI"/>
              </a:rPr>
              <a:t>How hard they had to work to be helped</a:t>
            </a:r>
          </a:p>
        </p:txBody>
      </p:sp>
      <p:sp>
        <p:nvSpPr>
          <p:cNvPr id="30" name="Rectangle 29"/>
          <p:cNvSpPr/>
          <p:nvPr/>
        </p:nvSpPr>
        <p:spPr>
          <a:xfrm>
            <a:off x="658368" y="4946904"/>
            <a:ext cx="5186019" cy="7315"/>
          </a:xfrm>
          <a:prstGeom prst="rect">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5029200"/>
            <a:ext cx="1691640" cy="182880"/>
          </a:xfrm>
          <a:prstGeom prst="rect">
            <a:avLst/>
          </a:prstGeom>
          <a:noFill/>
        </p:spPr>
        <p:txBody>
          <a:bodyPr wrap="square" anchor="t" lIns="0" rIns="0" tIns="0" bIns="0">
            <a:spAutoFit/>
          </a:bodyPr>
          <a:lstStyle/>
          <a:p>
            <a:pPr algn="l">
              <a:lnSpc>
                <a:spcPct val="100000"/>
              </a:lnSpc>
            </a:pPr>
            <a:r>
              <a:rPr sz="1000" b="1">
                <a:solidFill>
                  <a:srgbClr val="1A1D23"/>
                </a:solidFill>
                <a:latin typeface="Segoe UI"/>
              </a:rPr>
              <a:t>Escalation risk</a:t>
            </a:r>
          </a:p>
        </p:txBody>
      </p:sp>
      <p:sp>
        <p:nvSpPr>
          <p:cNvPr id="32" name="TextBox 31"/>
          <p:cNvSpPr txBox="1"/>
          <p:nvPr/>
        </p:nvSpPr>
        <p:spPr>
          <a:xfrm>
            <a:off x="2395728" y="5029200"/>
            <a:ext cx="3448659" cy="182880"/>
          </a:xfrm>
          <a:prstGeom prst="rect">
            <a:avLst/>
          </a:prstGeom>
          <a:noFill/>
        </p:spPr>
        <p:txBody>
          <a:bodyPr wrap="square" anchor="t" lIns="0" rIns="0" tIns="0" bIns="0">
            <a:spAutoFit/>
          </a:bodyPr>
          <a:lstStyle/>
          <a:p>
            <a:pPr algn="l">
              <a:lnSpc>
                <a:spcPct val="100000"/>
              </a:lnSpc>
            </a:pPr>
            <a:r>
              <a:rPr sz="1000" b="0">
                <a:solidFill>
                  <a:srgbClr val="55606E"/>
                </a:solidFill>
                <a:latin typeface="Segoe UI"/>
              </a:rPr>
              <a:t>Churn or escalation risk on the call</a:t>
            </a:r>
          </a:p>
        </p:txBody>
      </p:sp>
      <p:sp>
        <p:nvSpPr>
          <p:cNvPr id="33" name="Rectangle 32"/>
          <p:cNvSpPr/>
          <p:nvPr/>
        </p:nvSpPr>
        <p:spPr>
          <a:xfrm>
            <a:off x="658368" y="5248656"/>
            <a:ext cx="5186019" cy="7315"/>
          </a:xfrm>
          <a:prstGeom prst="rect">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5330952"/>
            <a:ext cx="1691640" cy="182880"/>
          </a:xfrm>
          <a:prstGeom prst="rect">
            <a:avLst/>
          </a:prstGeom>
          <a:noFill/>
        </p:spPr>
        <p:txBody>
          <a:bodyPr wrap="square" anchor="t" lIns="0" rIns="0" tIns="0" bIns="0">
            <a:spAutoFit/>
          </a:bodyPr>
          <a:lstStyle/>
          <a:p>
            <a:pPr algn="l">
              <a:lnSpc>
                <a:spcPct val="100000"/>
              </a:lnSpc>
            </a:pPr>
            <a:r>
              <a:rPr sz="1000" b="1">
                <a:solidFill>
                  <a:srgbClr val="1A1D23"/>
                </a:solidFill>
                <a:latin typeface="Segoe UI"/>
              </a:rPr>
              <a:t>Tone</a:t>
            </a:r>
          </a:p>
        </p:txBody>
      </p:sp>
      <p:sp>
        <p:nvSpPr>
          <p:cNvPr id="35" name="TextBox 34"/>
          <p:cNvSpPr txBox="1"/>
          <p:nvPr/>
        </p:nvSpPr>
        <p:spPr>
          <a:xfrm>
            <a:off x="2395728" y="5330952"/>
            <a:ext cx="3448659" cy="182880"/>
          </a:xfrm>
          <a:prstGeom prst="rect">
            <a:avLst/>
          </a:prstGeom>
          <a:noFill/>
        </p:spPr>
        <p:txBody>
          <a:bodyPr wrap="square" anchor="t" lIns="0" rIns="0" tIns="0" bIns="0">
            <a:spAutoFit/>
          </a:bodyPr>
          <a:lstStyle/>
          <a:p>
            <a:pPr algn="l">
              <a:lnSpc>
                <a:spcPct val="100000"/>
              </a:lnSpc>
            </a:pPr>
            <a:r>
              <a:rPr sz="1000" b="0">
                <a:solidFill>
                  <a:srgbClr val="55606E"/>
                </a:solidFill>
                <a:latin typeface="Segoe UI"/>
              </a:rPr>
              <a:t>Empathetic · professional · impatient · rude</a:t>
            </a:r>
          </a:p>
        </p:txBody>
      </p:sp>
      <p:sp>
        <p:nvSpPr>
          <p:cNvPr id="36" name="Rectangle 35"/>
          <p:cNvSpPr/>
          <p:nvPr/>
        </p:nvSpPr>
        <p:spPr>
          <a:xfrm>
            <a:off x="658368" y="5550408"/>
            <a:ext cx="5186019" cy="7315"/>
          </a:xfrm>
          <a:prstGeom prst="rect">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5632704"/>
            <a:ext cx="1691640" cy="182880"/>
          </a:xfrm>
          <a:prstGeom prst="rect">
            <a:avLst/>
          </a:prstGeom>
          <a:noFill/>
        </p:spPr>
        <p:txBody>
          <a:bodyPr wrap="square" anchor="t" lIns="0" rIns="0" tIns="0" bIns="0">
            <a:spAutoFit/>
          </a:bodyPr>
          <a:lstStyle/>
          <a:p>
            <a:pPr algn="l">
              <a:lnSpc>
                <a:spcPct val="100000"/>
              </a:lnSpc>
            </a:pPr>
            <a:r>
              <a:rPr sz="1000" b="1">
                <a:solidFill>
                  <a:srgbClr val="1A1D23"/>
                </a:solidFill>
                <a:latin typeface="Segoe UI"/>
              </a:rPr>
              <a:t>Greeting</a:t>
            </a:r>
          </a:p>
        </p:txBody>
      </p:sp>
      <p:sp>
        <p:nvSpPr>
          <p:cNvPr id="38" name="TextBox 37"/>
          <p:cNvSpPr txBox="1"/>
          <p:nvPr/>
        </p:nvSpPr>
        <p:spPr>
          <a:xfrm>
            <a:off x="2395728" y="5632704"/>
            <a:ext cx="3448659" cy="182880"/>
          </a:xfrm>
          <a:prstGeom prst="rect">
            <a:avLst/>
          </a:prstGeom>
          <a:noFill/>
        </p:spPr>
        <p:txBody>
          <a:bodyPr wrap="square" anchor="t" lIns="0" rIns="0" tIns="0" bIns="0">
            <a:spAutoFit/>
          </a:bodyPr>
          <a:lstStyle/>
          <a:p>
            <a:pPr algn="l">
              <a:lnSpc>
                <a:spcPct val="100000"/>
              </a:lnSpc>
            </a:pPr>
            <a:r>
              <a:rPr sz="1000" b="0">
                <a:solidFill>
                  <a:srgbClr val="55606E"/>
                </a:solidFill>
                <a:latin typeface="Segoe UI"/>
              </a:rPr>
              <a:t>Whether a proper greeting was given</a:t>
            </a:r>
          </a:p>
        </p:txBody>
      </p:sp>
      <p:sp>
        <p:nvSpPr>
          <p:cNvPr id="39" name="Rectangle 38"/>
          <p:cNvSpPr/>
          <p:nvPr/>
        </p:nvSpPr>
        <p:spPr>
          <a:xfrm>
            <a:off x="658368" y="5852160"/>
            <a:ext cx="5186019" cy="7315"/>
          </a:xfrm>
          <a:prstGeom prst="rect">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 y="5934456"/>
            <a:ext cx="1691640" cy="182880"/>
          </a:xfrm>
          <a:prstGeom prst="rect">
            <a:avLst/>
          </a:prstGeom>
          <a:noFill/>
        </p:spPr>
        <p:txBody>
          <a:bodyPr wrap="square" anchor="t" lIns="0" rIns="0" tIns="0" bIns="0">
            <a:spAutoFit/>
          </a:bodyPr>
          <a:lstStyle/>
          <a:p>
            <a:pPr algn="l">
              <a:lnSpc>
                <a:spcPct val="100000"/>
              </a:lnSpc>
            </a:pPr>
            <a:r>
              <a:rPr sz="1000" b="1">
                <a:solidFill>
                  <a:srgbClr val="1A1D23"/>
                </a:solidFill>
                <a:latin typeface="Segoe UI"/>
              </a:rPr>
              <a:t>Containment</a:t>
            </a:r>
          </a:p>
        </p:txBody>
      </p:sp>
      <p:sp>
        <p:nvSpPr>
          <p:cNvPr id="41" name="TextBox 40"/>
          <p:cNvSpPr txBox="1"/>
          <p:nvPr/>
        </p:nvSpPr>
        <p:spPr>
          <a:xfrm>
            <a:off x="2395728" y="5934456"/>
            <a:ext cx="3448659" cy="182880"/>
          </a:xfrm>
          <a:prstGeom prst="rect">
            <a:avLst/>
          </a:prstGeom>
          <a:noFill/>
        </p:spPr>
        <p:txBody>
          <a:bodyPr wrap="square" anchor="t" lIns="0" rIns="0" tIns="0" bIns="0">
            <a:spAutoFit/>
          </a:bodyPr>
          <a:lstStyle/>
          <a:p>
            <a:pPr algn="l">
              <a:lnSpc>
                <a:spcPct val="100000"/>
              </a:lnSpc>
            </a:pPr>
            <a:r>
              <a:rPr sz="1000" b="0">
                <a:solidFill>
                  <a:srgbClr val="55606E"/>
                </a:solidFill>
                <a:latin typeface="Segoe UI"/>
              </a:rPr>
              <a:t>Issue held and handled, not deflected</a:t>
            </a:r>
          </a:p>
        </p:txBody>
      </p:sp>
      <p:sp>
        <p:nvSpPr>
          <p:cNvPr id="42" name="Rectangle 41"/>
          <p:cNvSpPr/>
          <p:nvPr/>
        </p:nvSpPr>
        <p:spPr>
          <a:xfrm>
            <a:off x="658368" y="6153912"/>
            <a:ext cx="5186019" cy="7315"/>
          </a:xfrm>
          <a:prstGeom prst="rect">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8368" y="6236208"/>
            <a:ext cx="1691640" cy="182880"/>
          </a:xfrm>
          <a:prstGeom prst="rect">
            <a:avLst/>
          </a:prstGeom>
          <a:noFill/>
        </p:spPr>
        <p:txBody>
          <a:bodyPr wrap="square" anchor="t" lIns="0" rIns="0" tIns="0" bIns="0">
            <a:spAutoFit/>
          </a:bodyPr>
          <a:lstStyle/>
          <a:p>
            <a:pPr algn="l">
              <a:lnSpc>
                <a:spcPct val="100000"/>
              </a:lnSpc>
            </a:pPr>
            <a:r>
              <a:rPr sz="1000" b="1">
                <a:solidFill>
                  <a:srgbClr val="1A1D23"/>
                </a:solidFill>
                <a:latin typeface="Segoe UI"/>
              </a:rPr>
              <a:t>Consumer sentiment</a:t>
            </a:r>
          </a:p>
        </p:txBody>
      </p:sp>
      <p:sp>
        <p:nvSpPr>
          <p:cNvPr id="44" name="TextBox 43"/>
          <p:cNvSpPr txBox="1"/>
          <p:nvPr/>
        </p:nvSpPr>
        <p:spPr>
          <a:xfrm>
            <a:off x="2395728" y="6236208"/>
            <a:ext cx="3448659" cy="182880"/>
          </a:xfrm>
          <a:prstGeom prst="rect">
            <a:avLst/>
          </a:prstGeom>
          <a:noFill/>
        </p:spPr>
        <p:txBody>
          <a:bodyPr wrap="square" anchor="t" lIns="0" rIns="0" tIns="0" bIns="0">
            <a:spAutoFit/>
          </a:bodyPr>
          <a:lstStyle/>
          <a:p>
            <a:pPr algn="l">
              <a:lnSpc>
                <a:spcPct val="100000"/>
              </a:lnSpc>
            </a:pPr>
            <a:r>
              <a:rPr sz="1000" b="0">
                <a:solidFill>
                  <a:srgbClr val="55606E"/>
                </a:solidFill>
                <a:latin typeface="Segoe UI"/>
              </a:rPr>
              <a:t>Positive · neutral · negative · angry</a:t>
            </a:r>
          </a:p>
        </p:txBody>
      </p:sp>
      <p:sp>
        <p:nvSpPr>
          <p:cNvPr id="45" name="Rectangle 44"/>
          <p:cNvSpPr/>
          <p:nvPr/>
        </p:nvSpPr>
        <p:spPr>
          <a:xfrm>
            <a:off x="658368" y="6455664"/>
            <a:ext cx="5186019" cy="7315"/>
          </a:xfrm>
          <a:prstGeom prst="rect">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47307" y="3785615"/>
            <a:ext cx="4572000" cy="182880"/>
          </a:xfrm>
          <a:prstGeom prst="rect">
            <a:avLst/>
          </a:prstGeom>
          <a:noFill/>
        </p:spPr>
        <p:txBody>
          <a:bodyPr wrap="square" anchor="t" lIns="0" rIns="0" tIns="0" bIns="0">
            <a:spAutoFit/>
          </a:bodyPr>
          <a:lstStyle/>
          <a:p>
            <a:pPr algn="l">
              <a:lnSpc>
                <a:spcPct val="100000"/>
              </a:lnSpc>
            </a:pPr>
            <a:r>
              <a:rPr sz="800" b="0">
                <a:solidFill>
                  <a:srgbClr val="8894A3"/>
                </a:solidFill>
                <a:latin typeface="Consolas"/>
              </a:rPr>
              <a:t>EVERYTHING LANDS AS CHARTS, NOT RECORDS</a:t>
            </a:r>
          </a:p>
        </p:txBody>
      </p:sp>
      <p:sp>
        <p:nvSpPr>
          <p:cNvPr id="47" name="Rounded Rectangle 46"/>
          <p:cNvSpPr/>
          <p:nvPr/>
        </p:nvSpPr>
        <p:spPr>
          <a:xfrm>
            <a:off x="6347307" y="4041648"/>
            <a:ext cx="5186019" cy="713232"/>
          </a:xfrm>
          <a:prstGeom prst="roundRect">
            <a:avLst>
              <a:gd name="adj" fmla="val 4500"/>
            </a:avLst>
          </a:prstGeom>
          <a:solidFill>
            <a:srgbClr val="FFFFF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85051" y="4242816"/>
            <a:ext cx="4728819" cy="274320"/>
          </a:xfrm>
          <a:prstGeom prst="rect">
            <a:avLst/>
          </a:prstGeom>
          <a:noFill/>
        </p:spPr>
        <p:txBody>
          <a:bodyPr wrap="square" anchor="t" lIns="0" rIns="0" tIns="0" bIns="0">
            <a:spAutoFit/>
          </a:bodyPr>
          <a:lstStyle/>
          <a:p>
            <a:pPr algn="l">
              <a:lnSpc>
                <a:spcPct val="110000"/>
              </a:lnSpc>
            </a:pPr>
            <a:r>
              <a:rPr sz="1200" b="1">
                <a:solidFill>
                  <a:srgbClr val="1A1D23"/>
                </a:solidFill>
                <a:latin typeface="Segoe UI"/>
              </a:rPr>
              <a:t>Volume &amp; coverage</a:t>
            </a:r>
          </a:p>
        </p:txBody>
      </p:sp>
      <p:sp>
        <p:nvSpPr>
          <p:cNvPr id="49" name="TextBox 48"/>
          <p:cNvSpPr txBox="1"/>
          <p:nvPr/>
        </p:nvSpPr>
        <p:spPr>
          <a:xfrm>
            <a:off x="6585051" y="4553712"/>
            <a:ext cx="4728819" cy="18288"/>
          </a:xfrm>
          <a:prstGeom prst="rect">
            <a:avLst/>
          </a:prstGeom>
          <a:noFill/>
        </p:spPr>
        <p:txBody>
          <a:bodyPr wrap="square" anchor="t" lIns="0" rIns="0" tIns="0" bIns="0">
            <a:spAutoFit/>
          </a:bodyPr>
          <a:lstStyle/>
          <a:p>
            <a:pPr algn="l">
              <a:lnSpc>
                <a:spcPct val="130000"/>
              </a:lnSpc>
            </a:pPr>
            <a:r>
              <a:rPr sz="1050" b="0">
                <a:solidFill>
                  <a:srgbClr val="55606E"/>
                </a:solidFill>
                <a:latin typeface="Segoe UI"/>
              </a:rPr>
              <a:t>Calls by office, who answered what, and coverage by hour and by day of week.</a:t>
            </a:r>
          </a:p>
        </p:txBody>
      </p:sp>
      <p:sp>
        <p:nvSpPr>
          <p:cNvPr id="50" name="Rounded Rectangle 49"/>
          <p:cNvSpPr/>
          <p:nvPr/>
        </p:nvSpPr>
        <p:spPr>
          <a:xfrm>
            <a:off x="6347307" y="4864608"/>
            <a:ext cx="5186019" cy="713232"/>
          </a:xfrm>
          <a:prstGeom prst="roundRect">
            <a:avLst>
              <a:gd name="adj" fmla="val 4500"/>
            </a:avLst>
          </a:prstGeom>
          <a:solidFill>
            <a:srgbClr val="FFFFF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85051" y="5065776"/>
            <a:ext cx="4728819" cy="274320"/>
          </a:xfrm>
          <a:prstGeom prst="rect">
            <a:avLst/>
          </a:prstGeom>
          <a:noFill/>
        </p:spPr>
        <p:txBody>
          <a:bodyPr wrap="square" anchor="t" lIns="0" rIns="0" tIns="0" bIns="0">
            <a:spAutoFit/>
          </a:bodyPr>
          <a:lstStyle/>
          <a:p>
            <a:pPr algn="l">
              <a:lnSpc>
                <a:spcPct val="110000"/>
              </a:lnSpc>
            </a:pPr>
            <a:r>
              <a:rPr sz="1200" b="1">
                <a:solidFill>
                  <a:srgbClr val="1A1D23"/>
                </a:solidFill>
                <a:latin typeface="Segoe UI"/>
              </a:rPr>
              <a:t>Issue intelligence</a:t>
            </a:r>
          </a:p>
        </p:txBody>
      </p:sp>
      <p:sp>
        <p:nvSpPr>
          <p:cNvPr id="52" name="TextBox 51"/>
          <p:cNvSpPr txBox="1"/>
          <p:nvPr/>
        </p:nvSpPr>
        <p:spPr>
          <a:xfrm>
            <a:off x="6585051" y="5376672"/>
            <a:ext cx="4728819" cy="18288"/>
          </a:xfrm>
          <a:prstGeom prst="rect">
            <a:avLst/>
          </a:prstGeom>
          <a:noFill/>
        </p:spPr>
        <p:txBody>
          <a:bodyPr wrap="square" anchor="t" lIns="0" rIns="0" tIns="0" bIns="0">
            <a:spAutoFit/>
          </a:bodyPr>
          <a:lstStyle/>
          <a:p>
            <a:pPr algn="l">
              <a:lnSpc>
                <a:spcPct val="130000"/>
              </a:lnSpc>
            </a:pPr>
            <a:r>
              <a:rPr sz="1050" b="0">
                <a:solidFill>
                  <a:srgbClr val="55606E"/>
                </a:solidFill>
                <a:latin typeface="Segoe UI"/>
              </a:rPr>
              <a:t>Issue mix by area and district, complaint throughput, and sentiment trends over time.</a:t>
            </a:r>
          </a:p>
        </p:txBody>
      </p:sp>
      <p:sp>
        <p:nvSpPr>
          <p:cNvPr id="53" name="Rounded Rectangle 52"/>
          <p:cNvSpPr/>
          <p:nvPr/>
        </p:nvSpPr>
        <p:spPr>
          <a:xfrm>
            <a:off x="6347307" y="5687568"/>
            <a:ext cx="5186019" cy="713232"/>
          </a:xfrm>
          <a:prstGeom prst="roundRect">
            <a:avLst>
              <a:gd name="adj" fmla="val 4500"/>
            </a:avLst>
          </a:prstGeom>
          <a:solidFill>
            <a:srgbClr val="FFFFF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585051" y="5888736"/>
            <a:ext cx="4728819" cy="274320"/>
          </a:xfrm>
          <a:prstGeom prst="rect">
            <a:avLst/>
          </a:prstGeom>
          <a:noFill/>
        </p:spPr>
        <p:txBody>
          <a:bodyPr wrap="square" anchor="t" lIns="0" rIns="0" tIns="0" bIns="0">
            <a:spAutoFit/>
          </a:bodyPr>
          <a:lstStyle/>
          <a:p>
            <a:pPr algn="l">
              <a:lnSpc>
                <a:spcPct val="110000"/>
              </a:lnSpc>
            </a:pPr>
            <a:r>
              <a:rPr sz="1200" b="1">
                <a:solidFill>
                  <a:srgbClr val="1A1D23"/>
                </a:solidFill>
                <a:latin typeface="Segoe UI"/>
              </a:rPr>
              <a:t>Performance</a:t>
            </a:r>
          </a:p>
        </p:txBody>
      </p:sp>
      <p:sp>
        <p:nvSpPr>
          <p:cNvPr id="55" name="TextBox 54"/>
          <p:cNvSpPr txBox="1"/>
          <p:nvPr/>
        </p:nvSpPr>
        <p:spPr>
          <a:xfrm>
            <a:off x="6585051" y="6199631"/>
            <a:ext cx="4728819" cy="18288"/>
          </a:xfrm>
          <a:prstGeom prst="rect">
            <a:avLst/>
          </a:prstGeom>
          <a:noFill/>
        </p:spPr>
        <p:txBody>
          <a:bodyPr wrap="square" anchor="t" lIns="0" rIns="0" tIns="0" bIns="0">
            <a:spAutoFit/>
          </a:bodyPr>
          <a:lstStyle/>
          <a:p>
            <a:pPr algn="l">
              <a:lnSpc>
                <a:spcPct val="130000"/>
              </a:lnSpc>
            </a:pPr>
            <a:r>
              <a:rPr sz="1050" b="0">
                <a:solidFill>
                  <a:srgbClr val="55606E"/>
                </a:solidFill>
                <a:latin typeface="Segoe UI"/>
              </a:rPr>
              <a:t>Representative scores per office, side by side with AI handling — compared, never merged.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10896"/>
            <a:ext cx="3657600" cy="182880"/>
          </a:xfrm>
          <a:prstGeom prst="rect">
            <a:avLst/>
          </a:prstGeom>
          <a:noFill/>
        </p:spPr>
        <p:txBody>
          <a:bodyPr wrap="square" anchor="t" lIns="0" rIns="0" tIns="0" bIns="0">
            <a:spAutoFit/>
          </a:bodyPr>
          <a:lstStyle/>
          <a:p>
            <a:pPr algn="l">
              <a:lnSpc>
                <a:spcPct val="100000"/>
              </a:lnSpc>
            </a:pPr>
            <a:r>
              <a:rPr sz="850" b="0">
                <a:solidFill>
                  <a:srgbClr val="8894A3"/>
                </a:solidFill>
                <a:latin typeface="Consolas"/>
              </a:rPr>
              <a:t>VOICEOWL </a:t>
            </a:r>
            <a:r>
              <a:rPr sz="850" b="0">
                <a:solidFill>
                  <a:srgbClr val="E8551F"/>
                </a:solidFill>
                <a:latin typeface="Consolas"/>
              </a:rPr>
              <a:t>x</a:t>
            </a:r>
            <a:r>
              <a:rPr sz="850" b="0">
                <a:solidFill>
                  <a:srgbClr val="8894A3"/>
                </a:solidFill>
                <a:latin typeface="Consolas"/>
              </a:rPr>
              <a:t> BHARAT GAS</a:t>
            </a:r>
          </a:p>
        </p:txBody>
      </p:sp>
      <p:sp>
        <p:nvSpPr>
          <p:cNvPr id="4" name="TextBox 3"/>
          <p:cNvSpPr txBox="1"/>
          <p:nvPr/>
        </p:nvSpPr>
        <p:spPr>
          <a:xfrm>
            <a:off x="10436047" y="310896"/>
            <a:ext cx="1097280" cy="182880"/>
          </a:xfrm>
          <a:prstGeom prst="rect">
            <a:avLst/>
          </a:prstGeom>
          <a:noFill/>
        </p:spPr>
        <p:txBody>
          <a:bodyPr wrap="square" anchor="t" lIns="0" rIns="0" tIns="0" bIns="0">
            <a:spAutoFit/>
          </a:bodyPr>
          <a:lstStyle/>
          <a:p>
            <a:pPr algn="r">
              <a:lnSpc>
                <a:spcPct val="100000"/>
              </a:lnSpc>
            </a:pPr>
            <a:r>
              <a:rPr sz="850" b="0">
                <a:solidFill>
                  <a:srgbClr val="8894A3"/>
                </a:solidFill>
                <a:latin typeface="Consolas"/>
              </a:rPr>
              <a:t>06 / 10</a:t>
            </a:r>
          </a:p>
        </p:txBody>
      </p:sp>
      <p:sp>
        <p:nvSpPr>
          <p:cNvPr id="5" name="Rounded Rectangle 4"/>
          <p:cNvSpPr/>
          <p:nvPr/>
        </p:nvSpPr>
        <p:spPr>
          <a:xfrm>
            <a:off x="658368" y="713232"/>
            <a:ext cx="384048" cy="219456"/>
          </a:xfrm>
          <a:prstGeom prst="roundRect">
            <a:avLst>
              <a:gd name="adj" fmla="val 50000"/>
            </a:avLst>
          </a:prstGeom>
          <a:solidFill>
            <a:srgbClr val="FDF0EA"/>
          </a:solidFill>
          <a:ln w="9525">
            <a:solidFill>
              <a:srgbClr val="E85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745236"/>
            <a:ext cx="384048" cy="182880"/>
          </a:xfrm>
          <a:prstGeom prst="rect">
            <a:avLst/>
          </a:prstGeom>
          <a:noFill/>
        </p:spPr>
        <p:txBody>
          <a:bodyPr wrap="square" anchor="t" lIns="0" rIns="0" tIns="0" bIns="0">
            <a:spAutoFit/>
          </a:bodyPr>
          <a:lstStyle/>
          <a:p>
            <a:pPr algn="ctr">
              <a:lnSpc>
                <a:spcPct val="100000"/>
              </a:lnSpc>
            </a:pPr>
            <a:r>
              <a:rPr sz="900" b="0">
                <a:solidFill>
                  <a:srgbClr val="E8551F"/>
                </a:solidFill>
                <a:latin typeface="Consolas"/>
              </a:rPr>
              <a:t>06</a:t>
            </a:r>
          </a:p>
        </p:txBody>
      </p:sp>
      <p:sp>
        <p:nvSpPr>
          <p:cNvPr id="7" name="TextBox 6"/>
          <p:cNvSpPr txBox="1"/>
          <p:nvPr/>
        </p:nvSpPr>
        <p:spPr>
          <a:xfrm>
            <a:off x="1161288" y="749808"/>
            <a:ext cx="5486400" cy="182880"/>
          </a:xfrm>
          <a:prstGeom prst="rect">
            <a:avLst/>
          </a:prstGeom>
          <a:noFill/>
        </p:spPr>
        <p:txBody>
          <a:bodyPr wrap="square" anchor="t" lIns="0" rIns="0" tIns="0" bIns="0">
            <a:spAutoFit/>
          </a:bodyPr>
          <a:lstStyle/>
          <a:p>
            <a:pPr algn="l">
              <a:lnSpc>
                <a:spcPct val="100000"/>
              </a:lnSpc>
            </a:pPr>
            <a:r>
              <a:rPr sz="900" b="0">
                <a:solidFill>
                  <a:srgbClr val="8894A3"/>
                </a:solidFill>
                <a:latin typeface="Consolas"/>
              </a:rPr>
              <a:t>INSIDE THE AGENT</a:t>
            </a:r>
          </a:p>
        </p:txBody>
      </p:sp>
      <p:sp>
        <p:nvSpPr>
          <p:cNvPr id="8" name="TextBox 7"/>
          <p:cNvSpPr txBox="1"/>
          <p:nvPr/>
        </p:nvSpPr>
        <p:spPr>
          <a:xfrm>
            <a:off x="658368" y="1051560"/>
            <a:ext cx="10874959" cy="822960"/>
          </a:xfrm>
          <a:prstGeom prst="rect">
            <a:avLst/>
          </a:prstGeom>
          <a:noFill/>
        </p:spPr>
        <p:txBody>
          <a:bodyPr wrap="square" anchor="t" lIns="0" rIns="0" tIns="0" bIns="0">
            <a:spAutoFit/>
          </a:bodyPr>
          <a:lstStyle/>
          <a:p>
            <a:pPr algn="l">
              <a:lnSpc>
                <a:spcPct val="106000"/>
              </a:lnSpc>
            </a:pPr>
            <a:r>
              <a:rPr sz="3000" b="1">
                <a:solidFill>
                  <a:srgbClr val="1A1D23"/>
                </a:solidFill>
                <a:latin typeface="Segoe UI"/>
              </a:rPr>
              <a:t>One triage point, thirteen specialists, one unbroken conversation</a:t>
            </a:r>
          </a:p>
        </p:txBody>
      </p:sp>
      <p:sp>
        <p:nvSpPr>
          <p:cNvPr id="9" name="TextBox 8"/>
          <p:cNvSpPr txBox="1"/>
          <p:nvPr/>
        </p:nvSpPr>
        <p:spPr>
          <a:xfrm>
            <a:off x="658368" y="1691640"/>
            <a:ext cx="10509199" cy="731520"/>
          </a:xfrm>
          <a:prstGeom prst="rect">
            <a:avLst/>
          </a:prstGeom>
          <a:noFill/>
        </p:spPr>
        <p:txBody>
          <a:bodyPr wrap="square" anchor="t" lIns="0" rIns="0" tIns="0" bIns="0">
            <a:spAutoFit/>
          </a:bodyPr>
          <a:lstStyle/>
          <a:p>
            <a:pPr algn="l">
              <a:lnSpc>
                <a:spcPct val="132000"/>
              </a:lnSpc>
            </a:pPr>
            <a:r>
              <a:rPr sz="1200" b="0">
                <a:solidFill>
                  <a:srgbClr val="55606E"/>
                </a:solidFill>
                <a:latin typeface="Segoe UI"/>
              </a:rPr>
              <a:t>A triage agent identifies what the caller needs, then hands silently to the right specialist — booking, delivery, payment, subsidy, connection services, new connections, or general enquiries and complaints — plus a dedicated emergency agent. </a:t>
            </a:r>
            <a:r>
              <a:rPr sz="1200" b="1">
                <a:solidFill>
                  <a:srgbClr val="1A1D23"/>
                </a:solidFill>
                <a:latin typeface="Segoe UI"/>
              </a:rPr>
              <a:t>Handovers are invisible:</a:t>
            </a:r>
            <a:r>
              <a:rPr sz="1200" b="0">
                <a:solidFill>
                  <a:srgbClr val="55606E"/>
                </a:solidFill>
                <a:latin typeface="Segoe UI"/>
              </a:rPr>
              <a:t> the agent never refers to teams, departments, transfers or other systems.</a:t>
            </a:r>
          </a:p>
        </p:txBody>
      </p:sp>
      <p:sp>
        <p:nvSpPr>
          <p:cNvPr id="10" name="TextBox 9"/>
          <p:cNvSpPr txBox="1"/>
          <p:nvPr/>
        </p:nvSpPr>
        <p:spPr>
          <a:xfrm>
            <a:off x="658368" y="2615184"/>
            <a:ext cx="5486400" cy="274320"/>
          </a:xfrm>
          <a:prstGeom prst="rect">
            <a:avLst/>
          </a:prstGeom>
          <a:noFill/>
        </p:spPr>
        <p:txBody>
          <a:bodyPr wrap="square" anchor="t" lIns="0" rIns="0" tIns="0" bIns="0">
            <a:spAutoFit/>
          </a:bodyPr>
          <a:lstStyle/>
          <a:p>
            <a:pPr algn="l">
              <a:lnSpc>
                <a:spcPct val="100000"/>
              </a:lnSpc>
            </a:pPr>
            <a:r>
              <a:rPr sz="1500" b="1">
                <a:solidFill>
                  <a:srgbClr val="1A1D23"/>
                </a:solidFill>
                <a:latin typeface="Segoe UI"/>
              </a:rPr>
              <a:t>A person is the last step, never the first</a:t>
            </a:r>
          </a:p>
        </p:txBody>
      </p:sp>
      <p:sp>
        <p:nvSpPr>
          <p:cNvPr id="11" name="Rounded Rectangle 10"/>
          <p:cNvSpPr/>
          <p:nvPr/>
        </p:nvSpPr>
        <p:spPr>
          <a:xfrm>
            <a:off x="658368" y="3017520"/>
            <a:ext cx="2718739" cy="960120"/>
          </a:xfrm>
          <a:prstGeom prst="roundRect">
            <a:avLst>
              <a:gd name="adj" fmla="val 4500"/>
            </a:avLst>
          </a:prstGeom>
          <a:solidFill>
            <a:srgbClr val="FFFFF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3145536"/>
            <a:ext cx="2316403" cy="146304"/>
          </a:xfrm>
          <a:prstGeom prst="rect">
            <a:avLst/>
          </a:prstGeom>
          <a:noFill/>
        </p:spPr>
        <p:txBody>
          <a:bodyPr wrap="square" anchor="t" lIns="0" rIns="0" tIns="0" bIns="0">
            <a:spAutoFit/>
          </a:bodyPr>
          <a:lstStyle/>
          <a:p>
            <a:pPr algn="l">
              <a:lnSpc>
                <a:spcPct val="100000"/>
              </a:lnSpc>
            </a:pPr>
            <a:r>
              <a:rPr sz="750" b="0">
                <a:solidFill>
                  <a:srgbClr val="8894A3"/>
                </a:solidFill>
                <a:latin typeface="Consolas"/>
              </a:rPr>
              <a:t>STEP 01</a:t>
            </a:r>
          </a:p>
        </p:txBody>
      </p:sp>
      <p:sp>
        <p:nvSpPr>
          <p:cNvPr id="13" name="TextBox 12"/>
          <p:cNvSpPr txBox="1"/>
          <p:nvPr/>
        </p:nvSpPr>
        <p:spPr>
          <a:xfrm>
            <a:off x="859536" y="3328416"/>
            <a:ext cx="2316403" cy="219456"/>
          </a:xfrm>
          <a:prstGeom prst="rect">
            <a:avLst/>
          </a:prstGeom>
          <a:noFill/>
        </p:spPr>
        <p:txBody>
          <a:bodyPr wrap="square" anchor="t" lIns="0" rIns="0" tIns="0" bIns="0">
            <a:spAutoFit/>
          </a:bodyPr>
          <a:lstStyle/>
          <a:p>
            <a:pPr algn="l">
              <a:lnSpc>
                <a:spcPct val="100000"/>
              </a:lnSpc>
            </a:pPr>
            <a:r>
              <a:rPr sz="1300" b="1">
                <a:solidFill>
                  <a:srgbClr val="1A1D23"/>
                </a:solidFill>
                <a:latin typeface="Segoe UI"/>
              </a:rPr>
              <a:t>Resolve</a:t>
            </a:r>
          </a:p>
        </p:txBody>
      </p:sp>
      <p:sp>
        <p:nvSpPr>
          <p:cNvPr id="14" name="TextBox 13"/>
          <p:cNvSpPr txBox="1"/>
          <p:nvPr/>
        </p:nvSpPr>
        <p:spPr>
          <a:xfrm>
            <a:off x="859536" y="3584448"/>
            <a:ext cx="2316403" cy="365760"/>
          </a:xfrm>
          <a:prstGeom prst="rect">
            <a:avLst/>
          </a:prstGeom>
          <a:noFill/>
        </p:spPr>
        <p:txBody>
          <a:bodyPr wrap="square" anchor="t" lIns="0" rIns="0" tIns="0" bIns="0">
            <a:spAutoFit/>
          </a:bodyPr>
          <a:lstStyle/>
          <a:p>
            <a:pPr algn="l">
              <a:lnSpc>
                <a:spcPct val="122000"/>
              </a:lnSpc>
            </a:pPr>
            <a:r>
              <a:rPr sz="950" b="0">
                <a:solidFill>
                  <a:srgbClr val="55606E"/>
                </a:solidFill>
                <a:latin typeface="Segoe UI"/>
              </a:rPr>
              <a:t>If the answer is Vaani's to give, she gives it on the call.</a:t>
            </a:r>
          </a:p>
        </p:txBody>
      </p:sp>
      <p:sp>
        <p:nvSpPr>
          <p:cNvPr id="15" name="Rounded Rectangle 14"/>
          <p:cNvSpPr/>
          <p:nvPr/>
        </p:nvSpPr>
        <p:spPr>
          <a:xfrm>
            <a:off x="3377107" y="3017520"/>
            <a:ext cx="2718739" cy="960120"/>
          </a:xfrm>
          <a:prstGeom prst="roundRect">
            <a:avLst>
              <a:gd name="adj" fmla="val 4500"/>
            </a:avLst>
          </a:prstGeom>
          <a:solidFill>
            <a:srgbClr val="FFFFF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8275" y="3145536"/>
            <a:ext cx="2316403" cy="146304"/>
          </a:xfrm>
          <a:prstGeom prst="rect">
            <a:avLst/>
          </a:prstGeom>
          <a:noFill/>
        </p:spPr>
        <p:txBody>
          <a:bodyPr wrap="square" anchor="t" lIns="0" rIns="0" tIns="0" bIns="0">
            <a:spAutoFit/>
          </a:bodyPr>
          <a:lstStyle/>
          <a:p>
            <a:pPr algn="l">
              <a:lnSpc>
                <a:spcPct val="100000"/>
              </a:lnSpc>
            </a:pPr>
            <a:r>
              <a:rPr sz="750" b="0">
                <a:solidFill>
                  <a:srgbClr val="8894A3"/>
                </a:solidFill>
                <a:latin typeface="Consolas"/>
              </a:rPr>
              <a:t>STEP 02</a:t>
            </a:r>
          </a:p>
        </p:txBody>
      </p:sp>
      <p:sp>
        <p:nvSpPr>
          <p:cNvPr id="17" name="TextBox 16"/>
          <p:cNvSpPr txBox="1"/>
          <p:nvPr/>
        </p:nvSpPr>
        <p:spPr>
          <a:xfrm>
            <a:off x="3578275" y="3328416"/>
            <a:ext cx="2316403" cy="219456"/>
          </a:xfrm>
          <a:prstGeom prst="rect">
            <a:avLst/>
          </a:prstGeom>
          <a:noFill/>
        </p:spPr>
        <p:txBody>
          <a:bodyPr wrap="square" anchor="t" lIns="0" rIns="0" tIns="0" bIns="0">
            <a:spAutoFit/>
          </a:bodyPr>
          <a:lstStyle/>
          <a:p>
            <a:pPr algn="l">
              <a:lnSpc>
                <a:spcPct val="100000"/>
              </a:lnSpc>
            </a:pPr>
            <a:r>
              <a:rPr sz="1300" b="1">
                <a:solidFill>
                  <a:srgbClr val="1A1D23"/>
                </a:solidFill>
                <a:latin typeface="Segoe UI"/>
              </a:rPr>
              <a:t>Route</a:t>
            </a:r>
          </a:p>
        </p:txBody>
      </p:sp>
      <p:sp>
        <p:nvSpPr>
          <p:cNvPr id="18" name="TextBox 17"/>
          <p:cNvSpPr txBox="1"/>
          <p:nvPr/>
        </p:nvSpPr>
        <p:spPr>
          <a:xfrm>
            <a:off x="3578275" y="3584448"/>
            <a:ext cx="2316403" cy="365760"/>
          </a:xfrm>
          <a:prstGeom prst="rect">
            <a:avLst/>
          </a:prstGeom>
          <a:noFill/>
        </p:spPr>
        <p:txBody>
          <a:bodyPr wrap="square" anchor="t" lIns="0" rIns="0" tIns="0" bIns="0">
            <a:spAutoFit/>
          </a:bodyPr>
          <a:lstStyle/>
          <a:p>
            <a:pPr algn="l">
              <a:lnSpc>
                <a:spcPct val="122000"/>
              </a:lnSpc>
            </a:pPr>
            <a:r>
              <a:rPr sz="950" b="0">
                <a:solidFill>
                  <a:srgbClr val="55606E"/>
                </a:solidFill>
                <a:latin typeface="Segoe UI"/>
              </a:rPr>
              <a:t>If it belongs to another specialist, it moves there — invisibly.</a:t>
            </a:r>
          </a:p>
        </p:txBody>
      </p:sp>
      <p:sp>
        <p:nvSpPr>
          <p:cNvPr id="19" name="Rounded Rectangle 18"/>
          <p:cNvSpPr/>
          <p:nvPr/>
        </p:nvSpPr>
        <p:spPr>
          <a:xfrm>
            <a:off x="6095847" y="3017520"/>
            <a:ext cx="2718739" cy="960120"/>
          </a:xfrm>
          <a:prstGeom prst="roundRect">
            <a:avLst>
              <a:gd name="adj" fmla="val 4500"/>
            </a:avLst>
          </a:prstGeom>
          <a:solidFill>
            <a:srgbClr val="FFFFF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7015" y="3145536"/>
            <a:ext cx="2316403" cy="146304"/>
          </a:xfrm>
          <a:prstGeom prst="rect">
            <a:avLst/>
          </a:prstGeom>
          <a:noFill/>
        </p:spPr>
        <p:txBody>
          <a:bodyPr wrap="square" anchor="t" lIns="0" rIns="0" tIns="0" bIns="0">
            <a:spAutoFit/>
          </a:bodyPr>
          <a:lstStyle/>
          <a:p>
            <a:pPr algn="l">
              <a:lnSpc>
                <a:spcPct val="100000"/>
              </a:lnSpc>
            </a:pPr>
            <a:r>
              <a:rPr sz="750" b="0">
                <a:solidFill>
                  <a:srgbClr val="8894A3"/>
                </a:solidFill>
                <a:latin typeface="Consolas"/>
              </a:rPr>
              <a:t>STEP 03</a:t>
            </a:r>
          </a:p>
        </p:txBody>
      </p:sp>
      <p:sp>
        <p:nvSpPr>
          <p:cNvPr id="21" name="TextBox 20"/>
          <p:cNvSpPr txBox="1"/>
          <p:nvPr/>
        </p:nvSpPr>
        <p:spPr>
          <a:xfrm>
            <a:off x="6297015" y="3328416"/>
            <a:ext cx="2316403" cy="219456"/>
          </a:xfrm>
          <a:prstGeom prst="rect">
            <a:avLst/>
          </a:prstGeom>
          <a:noFill/>
        </p:spPr>
        <p:txBody>
          <a:bodyPr wrap="square" anchor="t" lIns="0" rIns="0" tIns="0" bIns="0">
            <a:spAutoFit/>
          </a:bodyPr>
          <a:lstStyle/>
          <a:p>
            <a:pPr algn="l">
              <a:lnSpc>
                <a:spcPct val="100000"/>
              </a:lnSpc>
            </a:pPr>
            <a:r>
              <a:rPr sz="1300" b="1">
                <a:solidFill>
                  <a:srgbClr val="1A1D23"/>
                </a:solidFill>
                <a:latin typeface="Segoe UI"/>
              </a:rPr>
              <a:t>Register</a:t>
            </a:r>
          </a:p>
        </p:txBody>
      </p:sp>
      <p:sp>
        <p:nvSpPr>
          <p:cNvPr id="22" name="TextBox 21"/>
          <p:cNvSpPr txBox="1"/>
          <p:nvPr/>
        </p:nvSpPr>
        <p:spPr>
          <a:xfrm>
            <a:off x="6297015" y="3584448"/>
            <a:ext cx="2316403" cy="365760"/>
          </a:xfrm>
          <a:prstGeom prst="rect">
            <a:avLst/>
          </a:prstGeom>
          <a:noFill/>
        </p:spPr>
        <p:txBody>
          <a:bodyPr wrap="square" anchor="t" lIns="0" rIns="0" tIns="0" bIns="0">
            <a:spAutoFit/>
          </a:bodyPr>
          <a:lstStyle/>
          <a:p>
            <a:pPr algn="l">
              <a:lnSpc>
                <a:spcPct val="122000"/>
              </a:lnSpc>
            </a:pPr>
            <a:r>
              <a:rPr sz="950" b="0">
                <a:solidFill>
                  <a:srgbClr val="55606E"/>
                </a:solidFill>
                <a:latin typeface="Segoe UI"/>
              </a:rPr>
              <a:t>A complaint is opened on the spot, the number read back and confirmed by SMS.</a:t>
            </a:r>
          </a:p>
        </p:txBody>
      </p:sp>
      <p:sp>
        <p:nvSpPr>
          <p:cNvPr id="23" name="Rounded Rectangle 22"/>
          <p:cNvSpPr/>
          <p:nvPr/>
        </p:nvSpPr>
        <p:spPr>
          <a:xfrm>
            <a:off x="8814587" y="3017520"/>
            <a:ext cx="2718739" cy="960120"/>
          </a:xfrm>
          <a:prstGeom prst="roundRect">
            <a:avLst>
              <a:gd name="adj" fmla="val 4500"/>
            </a:avLst>
          </a:prstGeom>
          <a:solidFill>
            <a:srgbClr val="FDF0EA"/>
          </a:solidFill>
          <a:ln w="15875">
            <a:solidFill>
              <a:srgbClr val="E85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15755" y="3145536"/>
            <a:ext cx="2316403" cy="146304"/>
          </a:xfrm>
          <a:prstGeom prst="rect">
            <a:avLst/>
          </a:prstGeom>
          <a:noFill/>
        </p:spPr>
        <p:txBody>
          <a:bodyPr wrap="square" anchor="t" lIns="0" rIns="0" tIns="0" bIns="0">
            <a:spAutoFit/>
          </a:bodyPr>
          <a:lstStyle/>
          <a:p>
            <a:pPr algn="l">
              <a:lnSpc>
                <a:spcPct val="100000"/>
              </a:lnSpc>
            </a:pPr>
            <a:r>
              <a:rPr sz="750" b="0">
                <a:solidFill>
                  <a:srgbClr val="8894A3"/>
                </a:solidFill>
                <a:latin typeface="Consolas"/>
              </a:rPr>
              <a:t>STEP 04</a:t>
            </a:r>
          </a:p>
        </p:txBody>
      </p:sp>
      <p:sp>
        <p:nvSpPr>
          <p:cNvPr id="25" name="TextBox 24"/>
          <p:cNvSpPr txBox="1"/>
          <p:nvPr/>
        </p:nvSpPr>
        <p:spPr>
          <a:xfrm>
            <a:off x="9015755" y="3328416"/>
            <a:ext cx="2316403" cy="219456"/>
          </a:xfrm>
          <a:prstGeom prst="rect">
            <a:avLst/>
          </a:prstGeom>
          <a:noFill/>
        </p:spPr>
        <p:txBody>
          <a:bodyPr wrap="square" anchor="t" lIns="0" rIns="0" tIns="0" bIns="0">
            <a:spAutoFit/>
          </a:bodyPr>
          <a:lstStyle/>
          <a:p>
            <a:pPr algn="l">
              <a:lnSpc>
                <a:spcPct val="100000"/>
              </a:lnSpc>
            </a:pPr>
            <a:r>
              <a:rPr sz="1300" b="1">
                <a:solidFill>
                  <a:srgbClr val="E8551F"/>
                </a:solidFill>
                <a:latin typeface="Segoe UI"/>
              </a:rPr>
              <a:t>Connect</a:t>
            </a:r>
          </a:p>
        </p:txBody>
      </p:sp>
      <p:sp>
        <p:nvSpPr>
          <p:cNvPr id="26" name="TextBox 25"/>
          <p:cNvSpPr txBox="1"/>
          <p:nvPr/>
        </p:nvSpPr>
        <p:spPr>
          <a:xfrm>
            <a:off x="9015755" y="3584448"/>
            <a:ext cx="2316403" cy="365760"/>
          </a:xfrm>
          <a:prstGeom prst="rect">
            <a:avLst/>
          </a:prstGeom>
          <a:noFill/>
        </p:spPr>
        <p:txBody>
          <a:bodyPr wrap="square" anchor="t" lIns="0" rIns="0" tIns="0" bIns="0">
            <a:spAutoFit/>
          </a:bodyPr>
          <a:lstStyle/>
          <a:p>
            <a:pPr algn="l">
              <a:lnSpc>
                <a:spcPct val="122000"/>
              </a:lnSpc>
            </a:pPr>
            <a:r>
              <a:rPr sz="950" b="0">
                <a:solidFill>
                  <a:srgbClr val="55606E"/>
                </a:solidFill>
                <a:latin typeface="Segoe UI"/>
              </a:rPr>
              <a:t>Only if the consumer still wants a person after all of that.</a:t>
            </a:r>
          </a:p>
        </p:txBody>
      </p:sp>
      <p:sp>
        <p:nvSpPr>
          <p:cNvPr id="27" name="Rounded Rectangle 26"/>
          <p:cNvSpPr/>
          <p:nvPr/>
        </p:nvSpPr>
        <p:spPr>
          <a:xfrm>
            <a:off x="658368" y="4224528"/>
            <a:ext cx="3442106" cy="1691640"/>
          </a:xfrm>
          <a:prstGeom prst="roundRect">
            <a:avLst>
              <a:gd name="adj" fmla="val 4500"/>
            </a:avLst>
          </a:prstGeom>
          <a:solidFill>
            <a:srgbClr val="FFFFF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4425696"/>
            <a:ext cx="2984906" cy="274320"/>
          </a:xfrm>
          <a:prstGeom prst="rect">
            <a:avLst/>
          </a:prstGeom>
          <a:noFill/>
        </p:spPr>
        <p:txBody>
          <a:bodyPr wrap="square" anchor="t" lIns="0" rIns="0" tIns="0" bIns="0">
            <a:spAutoFit/>
          </a:bodyPr>
          <a:lstStyle/>
          <a:p>
            <a:pPr algn="l">
              <a:lnSpc>
                <a:spcPct val="110000"/>
              </a:lnSpc>
            </a:pPr>
            <a:r>
              <a:rPr sz="1300" b="1">
                <a:solidFill>
                  <a:srgbClr val="1A1D23"/>
                </a:solidFill>
                <a:latin typeface="Segoe UI"/>
              </a:rPr>
              <a:t>The grievance exception</a:t>
            </a:r>
          </a:p>
        </p:txBody>
      </p:sp>
      <p:sp>
        <p:nvSpPr>
          <p:cNvPr id="29" name="TextBox 28"/>
          <p:cNvSpPr txBox="1"/>
          <p:nvPr/>
        </p:nvSpPr>
        <p:spPr>
          <a:xfrm>
            <a:off x="896112" y="4736592"/>
            <a:ext cx="2984906" cy="996696"/>
          </a:xfrm>
          <a:prstGeom prst="rect">
            <a:avLst/>
          </a:prstGeom>
          <a:noFill/>
        </p:spPr>
        <p:txBody>
          <a:bodyPr wrap="square" anchor="t" lIns="0" rIns="0" tIns="0" bIns="0">
            <a:spAutoFit/>
          </a:bodyPr>
          <a:lstStyle/>
          <a:p>
            <a:pPr algn="l">
              <a:lnSpc>
                <a:spcPct val="130000"/>
              </a:lnSpc>
            </a:pPr>
            <a:r>
              <a:rPr sz="1050" b="0">
                <a:solidFill>
                  <a:srgbClr val="55606E"/>
                </a:solidFill>
                <a:latin typeface="Segoe UI"/>
              </a:rPr>
              <a:t>A complaint about something that already happened — a cylinder never delivered, money taken at the door, staff behaviour — skips straight to registration. Nothing said on the call undoes it, so the complaint is the resolution.</a:t>
            </a:r>
          </a:p>
        </p:txBody>
      </p:sp>
      <p:sp>
        <p:nvSpPr>
          <p:cNvPr id="30" name="Rounded Rectangle 29"/>
          <p:cNvSpPr/>
          <p:nvPr/>
        </p:nvSpPr>
        <p:spPr>
          <a:xfrm>
            <a:off x="4374794" y="4224528"/>
            <a:ext cx="3442106" cy="1691640"/>
          </a:xfrm>
          <a:prstGeom prst="roundRect">
            <a:avLst>
              <a:gd name="adj" fmla="val 4500"/>
            </a:avLst>
          </a:prstGeom>
          <a:solidFill>
            <a:srgbClr val="FDF0EA"/>
          </a:solidFill>
          <a:ln w="15875">
            <a:solidFill>
              <a:srgbClr val="E85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2538" y="4425696"/>
            <a:ext cx="2984906" cy="274320"/>
          </a:xfrm>
          <a:prstGeom prst="rect">
            <a:avLst/>
          </a:prstGeom>
          <a:noFill/>
        </p:spPr>
        <p:txBody>
          <a:bodyPr wrap="square" anchor="t" lIns="0" rIns="0" tIns="0" bIns="0">
            <a:spAutoFit/>
          </a:bodyPr>
          <a:lstStyle/>
          <a:p>
            <a:pPr algn="l">
              <a:lnSpc>
                <a:spcPct val="110000"/>
              </a:lnSpc>
            </a:pPr>
            <a:r>
              <a:rPr sz="1300" b="1">
                <a:solidFill>
                  <a:srgbClr val="E8551F"/>
                </a:solidFill>
                <a:latin typeface="Segoe UI"/>
              </a:rPr>
              <a:t>Safety outranks everything</a:t>
            </a:r>
          </a:p>
        </p:txBody>
      </p:sp>
      <p:sp>
        <p:nvSpPr>
          <p:cNvPr id="32" name="TextBox 31"/>
          <p:cNvSpPr txBox="1"/>
          <p:nvPr/>
        </p:nvSpPr>
        <p:spPr>
          <a:xfrm>
            <a:off x="4612538" y="4736592"/>
            <a:ext cx="2984906" cy="996696"/>
          </a:xfrm>
          <a:prstGeom prst="rect">
            <a:avLst/>
          </a:prstGeom>
          <a:noFill/>
        </p:spPr>
        <p:txBody>
          <a:bodyPr wrap="square" anchor="t" lIns="0" rIns="0" tIns="0" bIns="0">
            <a:spAutoFit/>
          </a:bodyPr>
          <a:lstStyle/>
          <a:p>
            <a:pPr algn="l">
              <a:lnSpc>
                <a:spcPct val="130000"/>
              </a:lnSpc>
            </a:pPr>
            <a:r>
              <a:rPr sz="1050" b="0">
                <a:solidFill>
                  <a:srgbClr val="55606E"/>
                </a:solidFill>
                <a:latin typeface="Segoe UI"/>
              </a:rPr>
              <a:t>A confirmed gas hazard overrides every other rule instantly, from any point in the call. While it is live the agent cannot hand off and cannot end the call. The emergency helpline is given clearly and slowly.</a:t>
            </a:r>
          </a:p>
        </p:txBody>
      </p:sp>
      <p:sp>
        <p:nvSpPr>
          <p:cNvPr id="33" name="Rounded Rectangle 32"/>
          <p:cNvSpPr/>
          <p:nvPr/>
        </p:nvSpPr>
        <p:spPr>
          <a:xfrm>
            <a:off x="8091220" y="4224528"/>
            <a:ext cx="3442106" cy="1691640"/>
          </a:xfrm>
          <a:prstGeom prst="roundRect">
            <a:avLst>
              <a:gd name="adj" fmla="val 4500"/>
            </a:avLst>
          </a:prstGeom>
          <a:solidFill>
            <a:srgbClr val="FFFFF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28964" y="4425696"/>
            <a:ext cx="2984906" cy="274320"/>
          </a:xfrm>
          <a:prstGeom prst="rect">
            <a:avLst/>
          </a:prstGeom>
          <a:noFill/>
        </p:spPr>
        <p:txBody>
          <a:bodyPr wrap="square" anchor="t" lIns="0" rIns="0" tIns="0" bIns="0">
            <a:spAutoFit/>
          </a:bodyPr>
          <a:lstStyle/>
          <a:p>
            <a:pPr algn="l">
              <a:lnSpc>
                <a:spcPct val="110000"/>
              </a:lnSpc>
            </a:pPr>
            <a:r>
              <a:rPr sz="1300" b="1">
                <a:solidFill>
                  <a:srgbClr val="1A1D23"/>
                </a:solidFill>
                <a:latin typeface="Segoe UI"/>
              </a:rPr>
              <a:t>Discipline on every call</a:t>
            </a:r>
          </a:p>
        </p:txBody>
      </p:sp>
      <p:sp>
        <p:nvSpPr>
          <p:cNvPr id="35" name="TextBox 34"/>
          <p:cNvSpPr txBox="1"/>
          <p:nvPr/>
        </p:nvSpPr>
        <p:spPr>
          <a:xfrm>
            <a:off x="8328964" y="4736592"/>
            <a:ext cx="2984906" cy="996696"/>
          </a:xfrm>
          <a:prstGeom prst="rect">
            <a:avLst/>
          </a:prstGeom>
          <a:noFill/>
        </p:spPr>
        <p:txBody>
          <a:bodyPr wrap="square" anchor="t" lIns="0" rIns="0" tIns="0" bIns="0">
            <a:spAutoFit/>
          </a:bodyPr>
          <a:lstStyle/>
          <a:p>
            <a:pPr algn="l">
              <a:lnSpc>
                <a:spcPct val="130000"/>
              </a:lnSpc>
            </a:pPr>
            <a:r>
              <a:rPr sz="1050" b="0">
                <a:solidFill>
                  <a:srgbClr val="55606E"/>
                </a:solidFill>
                <a:latin typeface="Segoe UI"/>
              </a:rPr>
              <a:t>One question at a time · short, natural turns · the brand always spoken in full · every number read out digit by digit. Nothing is invented to fill a gap — if Vaani does not know, she says so.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10896"/>
            <a:ext cx="3657600" cy="182880"/>
          </a:xfrm>
          <a:prstGeom prst="rect">
            <a:avLst/>
          </a:prstGeom>
          <a:noFill/>
        </p:spPr>
        <p:txBody>
          <a:bodyPr wrap="square" anchor="t" lIns="0" rIns="0" tIns="0" bIns="0">
            <a:spAutoFit/>
          </a:bodyPr>
          <a:lstStyle/>
          <a:p>
            <a:pPr algn="l">
              <a:lnSpc>
                <a:spcPct val="100000"/>
              </a:lnSpc>
            </a:pPr>
            <a:r>
              <a:rPr sz="850" b="0">
                <a:solidFill>
                  <a:srgbClr val="8894A3"/>
                </a:solidFill>
                <a:latin typeface="Consolas"/>
              </a:rPr>
              <a:t>VOICEOWL </a:t>
            </a:r>
            <a:r>
              <a:rPr sz="850" b="0">
                <a:solidFill>
                  <a:srgbClr val="E8551F"/>
                </a:solidFill>
                <a:latin typeface="Consolas"/>
              </a:rPr>
              <a:t>x</a:t>
            </a:r>
            <a:r>
              <a:rPr sz="850" b="0">
                <a:solidFill>
                  <a:srgbClr val="8894A3"/>
                </a:solidFill>
                <a:latin typeface="Consolas"/>
              </a:rPr>
              <a:t> BHARAT GAS</a:t>
            </a:r>
          </a:p>
        </p:txBody>
      </p:sp>
      <p:sp>
        <p:nvSpPr>
          <p:cNvPr id="4" name="TextBox 3"/>
          <p:cNvSpPr txBox="1"/>
          <p:nvPr/>
        </p:nvSpPr>
        <p:spPr>
          <a:xfrm>
            <a:off x="10436047" y="310896"/>
            <a:ext cx="1097280" cy="182880"/>
          </a:xfrm>
          <a:prstGeom prst="rect">
            <a:avLst/>
          </a:prstGeom>
          <a:noFill/>
        </p:spPr>
        <p:txBody>
          <a:bodyPr wrap="square" anchor="t" lIns="0" rIns="0" tIns="0" bIns="0">
            <a:spAutoFit/>
          </a:bodyPr>
          <a:lstStyle/>
          <a:p>
            <a:pPr algn="r">
              <a:lnSpc>
                <a:spcPct val="100000"/>
              </a:lnSpc>
            </a:pPr>
            <a:r>
              <a:rPr sz="850" b="0">
                <a:solidFill>
                  <a:srgbClr val="8894A3"/>
                </a:solidFill>
                <a:latin typeface="Consolas"/>
              </a:rPr>
              <a:t>07 / 10</a:t>
            </a:r>
          </a:p>
        </p:txBody>
      </p:sp>
      <p:sp>
        <p:nvSpPr>
          <p:cNvPr id="5" name="Rounded Rectangle 4"/>
          <p:cNvSpPr/>
          <p:nvPr/>
        </p:nvSpPr>
        <p:spPr>
          <a:xfrm>
            <a:off x="658368" y="713232"/>
            <a:ext cx="384048" cy="219456"/>
          </a:xfrm>
          <a:prstGeom prst="roundRect">
            <a:avLst>
              <a:gd name="adj" fmla="val 50000"/>
            </a:avLst>
          </a:prstGeom>
          <a:solidFill>
            <a:srgbClr val="FDF0EA"/>
          </a:solidFill>
          <a:ln w="9525">
            <a:solidFill>
              <a:srgbClr val="E85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745236"/>
            <a:ext cx="384048" cy="182880"/>
          </a:xfrm>
          <a:prstGeom prst="rect">
            <a:avLst/>
          </a:prstGeom>
          <a:noFill/>
        </p:spPr>
        <p:txBody>
          <a:bodyPr wrap="square" anchor="t" lIns="0" rIns="0" tIns="0" bIns="0">
            <a:spAutoFit/>
          </a:bodyPr>
          <a:lstStyle/>
          <a:p>
            <a:pPr algn="ctr">
              <a:lnSpc>
                <a:spcPct val="100000"/>
              </a:lnSpc>
            </a:pPr>
            <a:r>
              <a:rPr sz="900" b="0">
                <a:solidFill>
                  <a:srgbClr val="E8551F"/>
                </a:solidFill>
                <a:latin typeface="Consolas"/>
              </a:rPr>
              <a:t>07</a:t>
            </a:r>
          </a:p>
        </p:txBody>
      </p:sp>
      <p:sp>
        <p:nvSpPr>
          <p:cNvPr id="7" name="TextBox 6"/>
          <p:cNvSpPr txBox="1"/>
          <p:nvPr/>
        </p:nvSpPr>
        <p:spPr>
          <a:xfrm>
            <a:off x="1161288" y="749808"/>
            <a:ext cx="5486400" cy="182880"/>
          </a:xfrm>
          <a:prstGeom prst="rect">
            <a:avLst/>
          </a:prstGeom>
          <a:noFill/>
        </p:spPr>
        <p:txBody>
          <a:bodyPr wrap="square" anchor="t" lIns="0" rIns="0" tIns="0" bIns="0">
            <a:spAutoFit/>
          </a:bodyPr>
          <a:lstStyle/>
          <a:p>
            <a:pPr algn="l">
              <a:lnSpc>
                <a:spcPct val="100000"/>
              </a:lnSpc>
            </a:pPr>
            <a:r>
              <a:rPr sz="900" b="0">
                <a:solidFill>
                  <a:srgbClr val="8894A3"/>
                </a:solidFill>
                <a:latin typeface="Consolas"/>
              </a:rPr>
              <a:t>FOOTPRINT</a:t>
            </a:r>
          </a:p>
        </p:txBody>
      </p:sp>
      <p:sp>
        <p:nvSpPr>
          <p:cNvPr id="8" name="TextBox 7"/>
          <p:cNvSpPr txBox="1"/>
          <p:nvPr/>
        </p:nvSpPr>
        <p:spPr>
          <a:xfrm>
            <a:off x="658368" y="1051560"/>
            <a:ext cx="10874959" cy="822960"/>
          </a:xfrm>
          <a:prstGeom prst="rect">
            <a:avLst/>
          </a:prstGeom>
          <a:noFill/>
        </p:spPr>
        <p:txBody>
          <a:bodyPr wrap="square" anchor="t" lIns="0" rIns="0" tIns="0" bIns="0">
            <a:spAutoFit/>
          </a:bodyPr>
          <a:lstStyle/>
          <a:p>
            <a:pPr algn="l">
              <a:lnSpc>
                <a:spcPct val="106000"/>
              </a:lnSpc>
            </a:pPr>
            <a:r>
              <a:rPr sz="3000" b="1">
                <a:solidFill>
                  <a:srgbClr val="1A1D23"/>
                </a:solidFill>
                <a:latin typeface="Segoe UI"/>
              </a:rPr>
              <a:t>Nine offices live, from a two-office launch</a:t>
            </a:r>
          </a:p>
        </p:txBody>
      </p:sp>
      <p:sp>
        <p:nvSpPr>
          <p:cNvPr id="9" name="TextBox 8"/>
          <p:cNvSpPr txBox="1"/>
          <p:nvPr/>
        </p:nvSpPr>
        <p:spPr>
          <a:xfrm>
            <a:off x="658368" y="1609344"/>
            <a:ext cx="9594799" cy="914400"/>
          </a:xfrm>
          <a:prstGeom prst="rect">
            <a:avLst/>
          </a:prstGeom>
          <a:noFill/>
        </p:spPr>
        <p:txBody>
          <a:bodyPr wrap="square" anchor="t" lIns="0" rIns="0" tIns="0" bIns="0">
            <a:spAutoFit/>
          </a:bodyPr>
          <a:lstStyle/>
          <a:p>
            <a:pPr algn="l">
              <a:lnSpc>
                <a:spcPct val="130000"/>
              </a:lnSpc>
            </a:pPr>
            <a:r>
              <a:rPr sz="1250" b="0">
                <a:solidFill>
                  <a:srgbClr val="55606E"/>
                </a:solidFill>
                <a:latin typeface="Segoe UI"/>
              </a:rPr>
              <a:t>Around 70 CRC offices are in scope nationally, each with its own dedicated number bound to that office's own city, address and holiday calendar.</a:t>
            </a:r>
          </a:p>
        </p:txBody>
      </p:sp>
      <p:sp>
        <p:nvSpPr>
          <p:cNvPr id="10" name="TextBox 9"/>
          <p:cNvSpPr txBox="1"/>
          <p:nvPr/>
        </p:nvSpPr>
        <p:spPr>
          <a:xfrm>
            <a:off x="658368" y="2286000"/>
            <a:ext cx="1051560" cy="219456"/>
          </a:xfrm>
          <a:prstGeom prst="rect">
            <a:avLst/>
          </a:prstGeom>
          <a:noFill/>
        </p:spPr>
        <p:txBody>
          <a:bodyPr wrap="square" anchor="t" lIns="0" rIns="0" tIns="0" bIns="0">
            <a:spAutoFit/>
          </a:bodyPr>
          <a:lstStyle/>
          <a:p>
            <a:pPr algn="l">
              <a:lnSpc>
                <a:spcPct val="100000"/>
              </a:lnSpc>
            </a:pPr>
            <a:r>
              <a:rPr sz="1050" b="1">
                <a:solidFill>
                  <a:srgbClr val="1A1D23"/>
                </a:solidFill>
                <a:latin typeface="Segoe UI"/>
              </a:rPr>
              <a:t>Delhi</a:t>
            </a:r>
          </a:p>
        </p:txBody>
      </p:sp>
      <p:sp>
        <p:nvSpPr>
          <p:cNvPr id="11" name="Rounded Rectangle 10"/>
          <p:cNvSpPr/>
          <p:nvPr/>
        </p:nvSpPr>
        <p:spPr>
          <a:xfrm>
            <a:off x="1819655" y="2331720"/>
            <a:ext cx="3457803" cy="128016"/>
          </a:xfrm>
          <a:prstGeom prst="roundRect">
            <a:avLst>
              <a:gd name="adj" fmla="val 35000"/>
            </a:avLst>
          </a:prstGeom>
          <a:solidFill>
            <a:srgbClr val="E8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819655" y="2331720"/>
            <a:ext cx="3457803" cy="128016"/>
          </a:xfrm>
          <a:prstGeom prst="roundRect">
            <a:avLst>
              <a:gd name="adj" fmla="val 35000"/>
            </a:avLst>
          </a:prstGeom>
          <a:solidFill>
            <a:srgbClr val="E8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87187" y="2295144"/>
            <a:ext cx="457200" cy="201168"/>
          </a:xfrm>
          <a:prstGeom prst="rect">
            <a:avLst/>
          </a:prstGeom>
          <a:noFill/>
        </p:spPr>
        <p:txBody>
          <a:bodyPr wrap="square" anchor="t" lIns="0" rIns="0" tIns="0" bIns="0">
            <a:spAutoFit/>
          </a:bodyPr>
          <a:lstStyle/>
          <a:p>
            <a:pPr algn="r">
              <a:lnSpc>
                <a:spcPct val="100000"/>
              </a:lnSpc>
            </a:pPr>
            <a:r>
              <a:rPr sz="1000" b="0">
                <a:solidFill>
                  <a:srgbClr val="1A1D23"/>
                </a:solidFill>
                <a:latin typeface="Consolas"/>
              </a:rPr>
              <a:t>900</a:t>
            </a:r>
          </a:p>
        </p:txBody>
      </p:sp>
      <p:sp>
        <p:nvSpPr>
          <p:cNvPr id="14" name="TextBox 13"/>
          <p:cNvSpPr txBox="1"/>
          <p:nvPr/>
        </p:nvSpPr>
        <p:spPr>
          <a:xfrm>
            <a:off x="658368" y="2697480"/>
            <a:ext cx="1051560" cy="219456"/>
          </a:xfrm>
          <a:prstGeom prst="rect">
            <a:avLst/>
          </a:prstGeom>
          <a:noFill/>
        </p:spPr>
        <p:txBody>
          <a:bodyPr wrap="square" anchor="t" lIns="0" rIns="0" tIns="0" bIns="0">
            <a:spAutoFit/>
          </a:bodyPr>
          <a:lstStyle/>
          <a:p>
            <a:pPr algn="l">
              <a:lnSpc>
                <a:spcPct val="100000"/>
              </a:lnSpc>
            </a:pPr>
            <a:r>
              <a:rPr sz="1050" b="1">
                <a:solidFill>
                  <a:srgbClr val="1A1D23"/>
                </a:solidFill>
                <a:latin typeface="Segoe UI"/>
              </a:rPr>
              <a:t>Indore</a:t>
            </a:r>
          </a:p>
        </p:txBody>
      </p:sp>
      <p:sp>
        <p:nvSpPr>
          <p:cNvPr id="15" name="Rounded Rectangle 14"/>
          <p:cNvSpPr/>
          <p:nvPr/>
        </p:nvSpPr>
        <p:spPr>
          <a:xfrm>
            <a:off x="1819655" y="2743200"/>
            <a:ext cx="3457803" cy="128016"/>
          </a:xfrm>
          <a:prstGeom prst="roundRect">
            <a:avLst>
              <a:gd name="adj" fmla="val 35000"/>
            </a:avLst>
          </a:prstGeom>
          <a:solidFill>
            <a:srgbClr val="E8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819655" y="2743200"/>
            <a:ext cx="1597505" cy="128016"/>
          </a:xfrm>
          <a:prstGeom prst="roundRect">
            <a:avLst>
              <a:gd name="adj" fmla="val 35000"/>
            </a:avLst>
          </a:prstGeom>
          <a:solidFill>
            <a:srgbClr val="E8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87187" y="2706624"/>
            <a:ext cx="457200" cy="201168"/>
          </a:xfrm>
          <a:prstGeom prst="rect">
            <a:avLst/>
          </a:prstGeom>
          <a:noFill/>
        </p:spPr>
        <p:txBody>
          <a:bodyPr wrap="square" anchor="t" lIns="0" rIns="0" tIns="0" bIns="0">
            <a:spAutoFit/>
          </a:bodyPr>
          <a:lstStyle/>
          <a:p>
            <a:pPr algn="r">
              <a:lnSpc>
                <a:spcPct val="100000"/>
              </a:lnSpc>
            </a:pPr>
            <a:r>
              <a:rPr sz="1000" b="0">
                <a:solidFill>
                  <a:srgbClr val="1A1D23"/>
                </a:solidFill>
                <a:latin typeface="Consolas"/>
              </a:rPr>
              <a:t>416</a:t>
            </a:r>
          </a:p>
        </p:txBody>
      </p:sp>
      <p:sp>
        <p:nvSpPr>
          <p:cNvPr id="18" name="TextBox 17"/>
          <p:cNvSpPr txBox="1"/>
          <p:nvPr/>
        </p:nvSpPr>
        <p:spPr>
          <a:xfrm>
            <a:off x="658368" y="3108960"/>
            <a:ext cx="1051560" cy="219456"/>
          </a:xfrm>
          <a:prstGeom prst="rect">
            <a:avLst/>
          </a:prstGeom>
          <a:noFill/>
        </p:spPr>
        <p:txBody>
          <a:bodyPr wrap="square" anchor="t" lIns="0" rIns="0" tIns="0" bIns="0">
            <a:spAutoFit/>
          </a:bodyPr>
          <a:lstStyle/>
          <a:p>
            <a:pPr algn="l">
              <a:lnSpc>
                <a:spcPct val="100000"/>
              </a:lnSpc>
            </a:pPr>
            <a:r>
              <a:rPr sz="1050" b="0">
                <a:solidFill>
                  <a:srgbClr val="55606E"/>
                </a:solidFill>
                <a:latin typeface="Segoe UI"/>
              </a:rPr>
              <a:t>Goa</a:t>
            </a:r>
          </a:p>
        </p:txBody>
      </p:sp>
      <p:sp>
        <p:nvSpPr>
          <p:cNvPr id="19" name="Rounded Rectangle 18"/>
          <p:cNvSpPr/>
          <p:nvPr/>
        </p:nvSpPr>
        <p:spPr>
          <a:xfrm>
            <a:off x="1819655" y="3154680"/>
            <a:ext cx="3457803" cy="128016"/>
          </a:xfrm>
          <a:prstGeom prst="roundRect">
            <a:avLst>
              <a:gd name="adj" fmla="val 35000"/>
            </a:avLst>
          </a:prstGeom>
          <a:solidFill>
            <a:srgbClr val="E8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819655" y="3154680"/>
            <a:ext cx="172890" cy="128016"/>
          </a:xfrm>
          <a:prstGeom prst="roundRect">
            <a:avLst>
              <a:gd name="adj" fmla="val 35000"/>
            </a:avLst>
          </a:prstGeom>
          <a:solidFill>
            <a:srgbClr val="E8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87187" y="3118104"/>
            <a:ext cx="457200" cy="201168"/>
          </a:xfrm>
          <a:prstGeom prst="rect">
            <a:avLst/>
          </a:prstGeom>
          <a:noFill/>
        </p:spPr>
        <p:txBody>
          <a:bodyPr wrap="square" anchor="t" lIns="0" rIns="0" tIns="0" bIns="0">
            <a:spAutoFit/>
          </a:bodyPr>
          <a:lstStyle/>
          <a:p>
            <a:pPr algn="r">
              <a:lnSpc>
                <a:spcPct val="100000"/>
              </a:lnSpc>
            </a:pPr>
            <a:r>
              <a:rPr sz="1000" b="0">
                <a:solidFill>
                  <a:srgbClr val="1A1D23"/>
                </a:solidFill>
                <a:latin typeface="Consolas"/>
              </a:rPr>
              <a:t>45</a:t>
            </a:r>
          </a:p>
        </p:txBody>
      </p:sp>
      <p:sp>
        <p:nvSpPr>
          <p:cNvPr id="22" name="TextBox 21"/>
          <p:cNvSpPr txBox="1"/>
          <p:nvPr/>
        </p:nvSpPr>
        <p:spPr>
          <a:xfrm>
            <a:off x="658368" y="3520440"/>
            <a:ext cx="1051560" cy="219456"/>
          </a:xfrm>
          <a:prstGeom prst="rect">
            <a:avLst/>
          </a:prstGeom>
          <a:noFill/>
        </p:spPr>
        <p:txBody>
          <a:bodyPr wrap="square" anchor="t" lIns="0" rIns="0" tIns="0" bIns="0">
            <a:spAutoFit/>
          </a:bodyPr>
          <a:lstStyle/>
          <a:p>
            <a:pPr algn="l">
              <a:lnSpc>
                <a:spcPct val="100000"/>
              </a:lnSpc>
            </a:pPr>
            <a:r>
              <a:rPr sz="1050" b="0">
                <a:solidFill>
                  <a:srgbClr val="55606E"/>
                </a:solidFill>
                <a:latin typeface="Segoe UI"/>
              </a:rPr>
              <a:t>Patna</a:t>
            </a:r>
          </a:p>
        </p:txBody>
      </p:sp>
      <p:sp>
        <p:nvSpPr>
          <p:cNvPr id="23" name="Rounded Rectangle 22"/>
          <p:cNvSpPr/>
          <p:nvPr/>
        </p:nvSpPr>
        <p:spPr>
          <a:xfrm>
            <a:off x="1819655" y="3566160"/>
            <a:ext cx="3457803" cy="128016"/>
          </a:xfrm>
          <a:prstGeom prst="roundRect">
            <a:avLst>
              <a:gd name="adj" fmla="val 35000"/>
            </a:avLst>
          </a:prstGeom>
          <a:solidFill>
            <a:srgbClr val="E8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819655" y="3566160"/>
            <a:ext cx="141769" cy="128016"/>
          </a:xfrm>
          <a:prstGeom prst="roundRect">
            <a:avLst>
              <a:gd name="adj" fmla="val 35000"/>
            </a:avLst>
          </a:prstGeom>
          <a:solidFill>
            <a:srgbClr val="E8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87187" y="3529584"/>
            <a:ext cx="457200" cy="201168"/>
          </a:xfrm>
          <a:prstGeom prst="rect">
            <a:avLst/>
          </a:prstGeom>
          <a:noFill/>
        </p:spPr>
        <p:txBody>
          <a:bodyPr wrap="square" anchor="t" lIns="0" rIns="0" tIns="0" bIns="0">
            <a:spAutoFit/>
          </a:bodyPr>
          <a:lstStyle/>
          <a:p>
            <a:pPr algn="r">
              <a:lnSpc>
                <a:spcPct val="100000"/>
              </a:lnSpc>
            </a:pPr>
            <a:r>
              <a:rPr sz="1000" b="0">
                <a:solidFill>
                  <a:srgbClr val="1A1D23"/>
                </a:solidFill>
                <a:latin typeface="Consolas"/>
              </a:rPr>
              <a:t>37</a:t>
            </a:r>
          </a:p>
        </p:txBody>
      </p:sp>
      <p:sp>
        <p:nvSpPr>
          <p:cNvPr id="26" name="TextBox 25"/>
          <p:cNvSpPr txBox="1"/>
          <p:nvPr/>
        </p:nvSpPr>
        <p:spPr>
          <a:xfrm>
            <a:off x="658368" y="3931920"/>
            <a:ext cx="1051560" cy="219456"/>
          </a:xfrm>
          <a:prstGeom prst="rect">
            <a:avLst/>
          </a:prstGeom>
          <a:noFill/>
        </p:spPr>
        <p:txBody>
          <a:bodyPr wrap="square" anchor="t" lIns="0" rIns="0" tIns="0" bIns="0">
            <a:spAutoFit/>
          </a:bodyPr>
          <a:lstStyle/>
          <a:p>
            <a:pPr algn="l">
              <a:lnSpc>
                <a:spcPct val="100000"/>
              </a:lnSpc>
            </a:pPr>
            <a:r>
              <a:rPr sz="1050" b="0">
                <a:solidFill>
                  <a:srgbClr val="55606E"/>
                </a:solidFill>
                <a:latin typeface="Segoe UI"/>
              </a:rPr>
              <a:t>Jabalpur</a:t>
            </a:r>
          </a:p>
        </p:txBody>
      </p:sp>
      <p:sp>
        <p:nvSpPr>
          <p:cNvPr id="27" name="Rounded Rectangle 26"/>
          <p:cNvSpPr/>
          <p:nvPr/>
        </p:nvSpPr>
        <p:spPr>
          <a:xfrm>
            <a:off x="1819655" y="3977640"/>
            <a:ext cx="3457803" cy="128016"/>
          </a:xfrm>
          <a:prstGeom prst="roundRect">
            <a:avLst>
              <a:gd name="adj" fmla="val 35000"/>
            </a:avLst>
          </a:prstGeom>
          <a:solidFill>
            <a:srgbClr val="E8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819655" y="3977640"/>
            <a:ext cx="117565" cy="128016"/>
          </a:xfrm>
          <a:prstGeom prst="roundRect">
            <a:avLst>
              <a:gd name="adj" fmla="val 35000"/>
            </a:avLst>
          </a:prstGeom>
          <a:solidFill>
            <a:srgbClr val="E8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87187" y="3941064"/>
            <a:ext cx="457200" cy="201168"/>
          </a:xfrm>
          <a:prstGeom prst="rect">
            <a:avLst/>
          </a:prstGeom>
          <a:noFill/>
        </p:spPr>
        <p:txBody>
          <a:bodyPr wrap="square" anchor="t" lIns="0" rIns="0" tIns="0" bIns="0">
            <a:spAutoFit/>
          </a:bodyPr>
          <a:lstStyle/>
          <a:p>
            <a:pPr algn="r">
              <a:lnSpc>
                <a:spcPct val="100000"/>
              </a:lnSpc>
            </a:pPr>
            <a:r>
              <a:rPr sz="1000" b="0">
                <a:solidFill>
                  <a:srgbClr val="1A1D23"/>
                </a:solidFill>
                <a:latin typeface="Consolas"/>
              </a:rPr>
              <a:t>31</a:t>
            </a:r>
          </a:p>
        </p:txBody>
      </p:sp>
      <p:sp>
        <p:nvSpPr>
          <p:cNvPr id="30" name="TextBox 29"/>
          <p:cNvSpPr txBox="1"/>
          <p:nvPr/>
        </p:nvSpPr>
        <p:spPr>
          <a:xfrm>
            <a:off x="658368" y="4343400"/>
            <a:ext cx="1051560" cy="219456"/>
          </a:xfrm>
          <a:prstGeom prst="rect">
            <a:avLst/>
          </a:prstGeom>
          <a:noFill/>
        </p:spPr>
        <p:txBody>
          <a:bodyPr wrap="square" anchor="t" lIns="0" rIns="0" tIns="0" bIns="0">
            <a:spAutoFit/>
          </a:bodyPr>
          <a:lstStyle/>
          <a:p>
            <a:pPr algn="l">
              <a:lnSpc>
                <a:spcPct val="100000"/>
              </a:lnSpc>
            </a:pPr>
            <a:r>
              <a:rPr sz="1050" b="0">
                <a:solidFill>
                  <a:srgbClr val="55606E"/>
                </a:solidFill>
                <a:latin typeface="Segoe UI"/>
              </a:rPr>
              <a:t>Prayagraj</a:t>
            </a:r>
          </a:p>
        </p:txBody>
      </p:sp>
      <p:sp>
        <p:nvSpPr>
          <p:cNvPr id="31" name="Rounded Rectangle 30"/>
          <p:cNvSpPr/>
          <p:nvPr/>
        </p:nvSpPr>
        <p:spPr>
          <a:xfrm>
            <a:off x="1819655" y="4389120"/>
            <a:ext cx="3457803" cy="128016"/>
          </a:xfrm>
          <a:prstGeom prst="roundRect">
            <a:avLst>
              <a:gd name="adj" fmla="val 35000"/>
            </a:avLst>
          </a:prstGeom>
          <a:solidFill>
            <a:srgbClr val="E8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819655" y="4389120"/>
            <a:ext cx="100276" cy="128016"/>
          </a:xfrm>
          <a:prstGeom prst="roundRect">
            <a:avLst>
              <a:gd name="adj" fmla="val 35000"/>
            </a:avLst>
          </a:prstGeom>
          <a:solidFill>
            <a:srgbClr val="E8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87187" y="4352544"/>
            <a:ext cx="457200" cy="201168"/>
          </a:xfrm>
          <a:prstGeom prst="rect">
            <a:avLst/>
          </a:prstGeom>
          <a:noFill/>
        </p:spPr>
        <p:txBody>
          <a:bodyPr wrap="square" anchor="t" lIns="0" rIns="0" tIns="0" bIns="0">
            <a:spAutoFit/>
          </a:bodyPr>
          <a:lstStyle/>
          <a:p>
            <a:pPr algn="r">
              <a:lnSpc>
                <a:spcPct val="100000"/>
              </a:lnSpc>
            </a:pPr>
            <a:r>
              <a:rPr sz="1000" b="0">
                <a:solidFill>
                  <a:srgbClr val="1A1D23"/>
                </a:solidFill>
                <a:latin typeface="Consolas"/>
              </a:rPr>
              <a:t>26</a:t>
            </a:r>
          </a:p>
        </p:txBody>
      </p:sp>
      <p:sp>
        <p:nvSpPr>
          <p:cNvPr id="34" name="TextBox 33"/>
          <p:cNvSpPr txBox="1"/>
          <p:nvPr/>
        </p:nvSpPr>
        <p:spPr>
          <a:xfrm>
            <a:off x="658368" y="4754880"/>
            <a:ext cx="1051560" cy="219456"/>
          </a:xfrm>
          <a:prstGeom prst="rect">
            <a:avLst/>
          </a:prstGeom>
          <a:noFill/>
        </p:spPr>
        <p:txBody>
          <a:bodyPr wrap="square" anchor="t" lIns="0" rIns="0" tIns="0" bIns="0">
            <a:spAutoFit/>
          </a:bodyPr>
          <a:lstStyle/>
          <a:p>
            <a:pPr algn="l">
              <a:lnSpc>
                <a:spcPct val="100000"/>
              </a:lnSpc>
            </a:pPr>
            <a:r>
              <a:rPr sz="1050" b="0">
                <a:solidFill>
                  <a:srgbClr val="55606E"/>
                </a:solidFill>
                <a:latin typeface="Segoe UI"/>
              </a:rPr>
              <a:t>Jaipur</a:t>
            </a:r>
          </a:p>
        </p:txBody>
      </p:sp>
      <p:sp>
        <p:nvSpPr>
          <p:cNvPr id="35" name="Rounded Rectangle 34"/>
          <p:cNvSpPr/>
          <p:nvPr/>
        </p:nvSpPr>
        <p:spPr>
          <a:xfrm>
            <a:off x="1819655" y="4800600"/>
            <a:ext cx="3457803" cy="128016"/>
          </a:xfrm>
          <a:prstGeom prst="roundRect">
            <a:avLst>
              <a:gd name="adj" fmla="val 35000"/>
            </a:avLst>
          </a:prstGeom>
          <a:solidFill>
            <a:srgbClr val="E8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819655" y="4800600"/>
            <a:ext cx="89902" cy="128016"/>
          </a:xfrm>
          <a:prstGeom prst="roundRect">
            <a:avLst>
              <a:gd name="adj" fmla="val 35000"/>
            </a:avLst>
          </a:prstGeom>
          <a:solidFill>
            <a:srgbClr val="E8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87187" y="4764024"/>
            <a:ext cx="457200" cy="201168"/>
          </a:xfrm>
          <a:prstGeom prst="rect">
            <a:avLst/>
          </a:prstGeom>
          <a:noFill/>
        </p:spPr>
        <p:txBody>
          <a:bodyPr wrap="square" anchor="t" lIns="0" rIns="0" tIns="0" bIns="0">
            <a:spAutoFit/>
          </a:bodyPr>
          <a:lstStyle/>
          <a:p>
            <a:pPr algn="r">
              <a:lnSpc>
                <a:spcPct val="100000"/>
              </a:lnSpc>
            </a:pPr>
            <a:r>
              <a:rPr sz="1000" b="0">
                <a:solidFill>
                  <a:srgbClr val="1A1D23"/>
                </a:solidFill>
                <a:latin typeface="Consolas"/>
              </a:rPr>
              <a:t>23</a:t>
            </a:r>
          </a:p>
        </p:txBody>
      </p:sp>
      <p:sp>
        <p:nvSpPr>
          <p:cNvPr id="38" name="TextBox 37"/>
          <p:cNvSpPr txBox="1"/>
          <p:nvPr/>
        </p:nvSpPr>
        <p:spPr>
          <a:xfrm>
            <a:off x="658368" y="5166360"/>
            <a:ext cx="1051560" cy="219456"/>
          </a:xfrm>
          <a:prstGeom prst="rect">
            <a:avLst/>
          </a:prstGeom>
          <a:noFill/>
        </p:spPr>
        <p:txBody>
          <a:bodyPr wrap="square" anchor="t" lIns="0" rIns="0" tIns="0" bIns="0">
            <a:spAutoFit/>
          </a:bodyPr>
          <a:lstStyle/>
          <a:p>
            <a:pPr algn="l">
              <a:lnSpc>
                <a:spcPct val="100000"/>
              </a:lnSpc>
            </a:pPr>
            <a:r>
              <a:rPr sz="1050" b="0">
                <a:solidFill>
                  <a:srgbClr val="55606E"/>
                </a:solidFill>
                <a:latin typeface="Segoe UI"/>
              </a:rPr>
              <a:t>Wai</a:t>
            </a:r>
          </a:p>
        </p:txBody>
      </p:sp>
      <p:sp>
        <p:nvSpPr>
          <p:cNvPr id="39" name="Rounded Rectangle 38"/>
          <p:cNvSpPr/>
          <p:nvPr/>
        </p:nvSpPr>
        <p:spPr>
          <a:xfrm>
            <a:off x="1819655" y="5212080"/>
            <a:ext cx="3457803" cy="128016"/>
          </a:xfrm>
          <a:prstGeom prst="roundRect">
            <a:avLst>
              <a:gd name="adj" fmla="val 35000"/>
            </a:avLst>
          </a:prstGeom>
          <a:solidFill>
            <a:srgbClr val="E8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819655" y="5212080"/>
            <a:ext cx="65698" cy="128016"/>
          </a:xfrm>
          <a:prstGeom prst="roundRect">
            <a:avLst>
              <a:gd name="adj" fmla="val 35000"/>
            </a:avLst>
          </a:prstGeom>
          <a:solidFill>
            <a:srgbClr val="E8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387187" y="5175504"/>
            <a:ext cx="457200" cy="201168"/>
          </a:xfrm>
          <a:prstGeom prst="rect">
            <a:avLst/>
          </a:prstGeom>
          <a:noFill/>
        </p:spPr>
        <p:txBody>
          <a:bodyPr wrap="square" anchor="t" lIns="0" rIns="0" tIns="0" bIns="0">
            <a:spAutoFit/>
          </a:bodyPr>
          <a:lstStyle/>
          <a:p>
            <a:pPr algn="r">
              <a:lnSpc>
                <a:spcPct val="100000"/>
              </a:lnSpc>
            </a:pPr>
            <a:r>
              <a:rPr sz="1000" b="0">
                <a:solidFill>
                  <a:srgbClr val="1A1D23"/>
                </a:solidFill>
                <a:latin typeface="Consolas"/>
              </a:rPr>
              <a:t>17</a:t>
            </a:r>
          </a:p>
        </p:txBody>
      </p:sp>
      <p:sp>
        <p:nvSpPr>
          <p:cNvPr id="42" name="TextBox 41"/>
          <p:cNvSpPr txBox="1"/>
          <p:nvPr/>
        </p:nvSpPr>
        <p:spPr>
          <a:xfrm>
            <a:off x="658368" y="5577840"/>
            <a:ext cx="1051560" cy="219456"/>
          </a:xfrm>
          <a:prstGeom prst="rect">
            <a:avLst/>
          </a:prstGeom>
          <a:noFill/>
        </p:spPr>
        <p:txBody>
          <a:bodyPr wrap="square" anchor="t" lIns="0" rIns="0" tIns="0" bIns="0">
            <a:spAutoFit/>
          </a:bodyPr>
          <a:lstStyle/>
          <a:p>
            <a:pPr algn="l">
              <a:lnSpc>
                <a:spcPct val="100000"/>
              </a:lnSpc>
            </a:pPr>
            <a:r>
              <a:rPr sz="1050" b="0">
                <a:solidFill>
                  <a:srgbClr val="55606E"/>
                </a:solidFill>
                <a:latin typeface="Segoe UI"/>
              </a:rPr>
              <a:t>Lucknow</a:t>
            </a:r>
          </a:p>
        </p:txBody>
      </p:sp>
      <p:sp>
        <p:nvSpPr>
          <p:cNvPr id="43" name="Rounded Rectangle 42"/>
          <p:cNvSpPr/>
          <p:nvPr/>
        </p:nvSpPr>
        <p:spPr>
          <a:xfrm>
            <a:off x="1819655" y="5623560"/>
            <a:ext cx="3457803" cy="128016"/>
          </a:xfrm>
          <a:prstGeom prst="roundRect">
            <a:avLst>
              <a:gd name="adj" fmla="val 35000"/>
            </a:avLst>
          </a:prstGeom>
          <a:solidFill>
            <a:srgbClr val="E8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1819655" y="5623560"/>
            <a:ext cx="44951" cy="128016"/>
          </a:xfrm>
          <a:prstGeom prst="roundRect">
            <a:avLst>
              <a:gd name="adj" fmla="val 35000"/>
            </a:avLst>
          </a:prstGeom>
          <a:solidFill>
            <a:srgbClr val="E8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387187" y="5586984"/>
            <a:ext cx="457200" cy="201168"/>
          </a:xfrm>
          <a:prstGeom prst="rect">
            <a:avLst/>
          </a:prstGeom>
          <a:noFill/>
        </p:spPr>
        <p:txBody>
          <a:bodyPr wrap="square" anchor="t" lIns="0" rIns="0" tIns="0" bIns="0">
            <a:spAutoFit/>
          </a:bodyPr>
          <a:lstStyle/>
          <a:p>
            <a:pPr algn="r">
              <a:lnSpc>
                <a:spcPct val="100000"/>
              </a:lnSpc>
            </a:pPr>
            <a:r>
              <a:rPr sz="1000" b="0">
                <a:solidFill>
                  <a:srgbClr val="1A1D23"/>
                </a:solidFill>
                <a:latin typeface="Consolas"/>
              </a:rPr>
              <a:t>12</a:t>
            </a:r>
          </a:p>
        </p:txBody>
      </p:sp>
      <p:sp>
        <p:nvSpPr>
          <p:cNvPr id="46" name="Rounded Rectangle 45"/>
          <p:cNvSpPr/>
          <p:nvPr/>
        </p:nvSpPr>
        <p:spPr>
          <a:xfrm>
            <a:off x="6347307" y="2212848"/>
            <a:ext cx="5186019" cy="1298448"/>
          </a:xfrm>
          <a:prstGeom prst="roundRect">
            <a:avLst>
              <a:gd name="adj" fmla="val 4500"/>
            </a:avLst>
          </a:prstGeom>
          <a:solidFill>
            <a:srgbClr val="FFFFF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85051" y="2414016"/>
            <a:ext cx="4728819" cy="274320"/>
          </a:xfrm>
          <a:prstGeom prst="rect">
            <a:avLst/>
          </a:prstGeom>
          <a:noFill/>
        </p:spPr>
        <p:txBody>
          <a:bodyPr wrap="square" anchor="t" lIns="0" rIns="0" tIns="0" bIns="0">
            <a:spAutoFit/>
          </a:bodyPr>
          <a:lstStyle/>
          <a:p>
            <a:pPr algn="l">
              <a:lnSpc>
                <a:spcPct val="110000"/>
              </a:lnSpc>
            </a:pPr>
            <a:r>
              <a:rPr sz="1300" b="1">
                <a:solidFill>
                  <a:srgbClr val="1A1D23"/>
                </a:solidFill>
                <a:latin typeface="Segoe UI"/>
              </a:rPr>
              <a:t>Seven states and territories</a:t>
            </a:r>
          </a:p>
        </p:txBody>
      </p:sp>
      <p:sp>
        <p:nvSpPr>
          <p:cNvPr id="48" name="TextBox 47"/>
          <p:cNvSpPr txBox="1"/>
          <p:nvPr/>
        </p:nvSpPr>
        <p:spPr>
          <a:xfrm>
            <a:off x="6585051" y="2724912"/>
            <a:ext cx="4728819" cy="603503"/>
          </a:xfrm>
          <a:prstGeom prst="rect">
            <a:avLst/>
          </a:prstGeom>
          <a:noFill/>
        </p:spPr>
        <p:txBody>
          <a:bodyPr wrap="square" anchor="t" lIns="0" rIns="0" tIns="0" bIns="0">
            <a:spAutoFit/>
          </a:bodyPr>
          <a:lstStyle/>
          <a:p>
            <a:pPr algn="l">
              <a:lnSpc>
                <a:spcPct val="130000"/>
              </a:lnSpc>
            </a:pPr>
            <a:r>
              <a:rPr sz="1050" b="0">
                <a:solidFill>
                  <a:srgbClr val="55606E"/>
                </a:solidFill>
                <a:latin typeface="Segoe UI"/>
              </a:rPr>
              <a:t>Delhi · Madhya Pradesh · Uttar Pradesh · Goa · Rajasthan · Maharashtra · Bihar
Already well beyond the launch region.</a:t>
            </a:r>
          </a:p>
        </p:txBody>
      </p:sp>
      <p:sp>
        <p:nvSpPr>
          <p:cNvPr id="49" name="Rounded Rectangle 48"/>
          <p:cNvSpPr/>
          <p:nvPr/>
        </p:nvSpPr>
        <p:spPr>
          <a:xfrm>
            <a:off x="6347307" y="3657600"/>
            <a:ext cx="5186019" cy="1143000"/>
          </a:xfrm>
          <a:prstGeom prst="roundRect">
            <a:avLst>
              <a:gd name="adj" fmla="val 4500"/>
            </a:avLst>
          </a:prstGeom>
          <a:solidFill>
            <a:srgbClr val="FFFFF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585051" y="3858768"/>
            <a:ext cx="4728819" cy="274320"/>
          </a:xfrm>
          <a:prstGeom prst="rect">
            <a:avLst/>
          </a:prstGeom>
          <a:noFill/>
        </p:spPr>
        <p:txBody>
          <a:bodyPr wrap="square" anchor="t" lIns="0" rIns="0" tIns="0" bIns="0">
            <a:spAutoFit/>
          </a:bodyPr>
          <a:lstStyle/>
          <a:p>
            <a:pPr algn="l">
              <a:lnSpc>
                <a:spcPct val="110000"/>
              </a:lnSpc>
            </a:pPr>
            <a:r>
              <a:rPr sz="1300" b="1">
                <a:solidFill>
                  <a:srgbClr val="1A1D23"/>
                </a:solidFill>
                <a:latin typeface="Segoe UI"/>
              </a:rPr>
              <a:t>Language</a:t>
            </a:r>
          </a:p>
        </p:txBody>
      </p:sp>
      <p:sp>
        <p:nvSpPr>
          <p:cNvPr id="51" name="TextBox 50"/>
          <p:cNvSpPr txBox="1"/>
          <p:nvPr/>
        </p:nvSpPr>
        <p:spPr>
          <a:xfrm>
            <a:off x="6585051" y="4169663"/>
            <a:ext cx="4728819" cy="448056"/>
          </a:xfrm>
          <a:prstGeom prst="rect">
            <a:avLst/>
          </a:prstGeom>
          <a:noFill/>
        </p:spPr>
        <p:txBody>
          <a:bodyPr wrap="square" anchor="t" lIns="0" rIns="0" tIns="0" bIns="0">
            <a:spAutoFit/>
          </a:bodyPr>
          <a:lstStyle/>
          <a:p>
            <a:pPr algn="l">
              <a:lnSpc>
                <a:spcPct val="130000"/>
              </a:lnSpc>
            </a:pPr>
            <a:r>
              <a:rPr sz="1050" b="0">
                <a:solidFill>
                  <a:srgbClr val="55606E"/>
                </a:solidFill>
                <a:latin typeface="Segoe UI"/>
              </a:rPr>
              <a:t>The service runs in a single language today, with multi-language support on the roadmap as the rollout moves into southern and eastern states.</a:t>
            </a:r>
          </a:p>
        </p:txBody>
      </p:sp>
      <p:sp>
        <p:nvSpPr>
          <p:cNvPr id="52" name="Rounded Rectangle 51"/>
          <p:cNvSpPr/>
          <p:nvPr/>
        </p:nvSpPr>
        <p:spPr>
          <a:xfrm>
            <a:off x="6347307" y="4946904"/>
            <a:ext cx="5186019" cy="1143000"/>
          </a:xfrm>
          <a:prstGeom prst="roundRect">
            <a:avLst>
              <a:gd name="adj" fmla="val 4500"/>
            </a:avLst>
          </a:prstGeom>
          <a:solidFill>
            <a:srgbClr val="FFFFF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585051" y="5148072"/>
            <a:ext cx="4728819" cy="274320"/>
          </a:xfrm>
          <a:prstGeom prst="rect">
            <a:avLst/>
          </a:prstGeom>
          <a:noFill/>
        </p:spPr>
        <p:txBody>
          <a:bodyPr wrap="square" anchor="t" lIns="0" rIns="0" tIns="0" bIns="0">
            <a:spAutoFit/>
          </a:bodyPr>
          <a:lstStyle/>
          <a:p>
            <a:pPr algn="l">
              <a:lnSpc>
                <a:spcPct val="110000"/>
              </a:lnSpc>
            </a:pPr>
            <a:r>
              <a:rPr sz="1300" b="1">
                <a:solidFill>
                  <a:srgbClr val="1A1D23"/>
                </a:solidFill>
                <a:latin typeface="Segoe UI"/>
              </a:rPr>
              <a:t>Delhi and Indore carry 87%</a:t>
            </a:r>
          </a:p>
        </p:txBody>
      </p:sp>
      <p:sp>
        <p:nvSpPr>
          <p:cNvPr id="54" name="TextBox 53"/>
          <p:cNvSpPr txBox="1"/>
          <p:nvPr/>
        </p:nvSpPr>
        <p:spPr>
          <a:xfrm>
            <a:off x="6585051" y="5458968"/>
            <a:ext cx="4728819" cy="448056"/>
          </a:xfrm>
          <a:prstGeom prst="rect">
            <a:avLst/>
          </a:prstGeom>
          <a:noFill/>
        </p:spPr>
        <p:txBody>
          <a:bodyPr wrap="square" anchor="t" lIns="0" rIns="0" tIns="0" bIns="0">
            <a:spAutoFit/>
          </a:bodyPr>
          <a:lstStyle/>
          <a:p>
            <a:pPr algn="l">
              <a:lnSpc>
                <a:spcPct val="130000"/>
              </a:lnSpc>
            </a:pPr>
            <a:r>
              <a:rPr sz="1050" b="0">
                <a:solidFill>
                  <a:srgbClr val="55606E"/>
                </a:solidFill>
                <a:latin typeface="Segoe UI"/>
              </a:rPr>
              <a:t>The other seven offices are still ramping — the network has room to grow into capacity that already exists.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10896"/>
            <a:ext cx="3657600" cy="182880"/>
          </a:xfrm>
          <a:prstGeom prst="rect">
            <a:avLst/>
          </a:prstGeom>
          <a:noFill/>
        </p:spPr>
        <p:txBody>
          <a:bodyPr wrap="square" anchor="t" lIns="0" rIns="0" tIns="0" bIns="0">
            <a:spAutoFit/>
          </a:bodyPr>
          <a:lstStyle/>
          <a:p>
            <a:pPr algn="l">
              <a:lnSpc>
                <a:spcPct val="100000"/>
              </a:lnSpc>
            </a:pPr>
            <a:r>
              <a:rPr sz="850" b="0">
                <a:solidFill>
                  <a:srgbClr val="8894A3"/>
                </a:solidFill>
                <a:latin typeface="Consolas"/>
              </a:rPr>
              <a:t>VOICEOWL </a:t>
            </a:r>
            <a:r>
              <a:rPr sz="850" b="0">
                <a:solidFill>
                  <a:srgbClr val="E8551F"/>
                </a:solidFill>
                <a:latin typeface="Consolas"/>
              </a:rPr>
              <a:t>x</a:t>
            </a:r>
            <a:r>
              <a:rPr sz="850" b="0">
                <a:solidFill>
                  <a:srgbClr val="8894A3"/>
                </a:solidFill>
                <a:latin typeface="Consolas"/>
              </a:rPr>
              <a:t> BHARAT GAS</a:t>
            </a:r>
          </a:p>
        </p:txBody>
      </p:sp>
      <p:sp>
        <p:nvSpPr>
          <p:cNvPr id="4" name="TextBox 3"/>
          <p:cNvSpPr txBox="1"/>
          <p:nvPr/>
        </p:nvSpPr>
        <p:spPr>
          <a:xfrm>
            <a:off x="10436047" y="310896"/>
            <a:ext cx="1097280" cy="182880"/>
          </a:xfrm>
          <a:prstGeom prst="rect">
            <a:avLst/>
          </a:prstGeom>
          <a:noFill/>
        </p:spPr>
        <p:txBody>
          <a:bodyPr wrap="square" anchor="t" lIns="0" rIns="0" tIns="0" bIns="0">
            <a:spAutoFit/>
          </a:bodyPr>
          <a:lstStyle/>
          <a:p>
            <a:pPr algn="r">
              <a:lnSpc>
                <a:spcPct val="100000"/>
              </a:lnSpc>
            </a:pPr>
            <a:r>
              <a:rPr sz="850" b="0">
                <a:solidFill>
                  <a:srgbClr val="8894A3"/>
                </a:solidFill>
                <a:latin typeface="Consolas"/>
              </a:rPr>
              <a:t>08 / 10</a:t>
            </a:r>
          </a:p>
        </p:txBody>
      </p:sp>
      <p:sp>
        <p:nvSpPr>
          <p:cNvPr id="5" name="Rounded Rectangle 4"/>
          <p:cNvSpPr/>
          <p:nvPr/>
        </p:nvSpPr>
        <p:spPr>
          <a:xfrm>
            <a:off x="658368" y="713232"/>
            <a:ext cx="384048" cy="219456"/>
          </a:xfrm>
          <a:prstGeom prst="roundRect">
            <a:avLst>
              <a:gd name="adj" fmla="val 50000"/>
            </a:avLst>
          </a:prstGeom>
          <a:solidFill>
            <a:srgbClr val="FDF0EA"/>
          </a:solidFill>
          <a:ln w="9525">
            <a:solidFill>
              <a:srgbClr val="E85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745236"/>
            <a:ext cx="384048" cy="182880"/>
          </a:xfrm>
          <a:prstGeom prst="rect">
            <a:avLst/>
          </a:prstGeom>
          <a:noFill/>
        </p:spPr>
        <p:txBody>
          <a:bodyPr wrap="square" anchor="t" lIns="0" rIns="0" tIns="0" bIns="0">
            <a:spAutoFit/>
          </a:bodyPr>
          <a:lstStyle/>
          <a:p>
            <a:pPr algn="ctr">
              <a:lnSpc>
                <a:spcPct val="100000"/>
              </a:lnSpc>
            </a:pPr>
            <a:r>
              <a:rPr sz="900" b="0">
                <a:solidFill>
                  <a:srgbClr val="E8551F"/>
                </a:solidFill>
                <a:latin typeface="Consolas"/>
              </a:rPr>
              <a:t>08</a:t>
            </a:r>
          </a:p>
        </p:txBody>
      </p:sp>
      <p:sp>
        <p:nvSpPr>
          <p:cNvPr id="7" name="TextBox 6"/>
          <p:cNvSpPr txBox="1"/>
          <p:nvPr/>
        </p:nvSpPr>
        <p:spPr>
          <a:xfrm>
            <a:off x="1161288" y="749808"/>
            <a:ext cx="5486400" cy="182880"/>
          </a:xfrm>
          <a:prstGeom prst="rect">
            <a:avLst/>
          </a:prstGeom>
          <a:noFill/>
        </p:spPr>
        <p:txBody>
          <a:bodyPr wrap="square" anchor="t" lIns="0" rIns="0" tIns="0" bIns="0">
            <a:spAutoFit/>
          </a:bodyPr>
          <a:lstStyle/>
          <a:p>
            <a:pPr algn="l">
              <a:lnSpc>
                <a:spcPct val="100000"/>
              </a:lnSpc>
            </a:pPr>
            <a:r>
              <a:rPr sz="900" b="0">
                <a:solidFill>
                  <a:srgbClr val="8894A3"/>
                </a:solidFill>
                <a:latin typeface="Consolas"/>
              </a:rPr>
              <a:t>RESULTS</a:t>
            </a:r>
          </a:p>
        </p:txBody>
      </p:sp>
      <p:sp>
        <p:nvSpPr>
          <p:cNvPr id="8" name="TextBox 7"/>
          <p:cNvSpPr txBox="1"/>
          <p:nvPr/>
        </p:nvSpPr>
        <p:spPr>
          <a:xfrm>
            <a:off x="658368" y="1051560"/>
            <a:ext cx="10874959" cy="822960"/>
          </a:xfrm>
          <a:prstGeom prst="rect">
            <a:avLst/>
          </a:prstGeom>
          <a:noFill/>
        </p:spPr>
        <p:txBody>
          <a:bodyPr wrap="square" anchor="t" lIns="0" rIns="0" tIns="0" bIns="0">
            <a:spAutoFit/>
          </a:bodyPr>
          <a:lstStyle/>
          <a:p>
            <a:pPr algn="l">
              <a:lnSpc>
                <a:spcPct val="106000"/>
              </a:lnSpc>
            </a:pPr>
            <a:r>
              <a:rPr sz="3000" b="1">
                <a:solidFill>
                  <a:srgbClr val="1A1D23"/>
                </a:solidFill>
                <a:latin typeface="Segoe UI"/>
              </a:rPr>
              <a:t>Who is answering the network's calls</a:t>
            </a:r>
          </a:p>
        </p:txBody>
      </p:sp>
      <p:sp>
        <p:nvSpPr>
          <p:cNvPr id="9" name="TextBox 8"/>
          <p:cNvSpPr txBox="1"/>
          <p:nvPr/>
        </p:nvSpPr>
        <p:spPr>
          <a:xfrm>
            <a:off x="658368" y="1810512"/>
            <a:ext cx="1920240" cy="219456"/>
          </a:xfrm>
          <a:prstGeom prst="rect">
            <a:avLst/>
          </a:prstGeom>
          <a:noFill/>
        </p:spPr>
        <p:txBody>
          <a:bodyPr wrap="square" anchor="t" lIns="0" rIns="0" tIns="0" bIns="0">
            <a:spAutoFit/>
          </a:bodyPr>
          <a:lstStyle/>
          <a:p>
            <a:pPr algn="l">
              <a:lnSpc>
                <a:spcPct val="100000"/>
              </a:lnSpc>
            </a:pPr>
            <a:r>
              <a:rPr sz="1050" b="1">
                <a:solidFill>
                  <a:srgbClr val="1A1D23"/>
                </a:solidFill>
                <a:latin typeface="Segoe UI"/>
              </a:rPr>
              <a:t>Vaani</a:t>
            </a:r>
          </a:p>
        </p:txBody>
      </p:sp>
      <p:sp>
        <p:nvSpPr>
          <p:cNvPr id="10" name="Rounded Rectangle 9"/>
          <p:cNvSpPr/>
          <p:nvPr/>
        </p:nvSpPr>
        <p:spPr>
          <a:xfrm>
            <a:off x="2688336" y="1810512"/>
            <a:ext cx="7683703" cy="219456"/>
          </a:xfrm>
          <a:prstGeom prst="roundRect">
            <a:avLst>
              <a:gd name="adj" fmla="val 35000"/>
            </a:avLst>
          </a:prstGeom>
          <a:solidFill>
            <a:srgbClr val="E8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688336" y="1810512"/>
            <a:ext cx="4917570" cy="219456"/>
          </a:xfrm>
          <a:prstGeom prst="roundRect">
            <a:avLst>
              <a:gd name="adj" fmla="val 35000"/>
            </a:avLst>
          </a:prstGeom>
          <a:solidFill>
            <a:srgbClr val="E8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81767" y="1819656"/>
            <a:ext cx="1051560" cy="201168"/>
          </a:xfrm>
          <a:prstGeom prst="rect">
            <a:avLst/>
          </a:prstGeom>
          <a:noFill/>
        </p:spPr>
        <p:txBody>
          <a:bodyPr wrap="square" anchor="t" lIns="0" rIns="0" tIns="0" bIns="0">
            <a:spAutoFit/>
          </a:bodyPr>
          <a:lstStyle/>
          <a:p>
            <a:pPr algn="r">
              <a:lnSpc>
                <a:spcPct val="100000"/>
              </a:lnSpc>
            </a:pPr>
            <a:r>
              <a:rPr sz="1000" b="0">
                <a:solidFill>
                  <a:srgbClr val="1A1D23"/>
                </a:solidFill>
                <a:latin typeface="Consolas"/>
              </a:rPr>
              <a:t>971 · 64%</a:t>
            </a:r>
          </a:p>
        </p:txBody>
      </p:sp>
      <p:sp>
        <p:nvSpPr>
          <p:cNvPr id="13" name="TextBox 12"/>
          <p:cNvSpPr txBox="1"/>
          <p:nvPr/>
        </p:nvSpPr>
        <p:spPr>
          <a:xfrm>
            <a:off x="658368" y="2249424"/>
            <a:ext cx="1920240" cy="219456"/>
          </a:xfrm>
          <a:prstGeom prst="rect">
            <a:avLst/>
          </a:prstGeom>
          <a:noFill/>
        </p:spPr>
        <p:txBody>
          <a:bodyPr wrap="square" anchor="t" lIns="0" rIns="0" tIns="0" bIns="0">
            <a:spAutoFit/>
          </a:bodyPr>
          <a:lstStyle/>
          <a:p>
            <a:pPr algn="l">
              <a:lnSpc>
                <a:spcPct val="100000"/>
              </a:lnSpc>
            </a:pPr>
            <a:r>
              <a:rPr sz="1050" b="1">
                <a:solidFill>
                  <a:srgbClr val="1A1D23"/>
                </a:solidFill>
                <a:latin typeface="Segoe UI"/>
              </a:rPr>
              <a:t>CRC representative</a:t>
            </a:r>
          </a:p>
        </p:txBody>
      </p:sp>
      <p:sp>
        <p:nvSpPr>
          <p:cNvPr id="14" name="Rounded Rectangle 13"/>
          <p:cNvSpPr/>
          <p:nvPr/>
        </p:nvSpPr>
        <p:spPr>
          <a:xfrm>
            <a:off x="2688336" y="2249424"/>
            <a:ext cx="7683703" cy="219456"/>
          </a:xfrm>
          <a:prstGeom prst="roundRect">
            <a:avLst>
              <a:gd name="adj" fmla="val 35000"/>
            </a:avLst>
          </a:prstGeom>
          <a:solidFill>
            <a:srgbClr val="E8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688336" y="2249424"/>
            <a:ext cx="883625" cy="219456"/>
          </a:xfrm>
          <a:prstGeom prst="roundRect">
            <a:avLst>
              <a:gd name="adj" fmla="val 35000"/>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81767" y="2258568"/>
            <a:ext cx="1051560" cy="201168"/>
          </a:xfrm>
          <a:prstGeom prst="rect">
            <a:avLst/>
          </a:prstGeom>
          <a:noFill/>
        </p:spPr>
        <p:txBody>
          <a:bodyPr wrap="square" anchor="t" lIns="0" rIns="0" tIns="0" bIns="0">
            <a:spAutoFit/>
          </a:bodyPr>
          <a:lstStyle/>
          <a:p>
            <a:pPr algn="r">
              <a:lnSpc>
                <a:spcPct val="100000"/>
              </a:lnSpc>
            </a:pPr>
            <a:r>
              <a:rPr sz="1000" b="0">
                <a:solidFill>
                  <a:srgbClr val="1A1D23"/>
                </a:solidFill>
                <a:latin typeface="Consolas"/>
              </a:rPr>
              <a:t>173 · 11.5%</a:t>
            </a:r>
          </a:p>
        </p:txBody>
      </p:sp>
      <p:sp>
        <p:nvSpPr>
          <p:cNvPr id="17" name="TextBox 16"/>
          <p:cNvSpPr txBox="1"/>
          <p:nvPr/>
        </p:nvSpPr>
        <p:spPr>
          <a:xfrm>
            <a:off x="658368" y="2688336"/>
            <a:ext cx="1920240" cy="219456"/>
          </a:xfrm>
          <a:prstGeom prst="rect">
            <a:avLst/>
          </a:prstGeom>
          <a:noFill/>
        </p:spPr>
        <p:txBody>
          <a:bodyPr wrap="square" anchor="t" lIns="0" rIns="0" tIns="0" bIns="0">
            <a:spAutoFit/>
          </a:bodyPr>
          <a:lstStyle/>
          <a:p>
            <a:pPr algn="l">
              <a:lnSpc>
                <a:spcPct val="100000"/>
              </a:lnSpc>
            </a:pPr>
            <a:r>
              <a:rPr sz="1050" b="0">
                <a:solidFill>
                  <a:srgbClr val="55606E"/>
                </a:solidFill>
                <a:latin typeface="Segoe UI"/>
              </a:rPr>
              <a:t>Not connected / incomplete</a:t>
            </a:r>
          </a:p>
        </p:txBody>
      </p:sp>
      <p:sp>
        <p:nvSpPr>
          <p:cNvPr id="18" name="Rounded Rectangle 17"/>
          <p:cNvSpPr/>
          <p:nvPr/>
        </p:nvSpPr>
        <p:spPr>
          <a:xfrm>
            <a:off x="2688336" y="2688336"/>
            <a:ext cx="7683703" cy="219456"/>
          </a:xfrm>
          <a:prstGeom prst="roundRect">
            <a:avLst>
              <a:gd name="adj" fmla="val 35000"/>
            </a:avLst>
          </a:prstGeom>
          <a:solidFill>
            <a:srgbClr val="E8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688336" y="2688336"/>
            <a:ext cx="1851772" cy="219456"/>
          </a:xfrm>
          <a:prstGeom prst="roundRect">
            <a:avLst>
              <a:gd name="adj" fmla="val 35000"/>
            </a:avLst>
          </a:prstGeom>
          <a:solidFill>
            <a:srgbClr val="7B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81767" y="2697480"/>
            <a:ext cx="1051560" cy="201168"/>
          </a:xfrm>
          <a:prstGeom prst="rect">
            <a:avLst/>
          </a:prstGeom>
          <a:noFill/>
        </p:spPr>
        <p:txBody>
          <a:bodyPr wrap="square" anchor="t" lIns="0" rIns="0" tIns="0" bIns="0">
            <a:spAutoFit/>
          </a:bodyPr>
          <a:lstStyle/>
          <a:p>
            <a:pPr algn="r">
              <a:lnSpc>
                <a:spcPct val="100000"/>
              </a:lnSpc>
            </a:pPr>
            <a:r>
              <a:rPr sz="1000" b="0">
                <a:solidFill>
                  <a:srgbClr val="1A1D23"/>
                </a:solidFill>
                <a:latin typeface="Consolas"/>
              </a:rPr>
              <a:t>363 · 24.1%</a:t>
            </a:r>
          </a:p>
        </p:txBody>
      </p:sp>
      <p:sp>
        <p:nvSpPr>
          <p:cNvPr id="21" name="Rounded Rectangle 20"/>
          <p:cNvSpPr/>
          <p:nvPr/>
        </p:nvSpPr>
        <p:spPr>
          <a:xfrm>
            <a:off x="658368" y="3218688"/>
            <a:ext cx="100584" cy="100584"/>
          </a:xfrm>
          <a:prstGeom prst="roundRect">
            <a:avLst>
              <a:gd name="adj" fmla="val 30000"/>
            </a:avLst>
          </a:prstGeom>
          <a:solidFill>
            <a:srgbClr val="E8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3" y="3182112"/>
            <a:ext cx="1737360" cy="182880"/>
          </a:xfrm>
          <a:prstGeom prst="rect">
            <a:avLst/>
          </a:prstGeom>
          <a:noFill/>
        </p:spPr>
        <p:txBody>
          <a:bodyPr wrap="square" anchor="t" lIns="0" rIns="0" tIns="0" bIns="0">
            <a:spAutoFit/>
          </a:bodyPr>
          <a:lstStyle/>
          <a:p>
            <a:pPr algn="l">
              <a:lnSpc>
                <a:spcPct val="100000"/>
              </a:lnSpc>
            </a:pPr>
            <a:r>
              <a:rPr sz="950" b="0">
                <a:solidFill>
                  <a:srgbClr val="55606E"/>
                </a:solidFill>
                <a:latin typeface="Segoe UI"/>
              </a:rPr>
              <a:t>Vaani</a:t>
            </a:r>
          </a:p>
        </p:txBody>
      </p:sp>
      <p:sp>
        <p:nvSpPr>
          <p:cNvPr id="23" name="Rounded Rectangle 22"/>
          <p:cNvSpPr/>
          <p:nvPr/>
        </p:nvSpPr>
        <p:spPr>
          <a:xfrm>
            <a:off x="1234440" y="3218688"/>
            <a:ext cx="100584" cy="100584"/>
          </a:xfrm>
          <a:prstGeom prst="roundRect">
            <a:avLst>
              <a:gd name="adj" fmla="val 30000"/>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08176" y="3182112"/>
            <a:ext cx="1737360" cy="182880"/>
          </a:xfrm>
          <a:prstGeom prst="rect">
            <a:avLst/>
          </a:prstGeom>
          <a:noFill/>
        </p:spPr>
        <p:txBody>
          <a:bodyPr wrap="square" anchor="t" lIns="0" rIns="0" tIns="0" bIns="0">
            <a:spAutoFit/>
          </a:bodyPr>
          <a:lstStyle/>
          <a:p>
            <a:pPr algn="l">
              <a:lnSpc>
                <a:spcPct val="100000"/>
              </a:lnSpc>
            </a:pPr>
            <a:r>
              <a:rPr sz="950" b="0">
                <a:solidFill>
                  <a:srgbClr val="55606E"/>
                </a:solidFill>
                <a:latin typeface="Segoe UI"/>
              </a:rPr>
              <a:t>CRC representative</a:t>
            </a:r>
          </a:p>
        </p:txBody>
      </p:sp>
      <p:sp>
        <p:nvSpPr>
          <p:cNvPr id="25" name="Rounded Rectangle 24"/>
          <p:cNvSpPr/>
          <p:nvPr/>
        </p:nvSpPr>
        <p:spPr>
          <a:xfrm>
            <a:off x="2547518" y="3218688"/>
            <a:ext cx="100584" cy="100584"/>
          </a:xfrm>
          <a:prstGeom prst="roundRect">
            <a:avLst>
              <a:gd name="adj" fmla="val 30000"/>
            </a:avLst>
          </a:prstGeom>
          <a:solidFill>
            <a:srgbClr val="7B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21254" y="3182112"/>
            <a:ext cx="1737360" cy="182880"/>
          </a:xfrm>
          <a:prstGeom prst="rect">
            <a:avLst/>
          </a:prstGeom>
          <a:noFill/>
        </p:spPr>
        <p:txBody>
          <a:bodyPr wrap="square" anchor="t" lIns="0" rIns="0" tIns="0" bIns="0">
            <a:spAutoFit/>
          </a:bodyPr>
          <a:lstStyle/>
          <a:p>
            <a:pPr algn="l">
              <a:lnSpc>
                <a:spcPct val="100000"/>
              </a:lnSpc>
            </a:pPr>
            <a:r>
              <a:rPr sz="950" b="0">
                <a:solidFill>
                  <a:srgbClr val="55606E"/>
                </a:solidFill>
                <a:latin typeface="Segoe UI"/>
              </a:rPr>
              <a:t>Not connected</a:t>
            </a:r>
          </a:p>
        </p:txBody>
      </p:sp>
      <p:sp>
        <p:nvSpPr>
          <p:cNvPr id="27" name="TextBox 26"/>
          <p:cNvSpPr txBox="1"/>
          <p:nvPr/>
        </p:nvSpPr>
        <p:spPr>
          <a:xfrm>
            <a:off x="658368" y="3456432"/>
            <a:ext cx="10874959" cy="201168"/>
          </a:xfrm>
          <a:prstGeom prst="rect">
            <a:avLst/>
          </a:prstGeom>
          <a:noFill/>
        </p:spPr>
        <p:txBody>
          <a:bodyPr wrap="square" anchor="t" lIns="0" rIns="0" tIns="0" bIns="0">
            <a:spAutoFit/>
          </a:bodyPr>
          <a:lstStyle/>
          <a:p>
            <a:pPr algn="l">
              <a:lnSpc>
                <a:spcPct val="100000"/>
              </a:lnSpc>
            </a:pPr>
            <a:r>
              <a:rPr sz="950" b="1">
                <a:solidFill>
                  <a:srgbClr val="55606E"/>
                </a:solidFill>
                <a:latin typeface="Segoe UI"/>
              </a:rPr>
              <a:t>Not connected / incomplete</a:t>
            </a:r>
            <a:r>
              <a:rPr sz="950" b="0">
                <a:solidFill>
                  <a:srgbClr val="8894A3"/>
                </a:solidFill>
                <a:latin typeface="Segoe UI"/>
              </a:rPr>
              <a:t> — calls hung up by the customer before connecting with either a representative or Vaani.</a:t>
            </a:r>
          </a:p>
        </p:txBody>
      </p:sp>
      <p:sp>
        <p:nvSpPr>
          <p:cNvPr id="28" name="Rectangle 27"/>
          <p:cNvSpPr/>
          <p:nvPr/>
        </p:nvSpPr>
        <p:spPr>
          <a:xfrm>
            <a:off x="658368" y="3785615"/>
            <a:ext cx="32004" cy="566928"/>
          </a:xfrm>
          <a:prstGeom prst="rect">
            <a:avLst/>
          </a:prstGeom>
          <a:solidFill>
            <a:srgbClr val="E8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90372" y="3785615"/>
            <a:ext cx="10842955" cy="566928"/>
          </a:xfrm>
          <a:prstGeom prst="rect">
            <a:avLst/>
          </a:prstGeom>
          <a:solidFill>
            <a:srgbClr val="FD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3950208"/>
            <a:ext cx="10326319" cy="274320"/>
          </a:xfrm>
          <a:prstGeom prst="rect">
            <a:avLst/>
          </a:prstGeom>
          <a:noFill/>
        </p:spPr>
        <p:txBody>
          <a:bodyPr wrap="square" anchor="t" lIns="0" rIns="0" tIns="0" bIns="0">
            <a:spAutoFit/>
          </a:bodyPr>
          <a:lstStyle/>
          <a:p>
            <a:pPr algn="l">
              <a:lnSpc>
                <a:spcPct val="125000"/>
              </a:lnSpc>
            </a:pPr>
            <a:r>
              <a:rPr sz="1150" b="1">
                <a:solidFill>
                  <a:srgbClr val="1A1D23"/>
                </a:solidFill>
                <a:latin typeface="Segoe UI"/>
              </a:rPr>
              <a:t>Vaani carries roughly 5.6x the call volume that the CRC desks do</a:t>
            </a:r>
            <a:r>
              <a:rPr sz="1150" b="0">
                <a:solidFill>
                  <a:srgbClr val="1A1D23"/>
                </a:solidFill>
                <a:latin typeface="Segoe UI"/>
              </a:rPr>
              <a:t> — on a routing model that gives the human representative first refusal on every single call.</a:t>
            </a:r>
          </a:p>
        </p:txBody>
      </p:sp>
      <p:sp>
        <p:nvSpPr>
          <p:cNvPr id="31" name="TextBox 30"/>
          <p:cNvSpPr txBox="1"/>
          <p:nvPr/>
        </p:nvSpPr>
        <p:spPr>
          <a:xfrm>
            <a:off x="658368" y="4572000"/>
            <a:ext cx="7315200" cy="274320"/>
          </a:xfrm>
          <a:prstGeom prst="rect">
            <a:avLst/>
          </a:prstGeom>
          <a:noFill/>
        </p:spPr>
        <p:txBody>
          <a:bodyPr wrap="square" anchor="t" lIns="0" rIns="0" tIns="0" bIns="0">
            <a:spAutoFit/>
          </a:bodyPr>
          <a:lstStyle/>
          <a:p>
            <a:pPr algn="l">
              <a:lnSpc>
                <a:spcPct val="100000"/>
              </a:lnSpc>
            </a:pPr>
            <a:r>
              <a:rPr sz="1500" b="1">
                <a:solidFill>
                  <a:srgbClr val="1A1D23"/>
                </a:solidFill>
                <a:latin typeface="Segoe UI"/>
              </a:rPr>
              <a:t>Weekends run on Vaani alone</a:t>
            </a:r>
          </a:p>
        </p:txBody>
      </p:sp>
      <p:sp>
        <p:nvSpPr>
          <p:cNvPr id="32" name="Rounded Rectangle 31"/>
          <p:cNvSpPr/>
          <p:nvPr/>
        </p:nvSpPr>
        <p:spPr>
          <a:xfrm>
            <a:off x="658368" y="4956048"/>
            <a:ext cx="5186019" cy="932688"/>
          </a:xfrm>
          <a:prstGeom prst="roundRect">
            <a:avLst>
              <a:gd name="adj" fmla="val 4500"/>
            </a:avLst>
          </a:prstGeom>
          <a:solidFill>
            <a:srgbClr val="FFFFFF"/>
          </a:solidFill>
          <a:ln w="15875">
            <a:solidFill>
              <a:srgbClr val="E85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6112" y="5084064"/>
            <a:ext cx="4728819" cy="146304"/>
          </a:xfrm>
          <a:prstGeom prst="rect">
            <a:avLst/>
          </a:prstGeom>
          <a:noFill/>
        </p:spPr>
        <p:txBody>
          <a:bodyPr wrap="square" anchor="t" lIns="0" rIns="0" tIns="0" bIns="0">
            <a:spAutoFit/>
          </a:bodyPr>
          <a:lstStyle/>
          <a:p>
            <a:pPr algn="l">
              <a:lnSpc>
                <a:spcPct val="100000"/>
              </a:lnSpc>
            </a:pPr>
            <a:r>
              <a:rPr sz="800" b="0">
                <a:solidFill>
                  <a:srgbClr val="8894A3"/>
                </a:solidFill>
                <a:latin typeface="Consolas"/>
              </a:rPr>
              <a:t>WEEKEND CALLS · 218 TOTAL</a:t>
            </a:r>
          </a:p>
        </p:txBody>
      </p:sp>
      <p:sp>
        <p:nvSpPr>
          <p:cNvPr id="34" name="TextBox 33"/>
          <p:cNvSpPr txBox="1"/>
          <p:nvPr/>
        </p:nvSpPr>
        <p:spPr>
          <a:xfrm>
            <a:off x="896112" y="5266944"/>
            <a:ext cx="1097280" cy="365760"/>
          </a:xfrm>
          <a:prstGeom prst="rect">
            <a:avLst/>
          </a:prstGeom>
          <a:noFill/>
        </p:spPr>
        <p:txBody>
          <a:bodyPr wrap="square" anchor="t" lIns="0" rIns="0" tIns="0" bIns="0">
            <a:spAutoFit/>
          </a:bodyPr>
          <a:lstStyle/>
          <a:p>
            <a:pPr algn="l">
              <a:lnSpc>
                <a:spcPct val="100000"/>
              </a:lnSpc>
            </a:pPr>
            <a:r>
              <a:rPr sz="2400" b="1">
                <a:solidFill>
                  <a:srgbClr val="E8551F"/>
                </a:solidFill>
                <a:latin typeface="Segoe UI"/>
              </a:rPr>
              <a:t>180</a:t>
            </a:r>
          </a:p>
        </p:txBody>
      </p:sp>
      <p:sp>
        <p:nvSpPr>
          <p:cNvPr id="35" name="TextBox 34"/>
          <p:cNvSpPr txBox="1"/>
          <p:nvPr/>
        </p:nvSpPr>
        <p:spPr>
          <a:xfrm>
            <a:off x="896112" y="5586984"/>
            <a:ext cx="1828800" cy="274320"/>
          </a:xfrm>
          <a:prstGeom prst="rect">
            <a:avLst/>
          </a:prstGeom>
          <a:noFill/>
        </p:spPr>
        <p:txBody>
          <a:bodyPr wrap="square" anchor="t" lIns="0" rIns="0" tIns="0" bIns="0">
            <a:spAutoFit/>
          </a:bodyPr>
          <a:lstStyle/>
          <a:p>
            <a:pPr algn="l">
              <a:lnSpc>
                <a:spcPct val="120000"/>
              </a:lnSpc>
            </a:pPr>
            <a:r>
              <a:rPr sz="900" b="0">
                <a:solidFill>
                  <a:srgbClr val="8894A3"/>
                </a:solidFill>
                <a:latin typeface="Segoe UI"/>
              </a:rPr>
              <a:t>answered by Vaani</a:t>
            </a:r>
          </a:p>
        </p:txBody>
      </p:sp>
      <p:sp>
        <p:nvSpPr>
          <p:cNvPr id="36" name="TextBox 35"/>
          <p:cNvSpPr txBox="1"/>
          <p:nvPr/>
        </p:nvSpPr>
        <p:spPr>
          <a:xfrm>
            <a:off x="2852928" y="5266944"/>
            <a:ext cx="1097280" cy="365760"/>
          </a:xfrm>
          <a:prstGeom prst="rect">
            <a:avLst/>
          </a:prstGeom>
          <a:noFill/>
        </p:spPr>
        <p:txBody>
          <a:bodyPr wrap="square" anchor="t" lIns="0" rIns="0" tIns="0" bIns="0">
            <a:spAutoFit/>
          </a:bodyPr>
          <a:lstStyle/>
          <a:p>
            <a:pPr algn="l">
              <a:lnSpc>
                <a:spcPct val="100000"/>
              </a:lnSpc>
            </a:pPr>
            <a:r>
              <a:rPr sz="2400" b="1">
                <a:solidFill>
                  <a:srgbClr val="2F9E8F"/>
                </a:solidFill>
                <a:latin typeface="Segoe UI"/>
              </a:rPr>
              <a:t>0</a:t>
            </a:r>
          </a:p>
        </p:txBody>
      </p:sp>
      <p:sp>
        <p:nvSpPr>
          <p:cNvPr id="37" name="TextBox 36"/>
          <p:cNvSpPr txBox="1"/>
          <p:nvPr/>
        </p:nvSpPr>
        <p:spPr>
          <a:xfrm>
            <a:off x="2852928" y="5586984"/>
            <a:ext cx="2011680" cy="274320"/>
          </a:xfrm>
          <a:prstGeom prst="rect">
            <a:avLst/>
          </a:prstGeom>
          <a:noFill/>
        </p:spPr>
        <p:txBody>
          <a:bodyPr wrap="square" anchor="t" lIns="0" rIns="0" tIns="0" bIns="0">
            <a:spAutoFit/>
          </a:bodyPr>
          <a:lstStyle/>
          <a:p>
            <a:pPr algn="l">
              <a:lnSpc>
                <a:spcPct val="120000"/>
              </a:lnSpc>
            </a:pPr>
            <a:r>
              <a:rPr sz="900" b="0">
                <a:solidFill>
                  <a:srgbClr val="8894A3"/>
                </a:solidFill>
                <a:latin typeface="Segoe UI"/>
              </a:rPr>
              <a:t>answered by a human</a:t>
            </a:r>
          </a:p>
        </p:txBody>
      </p:sp>
      <p:sp>
        <p:nvSpPr>
          <p:cNvPr id="38" name="Rounded Rectangle 37"/>
          <p:cNvSpPr/>
          <p:nvPr/>
        </p:nvSpPr>
        <p:spPr>
          <a:xfrm>
            <a:off x="6347307" y="4956048"/>
            <a:ext cx="5186019" cy="932688"/>
          </a:xfrm>
          <a:prstGeom prst="roundRect">
            <a:avLst>
              <a:gd name="adj" fmla="val 4500"/>
            </a:avLst>
          </a:prstGeom>
          <a:solidFill>
            <a:srgbClr val="FFFFFF"/>
          </a:solidFill>
          <a:ln w="15875">
            <a:solidFill>
              <a:srgbClr val="E85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5051" y="5084064"/>
            <a:ext cx="4728819" cy="146304"/>
          </a:xfrm>
          <a:prstGeom prst="rect">
            <a:avLst/>
          </a:prstGeom>
          <a:noFill/>
        </p:spPr>
        <p:txBody>
          <a:bodyPr wrap="square" anchor="t" lIns="0" rIns="0" tIns="0" bIns="0">
            <a:spAutoFit/>
          </a:bodyPr>
          <a:lstStyle/>
          <a:p>
            <a:pPr algn="l">
              <a:lnSpc>
                <a:spcPct val="100000"/>
              </a:lnSpc>
            </a:pPr>
            <a:r>
              <a:rPr sz="800" b="0">
                <a:solidFill>
                  <a:srgbClr val="8894A3"/>
                </a:solidFill>
                <a:latin typeface="Consolas"/>
              </a:rPr>
              <a:t>HOURS THE HELPLINE IS ANSWERABLE</a:t>
            </a:r>
          </a:p>
        </p:txBody>
      </p:sp>
      <p:sp>
        <p:nvSpPr>
          <p:cNvPr id="40" name="TextBox 39"/>
          <p:cNvSpPr txBox="1"/>
          <p:nvPr/>
        </p:nvSpPr>
        <p:spPr>
          <a:xfrm>
            <a:off x="6585051" y="5266944"/>
            <a:ext cx="1097280" cy="365760"/>
          </a:xfrm>
          <a:prstGeom prst="rect">
            <a:avLst/>
          </a:prstGeom>
          <a:noFill/>
        </p:spPr>
        <p:txBody>
          <a:bodyPr wrap="square" anchor="t" lIns="0" rIns="0" tIns="0" bIns="0">
            <a:spAutoFit/>
          </a:bodyPr>
          <a:lstStyle/>
          <a:p>
            <a:pPr algn="l">
              <a:lnSpc>
                <a:spcPct val="100000"/>
              </a:lnSpc>
            </a:pPr>
            <a:r>
              <a:rPr sz="2400" b="1">
                <a:solidFill>
                  <a:srgbClr val="E8551F"/>
                </a:solidFill>
                <a:latin typeface="Segoe UI"/>
              </a:rPr>
              <a:t>16</a:t>
            </a:r>
          </a:p>
        </p:txBody>
      </p:sp>
      <p:sp>
        <p:nvSpPr>
          <p:cNvPr id="41" name="TextBox 40"/>
          <p:cNvSpPr txBox="1"/>
          <p:nvPr/>
        </p:nvSpPr>
        <p:spPr>
          <a:xfrm>
            <a:off x="6585051" y="5586984"/>
            <a:ext cx="1828800" cy="274320"/>
          </a:xfrm>
          <a:prstGeom prst="rect">
            <a:avLst/>
          </a:prstGeom>
          <a:noFill/>
        </p:spPr>
        <p:txBody>
          <a:bodyPr wrap="square" anchor="t" lIns="0" rIns="0" tIns="0" bIns="0">
            <a:spAutoFit/>
          </a:bodyPr>
          <a:lstStyle/>
          <a:p>
            <a:pPr algn="l">
              <a:lnSpc>
                <a:spcPct val="120000"/>
              </a:lnSpc>
            </a:pPr>
            <a:r>
              <a:rPr sz="900" b="0">
                <a:solidFill>
                  <a:srgbClr val="8894A3"/>
                </a:solidFill>
                <a:latin typeface="Segoe UI"/>
              </a:rPr>
              <a:t>distinct hours of the
day covered by Vaani</a:t>
            </a:r>
          </a:p>
        </p:txBody>
      </p:sp>
      <p:sp>
        <p:nvSpPr>
          <p:cNvPr id="42" name="TextBox 41"/>
          <p:cNvSpPr txBox="1"/>
          <p:nvPr/>
        </p:nvSpPr>
        <p:spPr>
          <a:xfrm>
            <a:off x="8541867" y="5266944"/>
            <a:ext cx="1097280" cy="365760"/>
          </a:xfrm>
          <a:prstGeom prst="rect">
            <a:avLst/>
          </a:prstGeom>
          <a:noFill/>
        </p:spPr>
        <p:txBody>
          <a:bodyPr wrap="square" anchor="t" lIns="0" rIns="0" tIns="0" bIns="0">
            <a:spAutoFit/>
          </a:bodyPr>
          <a:lstStyle/>
          <a:p>
            <a:pPr algn="l">
              <a:lnSpc>
                <a:spcPct val="100000"/>
              </a:lnSpc>
            </a:pPr>
            <a:r>
              <a:rPr sz="2400" b="1">
                <a:solidFill>
                  <a:srgbClr val="2F9E8F"/>
                </a:solidFill>
                <a:latin typeface="Segoe UI"/>
              </a:rPr>
              <a:t>½</a:t>
            </a:r>
          </a:p>
        </p:txBody>
      </p:sp>
      <p:sp>
        <p:nvSpPr>
          <p:cNvPr id="43" name="TextBox 42"/>
          <p:cNvSpPr txBox="1"/>
          <p:nvPr/>
        </p:nvSpPr>
        <p:spPr>
          <a:xfrm>
            <a:off x="8541867" y="5586984"/>
            <a:ext cx="2011680" cy="274320"/>
          </a:xfrm>
          <a:prstGeom prst="rect">
            <a:avLst/>
          </a:prstGeom>
          <a:noFill/>
        </p:spPr>
        <p:txBody>
          <a:bodyPr wrap="square" anchor="t" lIns="0" rIns="0" tIns="0" bIns="0">
            <a:spAutoFit/>
          </a:bodyPr>
          <a:lstStyle/>
          <a:p>
            <a:pPr algn="l">
              <a:lnSpc>
                <a:spcPct val="120000"/>
              </a:lnSpc>
            </a:pPr>
            <a:r>
              <a:rPr sz="900" b="0">
                <a:solidFill>
                  <a:srgbClr val="8894A3"/>
                </a:solidFill>
                <a:latin typeface="Segoe UI"/>
              </a:rPr>
              <a:t>of days had a human on
duty — all weekdays</a:t>
            </a:r>
          </a:p>
        </p:txBody>
      </p:sp>
      <p:sp>
        <p:nvSpPr>
          <p:cNvPr id="44" name="TextBox 43"/>
          <p:cNvSpPr txBox="1"/>
          <p:nvPr/>
        </p:nvSpPr>
        <p:spPr>
          <a:xfrm>
            <a:off x="658368" y="6089904"/>
            <a:ext cx="10874959" cy="457200"/>
          </a:xfrm>
          <a:prstGeom prst="rect">
            <a:avLst/>
          </a:prstGeom>
          <a:noFill/>
        </p:spPr>
        <p:txBody>
          <a:bodyPr wrap="square" anchor="t" lIns="0" rIns="0" tIns="0" bIns="0">
            <a:spAutoFit/>
          </a:bodyPr>
          <a:lstStyle/>
          <a:p>
            <a:pPr algn="l">
              <a:lnSpc>
                <a:spcPct val="130000"/>
              </a:lnSpc>
            </a:pPr>
            <a:r>
              <a:rPr sz="1050" b="0">
                <a:solidFill>
                  <a:srgbClr val="55606E"/>
                </a:solidFill>
                <a:latin typeface="Segoe UI"/>
              </a:rPr>
              <a:t>Across every weekend day since go-live, </a:t>
            </a:r>
            <a:r>
              <a:rPr sz="1050" b="1">
                <a:solidFill>
                  <a:srgbClr val="1A1D23"/>
                </a:solidFill>
                <a:latin typeface="Segoe UI"/>
              </a:rPr>
              <a:t>not one call was answered by a human.</a:t>
            </a:r>
            <a:r>
              <a:rPr sz="1050" b="0">
                <a:solidFill>
                  <a:srgbClr val="55606E"/>
                </a:solidFill>
                <a:latin typeface="Segoe UI"/>
              </a:rPr>
              <a:t> Weekend answering is Vaani by default — and before this deployment, every one of these calls went unanswered and unrecorded.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10896"/>
            <a:ext cx="3657600" cy="182880"/>
          </a:xfrm>
          <a:prstGeom prst="rect">
            <a:avLst/>
          </a:prstGeom>
          <a:noFill/>
        </p:spPr>
        <p:txBody>
          <a:bodyPr wrap="square" anchor="t" lIns="0" rIns="0" tIns="0" bIns="0">
            <a:spAutoFit/>
          </a:bodyPr>
          <a:lstStyle/>
          <a:p>
            <a:pPr algn="l">
              <a:lnSpc>
                <a:spcPct val="100000"/>
              </a:lnSpc>
            </a:pPr>
            <a:r>
              <a:rPr sz="850" b="0">
                <a:solidFill>
                  <a:srgbClr val="8894A3"/>
                </a:solidFill>
                <a:latin typeface="Consolas"/>
              </a:rPr>
              <a:t>VOICEOWL </a:t>
            </a:r>
            <a:r>
              <a:rPr sz="850" b="0">
                <a:solidFill>
                  <a:srgbClr val="E8551F"/>
                </a:solidFill>
                <a:latin typeface="Consolas"/>
              </a:rPr>
              <a:t>x</a:t>
            </a:r>
            <a:r>
              <a:rPr sz="850" b="0">
                <a:solidFill>
                  <a:srgbClr val="8894A3"/>
                </a:solidFill>
                <a:latin typeface="Consolas"/>
              </a:rPr>
              <a:t> BHARAT GAS</a:t>
            </a:r>
          </a:p>
        </p:txBody>
      </p:sp>
      <p:sp>
        <p:nvSpPr>
          <p:cNvPr id="4" name="TextBox 3"/>
          <p:cNvSpPr txBox="1"/>
          <p:nvPr/>
        </p:nvSpPr>
        <p:spPr>
          <a:xfrm>
            <a:off x="10436047" y="310896"/>
            <a:ext cx="1097280" cy="182880"/>
          </a:xfrm>
          <a:prstGeom prst="rect">
            <a:avLst/>
          </a:prstGeom>
          <a:noFill/>
        </p:spPr>
        <p:txBody>
          <a:bodyPr wrap="square" anchor="t" lIns="0" rIns="0" tIns="0" bIns="0">
            <a:spAutoFit/>
          </a:bodyPr>
          <a:lstStyle/>
          <a:p>
            <a:pPr algn="r">
              <a:lnSpc>
                <a:spcPct val="100000"/>
              </a:lnSpc>
            </a:pPr>
            <a:r>
              <a:rPr sz="850" b="0">
                <a:solidFill>
                  <a:srgbClr val="8894A3"/>
                </a:solidFill>
                <a:latin typeface="Consolas"/>
              </a:rPr>
              <a:t>09 / 10</a:t>
            </a:r>
          </a:p>
        </p:txBody>
      </p:sp>
      <p:sp>
        <p:nvSpPr>
          <p:cNvPr id="5" name="Rounded Rectangle 4"/>
          <p:cNvSpPr/>
          <p:nvPr/>
        </p:nvSpPr>
        <p:spPr>
          <a:xfrm>
            <a:off x="658368" y="713232"/>
            <a:ext cx="384048" cy="219456"/>
          </a:xfrm>
          <a:prstGeom prst="roundRect">
            <a:avLst>
              <a:gd name="adj" fmla="val 50000"/>
            </a:avLst>
          </a:prstGeom>
          <a:solidFill>
            <a:srgbClr val="FDF0EA"/>
          </a:solidFill>
          <a:ln w="9525">
            <a:solidFill>
              <a:srgbClr val="E85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745236"/>
            <a:ext cx="384048" cy="182880"/>
          </a:xfrm>
          <a:prstGeom prst="rect">
            <a:avLst/>
          </a:prstGeom>
          <a:noFill/>
        </p:spPr>
        <p:txBody>
          <a:bodyPr wrap="square" anchor="t" lIns="0" rIns="0" tIns="0" bIns="0">
            <a:spAutoFit/>
          </a:bodyPr>
          <a:lstStyle/>
          <a:p>
            <a:pPr algn="ctr">
              <a:lnSpc>
                <a:spcPct val="100000"/>
              </a:lnSpc>
            </a:pPr>
            <a:r>
              <a:rPr sz="900" b="0">
                <a:solidFill>
                  <a:srgbClr val="E8551F"/>
                </a:solidFill>
                <a:latin typeface="Consolas"/>
              </a:rPr>
              <a:t>09</a:t>
            </a:r>
          </a:p>
        </p:txBody>
      </p:sp>
      <p:sp>
        <p:nvSpPr>
          <p:cNvPr id="7" name="TextBox 6"/>
          <p:cNvSpPr txBox="1"/>
          <p:nvPr/>
        </p:nvSpPr>
        <p:spPr>
          <a:xfrm>
            <a:off x="1161288" y="749808"/>
            <a:ext cx="5486400" cy="182880"/>
          </a:xfrm>
          <a:prstGeom prst="rect">
            <a:avLst/>
          </a:prstGeom>
          <a:noFill/>
        </p:spPr>
        <p:txBody>
          <a:bodyPr wrap="square" anchor="t" lIns="0" rIns="0" tIns="0" bIns="0">
            <a:spAutoFit/>
          </a:bodyPr>
          <a:lstStyle/>
          <a:p>
            <a:pPr algn="l">
              <a:lnSpc>
                <a:spcPct val="100000"/>
              </a:lnSpc>
            </a:pPr>
            <a:r>
              <a:rPr sz="900" b="0">
                <a:solidFill>
                  <a:srgbClr val="8894A3"/>
                </a:solidFill>
                <a:latin typeface="Consolas"/>
              </a:rPr>
              <a:t>ISSUE INTELLIGENCE</a:t>
            </a:r>
          </a:p>
        </p:txBody>
      </p:sp>
      <p:sp>
        <p:nvSpPr>
          <p:cNvPr id="8" name="TextBox 7"/>
          <p:cNvSpPr txBox="1"/>
          <p:nvPr/>
        </p:nvSpPr>
        <p:spPr>
          <a:xfrm>
            <a:off x="658368" y="1051560"/>
            <a:ext cx="10874959" cy="822960"/>
          </a:xfrm>
          <a:prstGeom prst="rect">
            <a:avLst/>
          </a:prstGeom>
          <a:noFill/>
        </p:spPr>
        <p:txBody>
          <a:bodyPr wrap="square" anchor="t" lIns="0" rIns="0" tIns="0" bIns="0">
            <a:spAutoFit/>
          </a:bodyPr>
          <a:lstStyle/>
          <a:p>
            <a:pPr algn="l">
              <a:lnSpc>
                <a:spcPct val="106000"/>
              </a:lnSpc>
            </a:pPr>
            <a:r>
              <a:rPr sz="3000" b="1">
                <a:solidFill>
                  <a:srgbClr val="1A1D23"/>
                </a:solidFill>
                <a:latin typeface="Segoe UI"/>
              </a:rPr>
              <a:t>What consumers are actually calling about</a:t>
            </a:r>
          </a:p>
        </p:txBody>
      </p:sp>
      <p:sp>
        <p:nvSpPr>
          <p:cNvPr id="9" name="TextBox 8"/>
          <p:cNvSpPr txBox="1"/>
          <p:nvPr/>
        </p:nvSpPr>
        <p:spPr>
          <a:xfrm>
            <a:off x="658368" y="1609344"/>
            <a:ext cx="9594799" cy="914400"/>
          </a:xfrm>
          <a:prstGeom prst="rect">
            <a:avLst/>
          </a:prstGeom>
          <a:noFill/>
        </p:spPr>
        <p:txBody>
          <a:bodyPr wrap="square" anchor="t" lIns="0" rIns="0" tIns="0" bIns="0">
            <a:spAutoFit/>
          </a:bodyPr>
          <a:lstStyle/>
          <a:p>
            <a:pPr algn="l">
              <a:lnSpc>
                <a:spcPct val="130000"/>
              </a:lnSpc>
            </a:pPr>
            <a:r>
              <a:rPr sz="1250" b="0">
                <a:solidFill>
                  <a:srgbClr val="55606E"/>
                </a:solidFill>
                <a:latin typeface="Segoe UI"/>
              </a:rPr>
              <a:t>The ground-level signal that was previously invisible — now countable, by area and by district. Across all 971 calls Vaani has answered.</a:t>
            </a:r>
          </a:p>
        </p:txBody>
      </p:sp>
      <p:sp>
        <p:nvSpPr>
          <p:cNvPr id="10" name="TextBox 9"/>
          <p:cNvSpPr txBox="1"/>
          <p:nvPr/>
        </p:nvSpPr>
        <p:spPr>
          <a:xfrm>
            <a:off x="658368" y="2286000"/>
            <a:ext cx="1325880" cy="219456"/>
          </a:xfrm>
          <a:prstGeom prst="rect">
            <a:avLst/>
          </a:prstGeom>
          <a:noFill/>
        </p:spPr>
        <p:txBody>
          <a:bodyPr wrap="square" anchor="t" lIns="0" rIns="0" tIns="0" bIns="0">
            <a:spAutoFit/>
          </a:bodyPr>
          <a:lstStyle/>
          <a:p>
            <a:pPr algn="l">
              <a:lnSpc>
                <a:spcPct val="100000"/>
              </a:lnSpc>
            </a:pPr>
            <a:r>
              <a:rPr sz="1050" b="1">
                <a:solidFill>
                  <a:srgbClr val="1A1D23"/>
                </a:solidFill>
                <a:latin typeface="Segoe UI"/>
              </a:rPr>
              <a:t>Delivery</a:t>
            </a:r>
          </a:p>
        </p:txBody>
      </p:sp>
      <p:sp>
        <p:nvSpPr>
          <p:cNvPr id="11" name="Rounded Rectangle 10"/>
          <p:cNvSpPr/>
          <p:nvPr/>
        </p:nvSpPr>
        <p:spPr>
          <a:xfrm>
            <a:off x="2093976" y="2331720"/>
            <a:ext cx="3183483" cy="128016"/>
          </a:xfrm>
          <a:prstGeom prst="roundRect">
            <a:avLst>
              <a:gd name="adj" fmla="val 35000"/>
            </a:avLst>
          </a:prstGeom>
          <a:solidFill>
            <a:srgbClr val="E8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093976" y="2331720"/>
            <a:ext cx="3183483" cy="128016"/>
          </a:xfrm>
          <a:prstGeom prst="roundRect">
            <a:avLst>
              <a:gd name="adj" fmla="val 35000"/>
            </a:avLst>
          </a:prstGeom>
          <a:solidFill>
            <a:srgbClr val="E8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87187" y="2295144"/>
            <a:ext cx="457200" cy="201168"/>
          </a:xfrm>
          <a:prstGeom prst="rect">
            <a:avLst/>
          </a:prstGeom>
          <a:noFill/>
        </p:spPr>
        <p:txBody>
          <a:bodyPr wrap="square" anchor="t" lIns="0" rIns="0" tIns="0" bIns="0">
            <a:spAutoFit/>
          </a:bodyPr>
          <a:lstStyle/>
          <a:p>
            <a:pPr algn="r">
              <a:lnSpc>
                <a:spcPct val="100000"/>
              </a:lnSpc>
            </a:pPr>
            <a:r>
              <a:rPr sz="1000" b="0">
                <a:solidFill>
                  <a:srgbClr val="1A1D23"/>
                </a:solidFill>
                <a:latin typeface="Consolas"/>
              </a:rPr>
              <a:t>347</a:t>
            </a:r>
          </a:p>
        </p:txBody>
      </p:sp>
      <p:sp>
        <p:nvSpPr>
          <p:cNvPr id="14" name="TextBox 13"/>
          <p:cNvSpPr txBox="1"/>
          <p:nvPr/>
        </p:nvSpPr>
        <p:spPr>
          <a:xfrm>
            <a:off x="658368" y="2688336"/>
            <a:ext cx="1325880" cy="219456"/>
          </a:xfrm>
          <a:prstGeom prst="rect">
            <a:avLst/>
          </a:prstGeom>
          <a:noFill/>
        </p:spPr>
        <p:txBody>
          <a:bodyPr wrap="square" anchor="t" lIns="0" rIns="0" tIns="0" bIns="0">
            <a:spAutoFit/>
          </a:bodyPr>
          <a:lstStyle/>
          <a:p>
            <a:pPr algn="l">
              <a:lnSpc>
                <a:spcPct val="100000"/>
              </a:lnSpc>
            </a:pPr>
            <a:r>
              <a:rPr sz="1050" b="0">
                <a:solidFill>
                  <a:srgbClr val="55606E"/>
                </a:solidFill>
                <a:latin typeface="Segoe UI"/>
              </a:rPr>
              <a:t>General enquiries</a:t>
            </a:r>
          </a:p>
        </p:txBody>
      </p:sp>
      <p:sp>
        <p:nvSpPr>
          <p:cNvPr id="15" name="Rounded Rectangle 14"/>
          <p:cNvSpPr/>
          <p:nvPr/>
        </p:nvSpPr>
        <p:spPr>
          <a:xfrm>
            <a:off x="2093976" y="2734056"/>
            <a:ext cx="3183483" cy="128016"/>
          </a:xfrm>
          <a:prstGeom prst="roundRect">
            <a:avLst>
              <a:gd name="adj" fmla="val 35000"/>
            </a:avLst>
          </a:prstGeom>
          <a:solidFill>
            <a:srgbClr val="E8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093976" y="2734056"/>
            <a:ext cx="2403530" cy="128016"/>
          </a:xfrm>
          <a:prstGeom prst="roundRect">
            <a:avLst>
              <a:gd name="adj" fmla="val 35000"/>
            </a:avLst>
          </a:prstGeom>
          <a:solidFill>
            <a:srgbClr val="E8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87187" y="2697480"/>
            <a:ext cx="457200" cy="201168"/>
          </a:xfrm>
          <a:prstGeom prst="rect">
            <a:avLst/>
          </a:prstGeom>
          <a:noFill/>
        </p:spPr>
        <p:txBody>
          <a:bodyPr wrap="square" anchor="t" lIns="0" rIns="0" tIns="0" bIns="0">
            <a:spAutoFit/>
          </a:bodyPr>
          <a:lstStyle/>
          <a:p>
            <a:pPr algn="r">
              <a:lnSpc>
                <a:spcPct val="100000"/>
              </a:lnSpc>
            </a:pPr>
            <a:r>
              <a:rPr sz="1000" b="0">
                <a:solidFill>
                  <a:srgbClr val="1A1D23"/>
                </a:solidFill>
                <a:latin typeface="Consolas"/>
              </a:rPr>
              <a:t>262</a:t>
            </a:r>
          </a:p>
        </p:txBody>
      </p:sp>
      <p:sp>
        <p:nvSpPr>
          <p:cNvPr id="18" name="TextBox 17"/>
          <p:cNvSpPr txBox="1"/>
          <p:nvPr/>
        </p:nvSpPr>
        <p:spPr>
          <a:xfrm>
            <a:off x="658368" y="3090672"/>
            <a:ext cx="1325880" cy="219456"/>
          </a:xfrm>
          <a:prstGeom prst="rect">
            <a:avLst/>
          </a:prstGeom>
          <a:noFill/>
        </p:spPr>
        <p:txBody>
          <a:bodyPr wrap="square" anchor="t" lIns="0" rIns="0" tIns="0" bIns="0">
            <a:spAutoFit/>
          </a:bodyPr>
          <a:lstStyle/>
          <a:p>
            <a:pPr algn="l">
              <a:lnSpc>
                <a:spcPct val="100000"/>
              </a:lnSpc>
            </a:pPr>
            <a:r>
              <a:rPr sz="1050" b="0">
                <a:solidFill>
                  <a:srgbClr val="55606E"/>
                </a:solidFill>
                <a:latin typeface="Segoe UI"/>
              </a:rPr>
              <a:t>Connection services</a:t>
            </a:r>
          </a:p>
        </p:txBody>
      </p:sp>
      <p:sp>
        <p:nvSpPr>
          <p:cNvPr id="19" name="Rounded Rectangle 18"/>
          <p:cNvSpPr/>
          <p:nvPr/>
        </p:nvSpPr>
        <p:spPr>
          <a:xfrm>
            <a:off x="2093976" y="3136391"/>
            <a:ext cx="3183483" cy="128016"/>
          </a:xfrm>
          <a:prstGeom prst="roundRect">
            <a:avLst>
              <a:gd name="adj" fmla="val 35000"/>
            </a:avLst>
          </a:prstGeom>
          <a:solidFill>
            <a:srgbClr val="E8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093976" y="3136391"/>
            <a:ext cx="1579007" cy="128016"/>
          </a:xfrm>
          <a:prstGeom prst="roundRect">
            <a:avLst>
              <a:gd name="adj" fmla="val 35000"/>
            </a:avLst>
          </a:prstGeom>
          <a:solidFill>
            <a:srgbClr val="E8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87187" y="3099816"/>
            <a:ext cx="457200" cy="201168"/>
          </a:xfrm>
          <a:prstGeom prst="rect">
            <a:avLst/>
          </a:prstGeom>
          <a:noFill/>
        </p:spPr>
        <p:txBody>
          <a:bodyPr wrap="square" anchor="t" lIns="0" rIns="0" tIns="0" bIns="0">
            <a:spAutoFit/>
          </a:bodyPr>
          <a:lstStyle/>
          <a:p>
            <a:pPr algn="r">
              <a:lnSpc>
                <a:spcPct val="100000"/>
              </a:lnSpc>
            </a:pPr>
            <a:r>
              <a:rPr sz="1000" b="0">
                <a:solidFill>
                  <a:srgbClr val="1A1D23"/>
                </a:solidFill>
                <a:latin typeface="Consolas"/>
              </a:rPr>
              <a:t>172</a:t>
            </a:r>
          </a:p>
        </p:txBody>
      </p:sp>
      <p:sp>
        <p:nvSpPr>
          <p:cNvPr id="22" name="TextBox 21"/>
          <p:cNvSpPr txBox="1"/>
          <p:nvPr/>
        </p:nvSpPr>
        <p:spPr>
          <a:xfrm>
            <a:off x="658368" y="3493008"/>
            <a:ext cx="1325880" cy="219456"/>
          </a:xfrm>
          <a:prstGeom prst="rect">
            <a:avLst/>
          </a:prstGeom>
          <a:noFill/>
        </p:spPr>
        <p:txBody>
          <a:bodyPr wrap="square" anchor="t" lIns="0" rIns="0" tIns="0" bIns="0">
            <a:spAutoFit/>
          </a:bodyPr>
          <a:lstStyle/>
          <a:p>
            <a:pPr algn="l">
              <a:lnSpc>
                <a:spcPct val="100000"/>
              </a:lnSpc>
            </a:pPr>
            <a:r>
              <a:rPr sz="1050" b="0">
                <a:solidFill>
                  <a:srgbClr val="55606E"/>
                </a:solidFill>
                <a:latin typeface="Segoe UI"/>
              </a:rPr>
              <a:t>Refill</a:t>
            </a:r>
          </a:p>
        </p:txBody>
      </p:sp>
      <p:sp>
        <p:nvSpPr>
          <p:cNvPr id="23" name="Rounded Rectangle 22"/>
          <p:cNvSpPr/>
          <p:nvPr/>
        </p:nvSpPr>
        <p:spPr>
          <a:xfrm>
            <a:off x="2093976" y="3538727"/>
            <a:ext cx="3183483" cy="128016"/>
          </a:xfrm>
          <a:prstGeom prst="roundRect">
            <a:avLst>
              <a:gd name="adj" fmla="val 35000"/>
            </a:avLst>
          </a:prstGeom>
          <a:solidFill>
            <a:srgbClr val="E8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093976" y="3538727"/>
            <a:ext cx="735384" cy="128016"/>
          </a:xfrm>
          <a:prstGeom prst="roundRect">
            <a:avLst>
              <a:gd name="adj" fmla="val 35000"/>
            </a:avLst>
          </a:prstGeom>
          <a:solidFill>
            <a:srgbClr val="E8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87187" y="3502152"/>
            <a:ext cx="457200" cy="201168"/>
          </a:xfrm>
          <a:prstGeom prst="rect">
            <a:avLst/>
          </a:prstGeom>
          <a:noFill/>
        </p:spPr>
        <p:txBody>
          <a:bodyPr wrap="square" anchor="t" lIns="0" rIns="0" tIns="0" bIns="0">
            <a:spAutoFit/>
          </a:bodyPr>
          <a:lstStyle/>
          <a:p>
            <a:pPr algn="r">
              <a:lnSpc>
                <a:spcPct val="100000"/>
              </a:lnSpc>
            </a:pPr>
            <a:r>
              <a:rPr sz="1000" b="0">
                <a:solidFill>
                  <a:srgbClr val="1A1D23"/>
                </a:solidFill>
                <a:latin typeface="Consolas"/>
              </a:rPr>
              <a:t>80</a:t>
            </a:r>
          </a:p>
        </p:txBody>
      </p:sp>
      <p:sp>
        <p:nvSpPr>
          <p:cNvPr id="26" name="TextBox 25"/>
          <p:cNvSpPr txBox="1"/>
          <p:nvPr/>
        </p:nvSpPr>
        <p:spPr>
          <a:xfrm>
            <a:off x="658368" y="3895344"/>
            <a:ext cx="1325880" cy="219456"/>
          </a:xfrm>
          <a:prstGeom prst="rect">
            <a:avLst/>
          </a:prstGeom>
          <a:noFill/>
        </p:spPr>
        <p:txBody>
          <a:bodyPr wrap="square" anchor="t" lIns="0" rIns="0" tIns="0" bIns="0">
            <a:spAutoFit/>
          </a:bodyPr>
          <a:lstStyle/>
          <a:p>
            <a:pPr algn="l">
              <a:lnSpc>
                <a:spcPct val="100000"/>
              </a:lnSpc>
            </a:pPr>
            <a:r>
              <a:rPr sz="1050" b="0">
                <a:solidFill>
                  <a:srgbClr val="55606E"/>
                </a:solidFill>
                <a:latin typeface="Segoe UI"/>
              </a:rPr>
              <a:t>New connection</a:t>
            </a:r>
          </a:p>
        </p:txBody>
      </p:sp>
      <p:sp>
        <p:nvSpPr>
          <p:cNvPr id="27" name="Rounded Rectangle 26"/>
          <p:cNvSpPr/>
          <p:nvPr/>
        </p:nvSpPr>
        <p:spPr>
          <a:xfrm>
            <a:off x="2093976" y="3941064"/>
            <a:ext cx="3183483" cy="128016"/>
          </a:xfrm>
          <a:prstGeom prst="roundRect">
            <a:avLst>
              <a:gd name="adj" fmla="val 35000"/>
            </a:avLst>
          </a:prstGeom>
          <a:solidFill>
            <a:srgbClr val="E8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093976" y="3941064"/>
            <a:ext cx="522091" cy="128016"/>
          </a:xfrm>
          <a:prstGeom prst="roundRect">
            <a:avLst>
              <a:gd name="adj" fmla="val 35000"/>
            </a:avLst>
          </a:prstGeom>
          <a:solidFill>
            <a:srgbClr val="E8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87187" y="3904488"/>
            <a:ext cx="457200" cy="201168"/>
          </a:xfrm>
          <a:prstGeom prst="rect">
            <a:avLst/>
          </a:prstGeom>
          <a:noFill/>
        </p:spPr>
        <p:txBody>
          <a:bodyPr wrap="square" anchor="t" lIns="0" rIns="0" tIns="0" bIns="0">
            <a:spAutoFit/>
          </a:bodyPr>
          <a:lstStyle/>
          <a:p>
            <a:pPr algn="r">
              <a:lnSpc>
                <a:spcPct val="100000"/>
              </a:lnSpc>
            </a:pPr>
            <a:r>
              <a:rPr sz="1000" b="0">
                <a:solidFill>
                  <a:srgbClr val="1A1D23"/>
                </a:solidFill>
                <a:latin typeface="Consolas"/>
              </a:rPr>
              <a:t>57</a:t>
            </a:r>
          </a:p>
        </p:txBody>
      </p:sp>
      <p:sp>
        <p:nvSpPr>
          <p:cNvPr id="30" name="TextBox 29"/>
          <p:cNvSpPr txBox="1"/>
          <p:nvPr/>
        </p:nvSpPr>
        <p:spPr>
          <a:xfrm>
            <a:off x="658368" y="4297680"/>
            <a:ext cx="1325880" cy="219456"/>
          </a:xfrm>
          <a:prstGeom prst="rect">
            <a:avLst/>
          </a:prstGeom>
          <a:noFill/>
        </p:spPr>
        <p:txBody>
          <a:bodyPr wrap="square" anchor="t" lIns="0" rIns="0" tIns="0" bIns="0">
            <a:spAutoFit/>
          </a:bodyPr>
          <a:lstStyle/>
          <a:p>
            <a:pPr algn="l">
              <a:lnSpc>
                <a:spcPct val="100000"/>
              </a:lnSpc>
            </a:pPr>
            <a:r>
              <a:rPr sz="1050" b="0">
                <a:solidFill>
                  <a:srgbClr val="55606E"/>
                </a:solidFill>
                <a:latin typeface="Segoe UI"/>
              </a:rPr>
              <a:t>Payment</a:t>
            </a:r>
          </a:p>
        </p:txBody>
      </p:sp>
      <p:sp>
        <p:nvSpPr>
          <p:cNvPr id="31" name="Rounded Rectangle 30"/>
          <p:cNvSpPr/>
          <p:nvPr/>
        </p:nvSpPr>
        <p:spPr>
          <a:xfrm>
            <a:off x="2093976" y="4343400"/>
            <a:ext cx="3183483" cy="128016"/>
          </a:xfrm>
          <a:prstGeom prst="roundRect">
            <a:avLst>
              <a:gd name="adj" fmla="val 35000"/>
            </a:avLst>
          </a:prstGeom>
          <a:solidFill>
            <a:srgbClr val="E8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2093976" y="4343400"/>
            <a:ext cx="219660" cy="128016"/>
          </a:xfrm>
          <a:prstGeom prst="roundRect">
            <a:avLst>
              <a:gd name="adj" fmla="val 35000"/>
            </a:avLst>
          </a:prstGeom>
          <a:solidFill>
            <a:srgbClr val="E8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87187" y="4306824"/>
            <a:ext cx="457200" cy="201168"/>
          </a:xfrm>
          <a:prstGeom prst="rect">
            <a:avLst/>
          </a:prstGeom>
          <a:noFill/>
        </p:spPr>
        <p:txBody>
          <a:bodyPr wrap="square" anchor="t" lIns="0" rIns="0" tIns="0" bIns="0">
            <a:spAutoFit/>
          </a:bodyPr>
          <a:lstStyle/>
          <a:p>
            <a:pPr algn="r">
              <a:lnSpc>
                <a:spcPct val="100000"/>
              </a:lnSpc>
            </a:pPr>
            <a:r>
              <a:rPr sz="1000" b="0">
                <a:solidFill>
                  <a:srgbClr val="1A1D23"/>
                </a:solidFill>
                <a:latin typeface="Consolas"/>
              </a:rPr>
              <a:t>24</a:t>
            </a:r>
          </a:p>
        </p:txBody>
      </p:sp>
      <p:sp>
        <p:nvSpPr>
          <p:cNvPr id="34" name="TextBox 33"/>
          <p:cNvSpPr txBox="1"/>
          <p:nvPr/>
        </p:nvSpPr>
        <p:spPr>
          <a:xfrm>
            <a:off x="658368" y="4700016"/>
            <a:ext cx="1325880" cy="219456"/>
          </a:xfrm>
          <a:prstGeom prst="rect">
            <a:avLst/>
          </a:prstGeom>
          <a:noFill/>
        </p:spPr>
        <p:txBody>
          <a:bodyPr wrap="square" anchor="t" lIns="0" rIns="0" tIns="0" bIns="0">
            <a:spAutoFit/>
          </a:bodyPr>
          <a:lstStyle/>
          <a:p>
            <a:pPr algn="l">
              <a:lnSpc>
                <a:spcPct val="100000"/>
              </a:lnSpc>
            </a:pPr>
            <a:r>
              <a:rPr sz="1050" b="0">
                <a:solidFill>
                  <a:srgbClr val="55606E"/>
                </a:solidFill>
                <a:latin typeface="Segoe UI"/>
              </a:rPr>
              <a:t>Subsidy</a:t>
            </a:r>
          </a:p>
        </p:txBody>
      </p:sp>
      <p:sp>
        <p:nvSpPr>
          <p:cNvPr id="35" name="Rounded Rectangle 34"/>
          <p:cNvSpPr/>
          <p:nvPr/>
        </p:nvSpPr>
        <p:spPr>
          <a:xfrm>
            <a:off x="2093976" y="4745736"/>
            <a:ext cx="3183483" cy="128016"/>
          </a:xfrm>
          <a:prstGeom prst="roundRect">
            <a:avLst>
              <a:gd name="adj" fmla="val 35000"/>
            </a:avLst>
          </a:prstGeom>
          <a:solidFill>
            <a:srgbClr val="E8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2093976" y="4745736"/>
            <a:ext cx="155990" cy="128016"/>
          </a:xfrm>
          <a:prstGeom prst="roundRect">
            <a:avLst>
              <a:gd name="adj" fmla="val 35000"/>
            </a:avLst>
          </a:prstGeom>
          <a:solidFill>
            <a:srgbClr val="E8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87187" y="4709160"/>
            <a:ext cx="457200" cy="201168"/>
          </a:xfrm>
          <a:prstGeom prst="rect">
            <a:avLst/>
          </a:prstGeom>
          <a:noFill/>
        </p:spPr>
        <p:txBody>
          <a:bodyPr wrap="square" anchor="t" lIns="0" rIns="0" tIns="0" bIns="0">
            <a:spAutoFit/>
          </a:bodyPr>
          <a:lstStyle/>
          <a:p>
            <a:pPr algn="r">
              <a:lnSpc>
                <a:spcPct val="100000"/>
              </a:lnSpc>
            </a:pPr>
            <a:r>
              <a:rPr sz="1000" b="0">
                <a:solidFill>
                  <a:srgbClr val="1A1D23"/>
                </a:solidFill>
                <a:latin typeface="Consolas"/>
              </a:rPr>
              <a:t>17</a:t>
            </a:r>
          </a:p>
        </p:txBody>
      </p:sp>
      <p:sp>
        <p:nvSpPr>
          <p:cNvPr id="38" name="TextBox 37"/>
          <p:cNvSpPr txBox="1"/>
          <p:nvPr/>
        </p:nvSpPr>
        <p:spPr>
          <a:xfrm>
            <a:off x="658368" y="5102352"/>
            <a:ext cx="1325880" cy="219456"/>
          </a:xfrm>
          <a:prstGeom prst="rect">
            <a:avLst/>
          </a:prstGeom>
          <a:noFill/>
        </p:spPr>
        <p:txBody>
          <a:bodyPr wrap="square" anchor="t" lIns="0" rIns="0" tIns="0" bIns="0">
            <a:spAutoFit/>
          </a:bodyPr>
          <a:lstStyle/>
          <a:p>
            <a:pPr algn="l">
              <a:lnSpc>
                <a:spcPct val="100000"/>
              </a:lnSpc>
            </a:pPr>
            <a:r>
              <a:rPr sz="1050" b="0">
                <a:solidFill>
                  <a:srgbClr val="55606E"/>
                </a:solidFill>
                <a:latin typeface="Segoe UI"/>
              </a:rPr>
              <a:t>Emergency</a:t>
            </a:r>
          </a:p>
        </p:txBody>
      </p:sp>
      <p:sp>
        <p:nvSpPr>
          <p:cNvPr id="39" name="Rounded Rectangle 38"/>
          <p:cNvSpPr/>
          <p:nvPr/>
        </p:nvSpPr>
        <p:spPr>
          <a:xfrm>
            <a:off x="2093976" y="5148072"/>
            <a:ext cx="3183483" cy="128016"/>
          </a:xfrm>
          <a:prstGeom prst="roundRect">
            <a:avLst>
              <a:gd name="adj" fmla="val 35000"/>
            </a:avLst>
          </a:prstGeom>
          <a:solidFill>
            <a:srgbClr val="E8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2093976" y="5148072"/>
            <a:ext cx="63669" cy="128016"/>
          </a:xfrm>
          <a:prstGeom prst="roundRect">
            <a:avLst>
              <a:gd name="adj" fmla="val 35000"/>
            </a:avLst>
          </a:prstGeom>
          <a:solidFill>
            <a:srgbClr val="E8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387187" y="5111496"/>
            <a:ext cx="457200" cy="201168"/>
          </a:xfrm>
          <a:prstGeom prst="rect">
            <a:avLst/>
          </a:prstGeom>
          <a:noFill/>
        </p:spPr>
        <p:txBody>
          <a:bodyPr wrap="square" anchor="t" lIns="0" rIns="0" tIns="0" bIns="0">
            <a:spAutoFit/>
          </a:bodyPr>
          <a:lstStyle/>
          <a:p>
            <a:pPr algn="r">
              <a:lnSpc>
                <a:spcPct val="100000"/>
              </a:lnSpc>
            </a:pPr>
            <a:r>
              <a:rPr sz="1000" b="0">
                <a:solidFill>
                  <a:srgbClr val="1A1D23"/>
                </a:solidFill>
                <a:latin typeface="Consolas"/>
              </a:rPr>
              <a:t>7</a:t>
            </a:r>
          </a:p>
        </p:txBody>
      </p:sp>
      <p:sp>
        <p:nvSpPr>
          <p:cNvPr id="42" name="Rounded Rectangle 41"/>
          <p:cNvSpPr/>
          <p:nvPr/>
        </p:nvSpPr>
        <p:spPr>
          <a:xfrm>
            <a:off x="6347307" y="2212848"/>
            <a:ext cx="5186019" cy="1572768"/>
          </a:xfrm>
          <a:prstGeom prst="roundRect">
            <a:avLst>
              <a:gd name="adj" fmla="val 4500"/>
            </a:avLst>
          </a:prstGeom>
          <a:solidFill>
            <a:srgbClr val="FDF0EA"/>
          </a:solidFill>
          <a:ln w="15875">
            <a:solidFill>
              <a:srgbClr val="E85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85051" y="2395728"/>
            <a:ext cx="4728819" cy="237744"/>
          </a:xfrm>
          <a:prstGeom prst="rect">
            <a:avLst/>
          </a:prstGeom>
          <a:noFill/>
        </p:spPr>
        <p:txBody>
          <a:bodyPr wrap="square" anchor="t" lIns="0" rIns="0" tIns="0" bIns="0">
            <a:spAutoFit/>
          </a:bodyPr>
          <a:lstStyle/>
          <a:p>
            <a:pPr algn="l">
              <a:lnSpc>
                <a:spcPct val="100000"/>
              </a:lnSpc>
            </a:pPr>
            <a:r>
              <a:rPr sz="1300" b="1">
                <a:solidFill>
                  <a:srgbClr val="E8551F"/>
                </a:solidFill>
                <a:latin typeface="Segoe UI"/>
              </a:rPr>
              <a:t>Delivery is the problem</a:t>
            </a:r>
          </a:p>
        </p:txBody>
      </p:sp>
      <p:sp>
        <p:nvSpPr>
          <p:cNvPr id="44" name="TextBox 43"/>
          <p:cNvSpPr txBox="1"/>
          <p:nvPr/>
        </p:nvSpPr>
        <p:spPr>
          <a:xfrm>
            <a:off x="6585051" y="2706624"/>
            <a:ext cx="4728819" cy="914400"/>
          </a:xfrm>
          <a:prstGeom prst="rect">
            <a:avLst/>
          </a:prstGeom>
          <a:noFill/>
        </p:spPr>
        <p:txBody>
          <a:bodyPr wrap="square" anchor="t" lIns="0" rIns="0" tIns="0" bIns="0">
            <a:spAutoFit/>
          </a:bodyPr>
          <a:lstStyle/>
          <a:p>
            <a:pPr algn="l">
              <a:lnSpc>
                <a:spcPct val="128000"/>
              </a:lnSpc>
              <a:spcAft>
                <a:spcPts val="700"/>
              </a:spcAft>
            </a:pPr>
            <a:r>
              <a:rPr sz="1050" b="0">
                <a:solidFill>
                  <a:srgbClr val="55606E"/>
                </a:solidFill>
                <a:latin typeface="Segoe UI"/>
              </a:rPr>
              <a:t>At </a:t>
            </a:r>
            <a:r>
              <a:rPr sz="1050" b="1">
                <a:solidFill>
                  <a:srgbClr val="1A1D23"/>
                </a:solidFill>
                <a:latin typeface="Segoe UI"/>
              </a:rPr>
              <a:t>347 calls</a:t>
            </a:r>
            <a:r>
              <a:rPr sz="1050" b="0">
                <a:solidFill>
                  <a:srgbClr val="55606E"/>
                </a:solidFill>
                <a:latin typeface="Segoe UI"/>
              </a:rPr>
              <a:t> it is comfortably the largest category in the network — and exactly the ground-level signal that was previously invisible.</a:t>
            </a:r>
          </a:p>
          <a:p>
            <a:pPr algn="l">
              <a:lnSpc>
                <a:spcPct val="128000"/>
              </a:lnSpc>
              <a:spcAft>
                <a:spcPts val="700"/>
              </a:spcAft>
            </a:pPr>
            <a:r>
              <a:rPr sz="1050" b="0">
                <a:solidFill>
                  <a:srgbClr val="55606E"/>
                </a:solidFill>
                <a:latin typeface="Segoe UI"/>
              </a:rPr>
              <a:t>Vaani has taken live calls in </a:t>
            </a:r>
            <a:r>
              <a:rPr sz="1050" b="1">
                <a:solidFill>
                  <a:srgbClr val="1A1D23"/>
                </a:solidFill>
                <a:latin typeface="Segoe UI"/>
              </a:rPr>
              <a:t>all eight query areas</a:t>
            </a:r>
            <a:r>
              <a:rPr sz="1050" b="0">
                <a:solidFill>
                  <a:srgbClr val="55606E"/>
                </a:solidFill>
                <a:latin typeface="Segoe UI"/>
              </a:rPr>
              <a:t> — the coverage is complete, not concentrated in a few easy intents.</a:t>
            </a:r>
          </a:p>
        </p:txBody>
      </p:sp>
      <p:sp>
        <p:nvSpPr>
          <p:cNvPr id="45" name="Rounded Rectangle 44"/>
          <p:cNvSpPr/>
          <p:nvPr/>
        </p:nvSpPr>
        <p:spPr>
          <a:xfrm>
            <a:off x="6347307" y="3913632"/>
            <a:ext cx="5186019" cy="1691640"/>
          </a:xfrm>
          <a:prstGeom prst="roundRect">
            <a:avLst>
              <a:gd name="adj" fmla="val 4500"/>
            </a:avLst>
          </a:prstGeom>
          <a:solidFill>
            <a:srgbClr val="FFFFF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85051" y="4096512"/>
            <a:ext cx="4728819" cy="237744"/>
          </a:xfrm>
          <a:prstGeom prst="rect">
            <a:avLst/>
          </a:prstGeom>
          <a:noFill/>
        </p:spPr>
        <p:txBody>
          <a:bodyPr wrap="square" anchor="t" lIns="0" rIns="0" tIns="0" bIns="0">
            <a:spAutoFit/>
          </a:bodyPr>
          <a:lstStyle/>
          <a:p>
            <a:pPr algn="l">
              <a:lnSpc>
                <a:spcPct val="100000"/>
              </a:lnSpc>
            </a:pPr>
            <a:r>
              <a:rPr sz="1300" b="1">
                <a:solidFill>
                  <a:srgbClr val="1A1D23"/>
                </a:solidFill>
                <a:latin typeface="Segoe UI"/>
              </a:rPr>
              <a:t>How consumers arrive</a:t>
            </a:r>
          </a:p>
        </p:txBody>
      </p:sp>
      <p:sp>
        <p:nvSpPr>
          <p:cNvPr id="47" name="TextBox 46"/>
          <p:cNvSpPr txBox="1"/>
          <p:nvPr/>
        </p:nvSpPr>
        <p:spPr>
          <a:xfrm>
            <a:off x="6585051" y="4462272"/>
            <a:ext cx="1005840" cy="219456"/>
          </a:xfrm>
          <a:prstGeom prst="rect">
            <a:avLst/>
          </a:prstGeom>
          <a:noFill/>
        </p:spPr>
        <p:txBody>
          <a:bodyPr wrap="square" anchor="t" lIns="0" rIns="0" tIns="0" bIns="0">
            <a:spAutoFit/>
          </a:bodyPr>
          <a:lstStyle/>
          <a:p>
            <a:pPr algn="l">
              <a:lnSpc>
                <a:spcPct val="100000"/>
              </a:lnSpc>
            </a:pPr>
            <a:r>
              <a:rPr sz="1050" b="1">
                <a:solidFill>
                  <a:srgbClr val="1A1D23"/>
                </a:solidFill>
                <a:latin typeface="Segoe UI"/>
              </a:rPr>
              <a:t>Non-negative</a:t>
            </a:r>
          </a:p>
        </p:txBody>
      </p:sp>
      <p:sp>
        <p:nvSpPr>
          <p:cNvPr id="48" name="Rounded Rectangle 47"/>
          <p:cNvSpPr/>
          <p:nvPr/>
        </p:nvSpPr>
        <p:spPr>
          <a:xfrm>
            <a:off x="7700619" y="4507992"/>
            <a:ext cx="3009747" cy="128016"/>
          </a:xfrm>
          <a:prstGeom prst="roundRect">
            <a:avLst>
              <a:gd name="adj" fmla="val 35000"/>
            </a:avLst>
          </a:prstGeom>
          <a:solidFill>
            <a:srgbClr val="E8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7700619" y="4507992"/>
            <a:ext cx="2022550" cy="128016"/>
          </a:xfrm>
          <a:prstGeom prst="roundRect">
            <a:avLst>
              <a:gd name="adj" fmla="val 35000"/>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820095" y="4471416"/>
            <a:ext cx="475488" cy="201168"/>
          </a:xfrm>
          <a:prstGeom prst="rect">
            <a:avLst/>
          </a:prstGeom>
          <a:noFill/>
        </p:spPr>
        <p:txBody>
          <a:bodyPr wrap="square" anchor="t" lIns="0" rIns="0" tIns="0" bIns="0">
            <a:spAutoFit/>
          </a:bodyPr>
          <a:lstStyle/>
          <a:p>
            <a:pPr algn="r">
              <a:lnSpc>
                <a:spcPct val="100000"/>
              </a:lnSpc>
            </a:pPr>
            <a:r>
              <a:rPr sz="1000" b="0">
                <a:solidFill>
                  <a:srgbClr val="1A1D23"/>
                </a:solidFill>
                <a:latin typeface="Consolas"/>
              </a:rPr>
              <a:t>67.2%</a:t>
            </a:r>
          </a:p>
        </p:txBody>
      </p:sp>
      <p:sp>
        <p:nvSpPr>
          <p:cNvPr id="51" name="TextBox 50"/>
          <p:cNvSpPr txBox="1"/>
          <p:nvPr/>
        </p:nvSpPr>
        <p:spPr>
          <a:xfrm>
            <a:off x="6585051" y="4791456"/>
            <a:ext cx="1005840" cy="219456"/>
          </a:xfrm>
          <a:prstGeom prst="rect">
            <a:avLst/>
          </a:prstGeom>
          <a:noFill/>
        </p:spPr>
        <p:txBody>
          <a:bodyPr wrap="square" anchor="t" lIns="0" rIns="0" tIns="0" bIns="0">
            <a:spAutoFit/>
          </a:bodyPr>
          <a:lstStyle/>
          <a:p>
            <a:pPr algn="l">
              <a:lnSpc>
                <a:spcPct val="100000"/>
              </a:lnSpc>
            </a:pPr>
            <a:r>
              <a:rPr sz="1050" b="0">
                <a:solidFill>
                  <a:srgbClr val="55606E"/>
                </a:solidFill>
                <a:latin typeface="Segoe UI"/>
              </a:rPr>
              <a:t>Negative</a:t>
            </a:r>
          </a:p>
        </p:txBody>
      </p:sp>
      <p:sp>
        <p:nvSpPr>
          <p:cNvPr id="52" name="Rounded Rectangle 51"/>
          <p:cNvSpPr/>
          <p:nvPr/>
        </p:nvSpPr>
        <p:spPr>
          <a:xfrm>
            <a:off x="7700619" y="4837176"/>
            <a:ext cx="3009747" cy="128016"/>
          </a:xfrm>
          <a:prstGeom prst="roundRect">
            <a:avLst>
              <a:gd name="adj" fmla="val 35000"/>
            </a:avLst>
          </a:prstGeom>
          <a:solidFill>
            <a:srgbClr val="E8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7700619" y="4837176"/>
            <a:ext cx="987197" cy="128016"/>
          </a:xfrm>
          <a:prstGeom prst="roundRect">
            <a:avLst>
              <a:gd name="adj" fmla="val 35000"/>
            </a:avLst>
          </a:prstGeom>
          <a:solidFill>
            <a:srgbClr val="E8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820095" y="4800600"/>
            <a:ext cx="475488" cy="201168"/>
          </a:xfrm>
          <a:prstGeom prst="rect">
            <a:avLst/>
          </a:prstGeom>
          <a:noFill/>
        </p:spPr>
        <p:txBody>
          <a:bodyPr wrap="square" anchor="t" lIns="0" rIns="0" tIns="0" bIns="0">
            <a:spAutoFit/>
          </a:bodyPr>
          <a:lstStyle/>
          <a:p>
            <a:pPr algn="r">
              <a:lnSpc>
                <a:spcPct val="100000"/>
              </a:lnSpc>
            </a:pPr>
            <a:r>
              <a:rPr sz="1000" b="0">
                <a:solidFill>
                  <a:srgbClr val="1A1D23"/>
                </a:solidFill>
                <a:latin typeface="Consolas"/>
              </a:rPr>
              <a:t>32.8%</a:t>
            </a:r>
          </a:p>
        </p:txBody>
      </p:sp>
      <p:sp>
        <p:nvSpPr>
          <p:cNvPr id="55" name="TextBox 54"/>
          <p:cNvSpPr txBox="1"/>
          <p:nvPr/>
        </p:nvSpPr>
        <p:spPr>
          <a:xfrm>
            <a:off x="6585051" y="5175504"/>
            <a:ext cx="4728819" cy="365760"/>
          </a:xfrm>
          <a:prstGeom prst="rect">
            <a:avLst/>
          </a:prstGeom>
          <a:noFill/>
        </p:spPr>
        <p:txBody>
          <a:bodyPr wrap="square" anchor="t" lIns="0" rIns="0" tIns="0" bIns="0">
            <a:spAutoFit/>
          </a:bodyPr>
          <a:lstStyle/>
          <a:p>
            <a:pPr algn="l">
              <a:lnSpc>
                <a:spcPct val="125000"/>
              </a:lnSpc>
            </a:pPr>
            <a:r>
              <a:rPr sz="950" b="0">
                <a:solidFill>
                  <a:srgbClr val="55606E"/>
                </a:solidFill>
                <a:latin typeface="Segoe UI"/>
              </a:rPr>
              <a:t>Two-thirds of calls carry non-negative sentiment. The remaining third arrive negative or angry — consistent with the CRC being a second attempt after a distributor has already failed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10896"/>
            <a:ext cx="3657600" cy="182880"/>
          </a:xfrm>
          <a:prstGeom prst="rect">
            <a:avLst/>
          </a:prstGeom>
          <a:noFill/>
        </p:spPr>
        <p:txBody>
          <a:bodyPr wrap="square" anchor="t" lIns="0" rIns="0" tIns="0" bIns="0">
            <a:spAutoFit/>
          </a:bodyPr>
          <a:lstStyle/>
          <a:p>
            <a:pPr algn="l">
              <a:lnSpc>
                <a:spcPct val="100000"/>
              </a:lnSpc>
            </a:pPr>
            <a:r>
              <a:rPr sz="850" b="0">
                <a:solidFill>
                  <a:srgbClr val="8894A3"/>
                </a:solidFill>
                <a:latin typeface="Consolas"/>
              </a:rPr>
              <a:t>VOICEOWL </a:t>
            </a:r>
            <a:r>
              <a:rPr sz="850" b="0">
                <a:solidFill>
                  <a:srgbClr val="E8551F"/>
                </a:solidFill>
                <a:latin typeface="Consolas"/>
              </a:rPr>
              <a:t>x</a:t>
            </a:r>
            <a:r>
              <a:rPr sz="850" b="0">
                <a:solidFill>
                  <a:srgbClr val="8894A3"/>
                </a:solidFill>
                <a:latin typeface="Consolas"/>
              </a:rPr>
              <a:t> BHARAT GAS</a:t>
            </a:r>
          </a:p>
        </p:txBody>
      </p:sp>
      <p:sp>
        <p:nvSpPr>
          <p:cNvPr id="4" name="TextBox 3"/>
          <p:cNvSpPr txBox="1"/>
          <p:nvPr/>
        </p:nvSpPr>
        <p:spPr>
          <a:xfrm>
            <a:off x="10436047" y="310896"/>
            <a:ext cx="1097280" cy="182880"/>
          </a:xfrm>
          <a:prstGeom prst="rect">
            <a:avLst/>
          </a:prstGeom>
          <a:noFill/>
        </p:spPr>
        <p:txBody>
          <a:bodyPr wrap="square" anchor="t" lIns="0" rIns="0" tIns="0" bIns="0">
            <a:spAutoFit/>
          </a:bodyPr>
          <a:lstStyle/>
          <a:p>
            <a:pPr algn="r">
              <a:lnSpc>
                <a:spcPct val="100000"/>
              </a:lnSpc>
            </a:pPr>
            <a:r>
              <a:rPr sz="850" b="0">
                <a:solidFill>
                  <a:srgbClr val="8894A3"/>
                </a:solidFill>
                <a:latin typeface="Consolas"/>
              </a:rPr>
              <a:t>10 / 10</a:t>
            </a:r>
          </a:p>
        </p:txBody>
      </p:sp>
      <p:sp>
        <p:nvSpPr>
          <p:cNvPr id="5" name="Rounded Rectangle 4"/>
          <p:cNvSpPr/>
          <p:nvPr/>
        </p:nvSpPr>
        <p:spPr>
          <a:xfrm>
            <a:off x="658368" y="713232"/>
            <a:ext cx="384048" cy="219456"/>
          </a:xfrm>
          <a:prstGeom prst="roundRect">
            <a:avLst>
              <a:gd name="adj" fmla="val 50000"/>
            </a:avLst>
          </a:prstGeom>
          <a:solidFill>
            <a:srgbClr val="FDF0EA"/>
          </a:solidFill>
          <a:ln w="9525">
            <a:solidFill>
              <a:srgbClr val="E85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745236"/>
            <a:ext cx="384048" cy="182880"/>
          </a:xfrm>
          <a:prstGeom prst="rect">
            <a:avLst/>
          </a:prstGeom>
          <a:noFill/>
        </p:spPr>
        <p:txBody>
          <a:bodyPr wrap="square" anchor="t" lIns="0" rIns="0" tIns="0" bIns="0">
            <a:spAutoFit/>
          </a:bodyPr>
          <a:lstStyle/>
          <a:p>
            <a:pPr algn="ctr">
              <a:lnSpc>
                <a:spcPct val="100000"/>
              </a:lnSpc>
            </a:pPr>
            <a:r>
              <a:rPr sz="900" b="0">
                <a:solidFill>
                  <a:srgbClr val="E8551F"/>
                </a:solidFill>
                <a:latin typeface="Consolas"/>
              </a:rPr>
              <a:t>10</a:t>
            </a:r>
          </a:p>
        </p:txBody>
      </p:sp>
      <p:sp>
        <p:nvSpPr>
          <p:cNvPr id="7" name="TextBox 6"/>
          <p:cNvSpPr txBox="1"/>
          <p:nvPr/>
        </p:nvSpPr>
        <p:spPr>
          <a:xfrm>
            <a:off x="1161288" y="749808"/>
            <a:ext cx="5486400" cy="182880"/>
          </a:xfrm>
          <a:prstGeom prst="rect">
            <a:avLst/>
          </a:prstGeom>
          <a:noFill/>
        </p:spPr>
        <p:txBody>
          <a:bodyPr wrap="square" anchor="t" lIns="0" rIns="0" tIns="0" bIns="0">
            <a:spAutoFit/>
          </a:bodyPr>
          <a:lstStyle/>
          <a:p>
            <a:pPr algn="l">
              <a:lnSpc>
                <a:spcPct val="100000"/>
              </a:lnSpc>
            </a:pPr>
            <a:r>
              <a:rPr sz="900" b="0">
                <a:solidFill>
                  <a:srgbClr val="8894A3"/>
                </a:solidFill>
                <a:latin typeface="Consolas"/>
              </a:rPr>
              <a:t>THE VALUE</a:t>
            </a:r>
          </a:p>
        </p:txBody>
      </p:sp>
      <p:sp>
        <p:nvSpPr>
          <p:cNvPr id="8" name="TextBox 7"/>
          <p:cNvSpPr txBox="1"/>
          <p:nvPr/>
        </p:nvSpPr>
        <p:spPr>
          <a:xfrm>
            <a:off x="658368" y="1051560"/>
            <a:ext cx="10874959" cy="822960"/>
          </a:xfrm>
          <a:prstGeom prst="rect">
            <a:avLst/>
          </a:prstGeom>
          <a:noFill/>
        </p:spPr>
        <p:txBody>
          <a:bodyPr wrap="square" anchor="t" lIns="0" rIns="0" tIns="0" bIns="0">
            <a:spAutoFit/>
          </a:bodyPr>
          <a:lstStyle/>
          <a:p>
            <a:pPr algn="l">
              <a:lnSpc>
                <a:spcPct val="106000"/>
              </a:lnSpc>
            </a:pPr>
            <a:r>
              <a:rPr sz="3000" b="1">
                <a:solidFill>
                  <a:srgbClr val="1A1D23"/>
                </a:solidFill>
                <a:latin typeface="Segoe UI"/>
              </a:rPr>
              <a:t>What BPCL has now that it did not have before</a:t>
            </a:r>
          </a:p>
        </p:txBody>
      </p:sp>
      <p:sp>
        <p:nvSpPr>
          <p:cNvPr id="9" name="Rectangle 8"/>
          <p:cNvSpPr/>
          <p:nvPr/>
        </p:nvSpPr>
        <p:spPr>
          <a:xfrm>
            <a:off x="658368" y="1783080"/>
            <a:ext cx="10874959" cy="7315"/>
          </a:xfrm>
          <a:prstGeom prst="rect">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874519"/>
            <a:ext cx="320040" cy="201168"/>
          </a:xfrm>
          <a:prstGeom prst="rect">
            <a:avLst/>
          </a:prstGeom>
          <a:noFill/>
        </p:spPr>
        <p:txBody>
          <a:bodyPr wrap="square" anchor="t" lIns="0" rIns="0" tIns="0" bIns="0">
            <a:spAutoFit/>
          </a:bodyPr>
          <a:lstStyle/>
          <a:p>
            <a:pPr algn="l">
              <a:lnSpc>
                <a:spcPct val="100000"/>
              </a:lnSpc>
            </a:pPr>
            <a:r>
              <a:rPr sz="900" b="0">
                <a:solidFill>
                  <a:srgbClr val="E8551F"/>
                </a:solidFill>
                <a:latin typeface="Consolas"/>
              </a:rPr>
              <a:t>01</a:t>
            </a:r>
          </a:p>
        </p:txBody>
      </p:sp>
      <p:sp>
        <p:nvSpPr>
          <p:cNvPr id="11" name="TextBox 10"/>
          <p:cNvSpPr txBox="1"/>
          <p:nvPr/>
        </p:nvSpPr>
        <p:spPr>
          <a:xfrm>
            <a:off x="1042415" y="1856231"/>
            <a:ext cx="10417759" cy="237744"/>
          </a:xfrm>
          <a:prstGeom prst="rect">
            <a:avLst/>
          </a:prstGeom>
          <a:noFill/>
        </p:spPr>
        <p:txBody>
          <a:bodyPr wrap="square" anchor="t" lIns="0" rIns="0" tIns="0" bIns="0">
            <a:spAutoFit/>
          </a:bodyPr>
          <a:lstStyle/>
          <a:p>
            <a:pPr algn="l">
              <a:lnSpc>
                <a:spcPct val="125000"/>
              </a:lnSpc>
            </a:pPr>
            <a:r>
              <a:rPr sz="1150" b="1">
                <a:solidFill>
                  <a:srgbClr val="1A1D23"/>
                </a:solidFill>
                <a:latin typeface="Segoe UI"/>
              </a:rPr>
              <a:t>Vaani answers 64% of all calls</a:t>
            </a:r>
            <a:r>
              <a:rPr sz="1150" b="0">
                <a:solidFill>
                  <a:srgbClr val="55606E"/>
                </a:solidFill>
                <a:latin typeface="Segoe UI"/>
              </a:rPr>
              <a:t> — 5.6x the volume the CRC desks handle.</a:t>
            </a:r>
          </a:p>
        </p:txBody>
      </p:sp>
      <p:sp>
        <p:nvSpPr>
          <p:cNvPr id="12" name="Rectangle 11"/>
          <p:cNvSpPr/>
          <p:nvPr/>
        </p:nvSpPr>
        <p:spPr>
          <a:xfrm>
            <a:off x="658368" y="2157984"/>
            <a:ext cx="10874959" cy="7315"/>
          </a:xfrm>
          <a:prstGeom prst="rect">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2249424"/>
            <a:ext cx="320040" cy="201168"/>
          </a:xfrm>
          <a:prstGeom prst="rect">
            <a:avLst/>
          </a:prstGeom>
          <a:noFill/>
        </p:spPr>
        <p:txBody>
          <a:bodyPr wrap="square" anchor="t" lIns="0" rIns="0" tIns="0" bIns="0">
            <a:spAutoFit/>
          </a:bodyPr>
          <a:lstStyle/>
          <a:p>
            <a:pPr algn="l">
              <a:lnSpc>
                <a:spcPct val="100000"/>
              </a:lnSpc>
            </a:pPr>
            <a:r>
              <a:rPr sz="900" b="0">
                <a:solidFill>
                  <a:srgbClr val="E8551F"/>
                </a:solidFill>
                <a:latin typeface="Consolas"/>
              </a:rPr>
              <a:t>02</a:t>
            </a:r>
          </a:p>
        </p:txBody>
      </p:sp>
      <p:sp>
        <p:nvSpPr>
          <p:cNvPr id="14" name="TextBox 13"/>
          <p:cNvSpPr txBox="1"/>
          <p:nvPr/>
        </p:nvSpPr>
        <p:spPr>
          <a:xfrm>
            <a:off x="1042415" y="2231136"/>
            <a:ext cx="10417759" cy="237744"/>
          </a:xfrm>
          <a:prstGeom prst="rect">
            <a:avLst/>
          </a:prstGeom>
          <a:noFill/>
        </p:spPr>
        <p:txBody>
          <a:bodyPr wrap="square" anchor="t" lIns="0" rIns="0" tIns="0" bIns="0">
            <a:spAutoFit/>
          </a:bodyPr>
          <a:lstStyle/>
          <a:p>
            <a:pPr algn="l">
              <a:lnSpc>
                <a:spcPct val="125000"/>
              </a:lnSpc>
            </a:pPr>
            <a:r>
              <a:rPr sz="1150" b="1">
                <a:solidFill>
                  <a:srgbClr val="1A1D23"/>
                </a:solidFill>
                <a:latin typeface="Segoe UI"/>
              </a:rPr>
              <a:t>Weekends run on Vaani alone</a:t>
            </a:r>
            <a:r>
              <a:rPr sz="1150" b="0">
                <a:solidFill>
                  <a:srgbClr val="55606E"/>
                </a:solidFill>
                <a:latin typeface="Segoe UI"/>
              </a:rPr>
              <a:t> — 180 weekend calls answered, none by a human.</a:t>
            </a:r>
          </a:p>
        </p:txBody>
      </p:sp>
      <p:sp>
        <p:nvSpPr>
          <p:cNvPr id="15" name="Rectangle 14"/>
          <p:cNvSpPr/>
          <p:nvPr/>
        </p:nvSpPr>
        <p:spPr>
          <a:xfrm>
            <a:off x="658368" y="2532888"/>
            <a:ext cx="10874959" cy="7315"/>
          </a:xfrm>
          <a:prstGeom prst="rect">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624328"/>
            <a:ext cx="320040" cy="201168"/>
          </a:xfrm>
          <a:prstGeom prst="rect">
            <a:avLst/>
          </a:prstGeom>
          <a:noFill/>
        </p:spPr>
        <p:txBody>
          <a:bodyPr wrap="square" anchor="t" lIns="0" rIns="0" tIns="0" bIns="0">
            <a:spAutoFit/>
          </a:bodyPr>
          <a:lstStyle/>
          <a:p>
            <a:pPr algn="l">
              <a:lnSpc>
                <a:spcPct val="100000"/>
              </a:lnSpc>
            </a:pPr>
            <a:r>
              <a:rPr sz="900" b="0">
                <a:solidFill>
                  <a:srgbClr val="E8551F"/>
                </a:solidFill>
                <a:latin typeface="Consolas"/>
              </a:rPr>
              <a:t>03</a:t>
            </a:r>
          </a:p>
        </p:txBody>
      </p:sp>
      <p:sp>
        <p:nvSpPr>
          <p:cNvPr id="17" name="TextBox 16"/>
          <p:cNvSpPr txBox="1"/>
          <p:nvPr/>
        </p:nvSpPr>
        <p:spPr>
          <a:xfrm>
            <a:off x="1042415" y="2606040"/>
            <a:ext cx="10417759" cy="237744"/>
          </a:xfrm>
          <a:prstGeom prst="rect">
            <a:avLst/>
          </a:prstGeom>
          <a:noFill/>
        </p:spPr>
        <p:txBody>
          <a:bodyPr wrap="square" anchor="t" lIns="0" rIns="0" tIns="0" bIns="0">
            <a:spAutoFit/>
          </a:bodyPr>
          <a:lstStyle/>
          <a:p>
            <a:pPr algn="l">
              <a:lnSpc>
                <a:spcPct val="125000"/>
              </a:lnSpc>
            </a:pPr>
            <a:r>
              <a:rPr sz="1150" b="1">
                <a:solidFill>
                  <a:srgbClr val="1A1D23"/>
                </a:solidFill>
                <a:latin typeface="Segoe UI"/>
              </a:rPr>
              <a:t>The helpline is answerable across 16 hours a day</a:t>
            </a:r>
            <a:r>
              <a:rPr sz="1150" b="0">
                <a:solidFill>
                  <a:srgbClr val="55606E"/>
                </a:solidFill>
                <a:latin typeface="Segoe UI"/>
              </a:rPr>
              <a:t>, far wider than the desk covers.</a:t>
            </a:r>
          </a:p>
        </p:txBody>
      </p:sp>
      <p:sp>
        <p:nvSpPr>
          <p:cNvPr id="18" name="Rectangle 17"/>
          <p:cNvSpPr/>
          <p:nvPr/>
        </p:nvSpPr>
        <p:spPr>
          <a:xfrm>
            <a:off x="658368" y="2907792"/>
            <a:ext cx="10874959" cy="7315"/>
          </a:xfrm>
          <a:prstGeom prst="rect">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2999232"/>
            <a:ext cx="320040" cy="201168"/>
          </a:xfrm>
          <a:prstGeom prst="rect">
            <a:avLst/>
          </a:prstGeom>
          <a:noFill/>
        </p:spPr>
        <p:txBody>
          <a:bodyPr wrap="square" anchor="t" lIns="0" rIns="0" tIns="0" bIns="0">
            <a:spAutoFit/>
          </a:bodyPr>
          <a:lstStyle/>
          <a:p>
            <a:pPr algn="l">
              <a:lnSpc>
                <a:spcPct val="100000"/>
              </a:lnSpc>
            </a:pPr>
            <a:r>
              <a:rPr sz="900" b="0">
                <a:solidFill>
                  <a:srgbClr val="E8551F"/>
                </a:solidFill>
                <a:latin typeface="Consolas"/>
              </a:rPr>
              <a:t>04</a:t>
            </a:r>
          </a:p>
        </p:txBody>
      </p:sp>
      <p:sp>
        <p:nvSpPr>
          <p:cNvPr id="20" name="TextBox 19"/>
          <p:cNvSpPr txBox="1"/>
          <p:nvPr/>
        </p:nvSpPr>
        <p:spPr>
          <a:xfrm>
            <a:off x="1042415" y="2980944"/>
            <a:ext cx="10417759" cy="237744"/>
          </a:xfrm>
          <a:prstGeom prst="rect">
            <a:avLst/>
          </a:prstGeom>
          <a:noFill/>
        </p:spPr>
        <p:txBody>
          <a:bodyPr wrap="square" anchor="t" lIns="0" rIns="0" tIns="0" bIns="0">
            <a:spAutoFit/>
          </a:bodyPr>
          <a:lstStyle/>
          <a:p>
            <a:pPr algn="l">
              <a:lnSpc>
                <a:spcPct val="125000"/>
              </a:lnSpc>
            </a:pPr>
            <a:r>
              <a:rPr sz="1150" b="1">
                <a:solidFill>
                  <a:srgbClr val="1A1D23"/>
                </a:solidFill>
                <a:latin typeface="Segoe UI"/>
              </a:rPr>
              <a:t>181 complaints registered</a:t>
            </a:r>
            <a:r>
              <a:rPr sz="1150" b="0">
                <a:solidFill>
                  <a:srgbClr val="55606E"/>
                </a:solidFill>
                <a:latin typeface="Segoe UI"/>
              </a:rPr>
              <a:t> — grievances that previously left no record are now trackable.</a:t>
            </a:r>
          </a:p>
        </p:txBody>
      </p:sp>
      <p:sp>
        <p:nvSpPr>
          <p:cNvPr id="21" name="Rectangle 20"/>
          <p:cNvSpPr/>
          <p:nvPr/>
        </p:nvSpPr>
        <p:spPr>
          <a:xfrm>
            <a:off x="658368" y="3282696"/>
            <a:ext cx="10874959" cy="7315"/>
          </a:xfrm>
          <a:prstGeom prst="rect">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3374136"/>
            <a:ext cx="320040" cy="201168"/>
          </a:xfrm>
          <a:prstGeom prst="rect">
            <a:avLst/>
          </a:prstGeom>
          <a:noFill/>
        </p:spPr>
        <p:txBody>
          <a:bodyPr wrap="square" anchor="t" lIns="0" rIns="0" tIns="0" bIns="0">
            <a:spAutoFit/>
          </a:bodyPr>
          <a:lstStyle/>
          <a:p>
            <a:pPr algn="l">
              <a:lnSpc>
                <a:spcPct val="100000"/>
              </a:lnSpc>
            </a:pPr>
            <a:r>
              <a:rPr sz="900" b="0">
                <a:solidFill>
                  <a:srgbClr val="E8551F"/>
                </a:solidFill>
                <a:latin typeface="Consolas"/>
              </a:rPr>
              <a:t>05</a:t>
            </a:r>
          </a:p>
        </p:txBody>
      </p:sp>
      <p:sp>
        <p:nvSpPr>
          <p:cNvPr id="23" name="TextBox 22"/>
          <p:cNvSpPr txBox="1"/>
          <p:nvPr/>
        </p:nvSpPr>
        <p:spPr>
          <a:xfrm>
            <a:off x="1042415" y="3355848"/>
            <a:ext cx="10417759" cy="237744"/>
          </a:xfrm>
          <a:prstGeom prst="rect">
            <a:avLst/>
          </a:prstGeom>
          <a:noFill/>
        </p:spPr>
        <p:txBody>
          <a:bodyPr wrap="square" anchor="t" lIns="0" rIns="0" tIns="0" bIns="0">
            <a:spAutoFit/>
          </a:bodyPr>
          <a:lstStyle/>
          <a:p>
            <a:pPr algn="l">
              <a:lnSpc>
                <a:spcPct val="125000"/>
              </a:lnSpc>
            </a:pPr>
            <a:r>
              <a:rPr sz="1150" b="1">
                <a:solidFill>
                  <a:srgbClr val="1A1D23"/>
                </a:solidFill>
                <a:latin typeface="Segoe UI"/>
              </a:rPr>
              <a:t>97.7% handled without transfer</a:t>
            </a:r>
            <a:r>
              <a:rPr sz="1150" b="0">
                <a:solidFill>
                  <a:srgbClr val="55606E"/>
                </a:solidFill>
                <a:latin typeface="Segoe UI"/>
              </a:rPr>
              <a:t> while the network scaled from two offices to nine.</a:t>
            </a:r>
          </a:p>
        </p:txBody>
      </p:sp>
      <p:sp>
        <p:nvSpPr>
          <p:cNvPr id="24" name="Rectangle 23"/>
          <p:cNvSpPr/>
          <p:nvPr/>
        </p:nvSpPr>
        <p:spPr>
          <a:xfrm>
            <a:off x="658368" y="3657600"/>
            <a:ext cx="10874959" cy="7315"/>
          </a:xfrm>
          <a:prstGeom prst="rect">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3749039"/>
            <a:ext cx="320040" cy="201168"/>
          </a:xfrm>
          <a:prstGeom prst="rect">
            <a:avLst/>
          </a:prstGeom>
          <a:noFill/>
        </p:spPr>
        <p:txBody>
          <a:bodyPr wrap="square" anchor="t" lIns="0" rIns="0" tIns="0" bIns="0">
            <a:spAutoFit/>
          </a:bodyPr>
          <a:lstStyle/>
          <a:p>
            <a:pPr algn="l">
              <a:lnSpc>
                <a:spcPct val="100000"/>
              </a:lnSpc>
            </a:pPr>
            <a:r>
              <a:rPr sz="900" b="0">
                <a:solidFill>
                  <a:srgbClr val="E8551F"/>
                </a:solidFill>
                <a:latin typeface="Consolas"/>
              </a:rPr>
              <a:t>06</a:t>
            </a:r>
          </a:p>
        </p:txBody>
      </p:sp>
      <p:sp>
        <p:nvSpPr>
          <p:cNvPr id="26" name="TextBox 25"/>
          <p:cNvSpPr txBox="1"/>
          <p:nvPr/>
        </p:nvSpPr>
        <p:spPr>
          <a:xfrm>
            <a:off x="1042415" y="3730752"/>
            <a:ext cx="10417759" cy="237744"/>
          </a:xfrm>
          <a:prstGeom prst="rect">
            <a:avLst/>
          </a:prstGeom>
          <a:noFill/>
        </p:spPr>
        <p:txBody>
          <a:bodyPr wrap="square" anchor="t" lIns="0" rIns="0" tIns="0" bIns="0">
            <a:spAutoFit/>
          </a:bodyPr>
          <a:lstStyle/>
          <a:p>
            <a:pPr algn="l">
              <a:lnSpc>
                <a:spcPct val="125000"/>
              </a:lnSpc>
            </a:pPr>
            <a:r>
              <a:rPr sz="1150" b="1">
                <a:solidFill>
                  <a:srgbClr val="1A1D23"/>
                </a:solidFill>
                <a:latin typeface="Segoe UI"/>
              </a:rPr>
              <a:t>Ground-level issue data exists where none existed before</a:t>
            </a:r>
            <a:r>
              <a:rPr sz="1150" b="0">
                <a:solidFill>
                  <a:srgbClr val="55606E"/>
                </a:solidFill>
                <a:latin typeface="Segoe UI"/>
              </a:rPr>
              <a:t> — and it says delivery.</a:t>
            </a:r>
          </a:p>
        </p:txBody>
      </p:sp>
      <p:sp>
        <p:nvSpPr>
          <p:cNvPr id="27" name="Rectangle 26"/>
          <p:cNvSpPr/>
          <p:nvPr/>
        </p:nvSpPr>
        <p:spPr>
          <a:xfrm>
            <a:off x="658368" y="4032503"/>
            <a:ext cx="10874959" cy="7315"/>
          </a:xfrm>
          <a:prstGeom prst="rect">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4123943"/>
            <a:ext cx="320040" cy="201168"/>
          </a:xfrm>
          <a:prstGeom prst="rect">
            <a:avLst/>
          </a:prstGeom>
          <a:noFill/>
        </p:spPr>
        <p:txBody>
          <a:bodyPr wrap="square" anchor="t" lIns="0" rIns="0" tIns="0" bIns="0">
            <a:spAutoFit/>
          </a:bodyPr>
          <a:lstStyle/>
          <a:p>
            <a:pPr algn="l">
              <a:lnSpc>
                <a:spcPct val="100000"/>
              </a:lnSpc>
            </a:pPr>
            <a:r>
              <a:rPr sz="900" b="0">
                <a:solidFill>
                  <a:srgbClr val="E8551F"/>
                </a:solidFill>
                <a:latin typeface="Consolas"/>
              </a:rPr>
              <a:t>07</a:t>
            </a:r>
          </a:p>
        </p:txBody>
      </p:sp>
      <p:sp>
        <p:nvSpPr>
          <p:cNvPr id="29" name="TextBox 28"/>
          <p:cNvSpPr txBox="1"/>
          <p:nvPr/>
        </p:nvSpPr>
        <p:spPr>
          <a:xfrm>
            <a:off x="1042415" y="4105655"/>
            <a:ext cx="10417759" cy="237744"/>
          </a:xfrm>
          <a:prstGeom prst="rect">
            <a:avLst/>
          </a:prstGeom>
          <a:noFill/>
        </p:spPr>
        <p:txBody>
          <a:bodyPr wrap="square" anchor="t" lIns="0" rIns="0" tIns="0" bIns="0">
            <a:spAutoFit/>
          </a:bodyPr>
          <a:lstStyle/>
          <a:p>
            <a:pPr algn="l">
              <a:lnSpc>
                <a:spcPct val="125000"/>
              </a:lnSpc>
            </a:pPr>
            <a:r>
              <a:rPr sz="1150" b="1">
                <a:solidFill>
                  <a:srgbClr val="1A1D23"/>
                </a:solidFill>
                <a:latin typeface="Segoe UI"/>
              </a:rPr>
              <a:t>Representative conduct is measurable for the first time</a:t>
            </a:r>
            <a:r>
              <a:rPr sz="1150" b="0">
                <a:solidFill>
                  <a:srgbClr val="55606E"/>
                </a:solidFill>
                <a:latin typeface="Segoe UI"/>
              </a:rPr>
              <a:t>, charted per office on the dashboard.</a:t>
            </a:r>
          </a:p>
        </p:txBody>
      </p:sp>
      <p:sp>
        <p:nvSpPr>
          <p:cNvPr id="30" name="Rectangle 29"/>
          <p:cNvSpPr/>
          <p:nvPr/>
        </p:nvSpPr>
        <p:spPr>
          <a:xfrm>
            <a:off x="658368" y="4407407"/>
            <a:ext cx="10874959" cy="7315"/>
          </a:xfrm>
          <a:prstGeom prst="rect">
            <a:avLst/>
          </a:prstGeom>
          <a:solidFill>
            <a:srgbClr val="DD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4645151"/>
            <a:ext cx="5486400" cy="274320"/>
          </a:xfrm>
          <a:prstGeom prst="rect">
            <a:avLst/>
          </a:prstGeom>
          <a:noFill/>
        </p:spPr>
        <p:txBody>
          <a:bodyPr wrap="square" anchor="t" lIns="0" rIns="0" tIns="0" bIns="0">
            <a:spAutoFit/>
          </a:bodyPr>
          <a:lstStyle/>
          <a:p>
            <a:pPr algn="l">
              <a:lnSpc>
                <a:spcPct val="100000"/>
              </a:lnSpc>
            </a:pPr>
            <a:r>
              <a:rPr sz="1500" b="1">
                <a:solidFill>
                  <a:srgbClr val="1A1D23"/>
                </a:solidFill>
                <a:latin typeface="Segoe UI"/>
              </a:rPr>
              <a:t>Where this goes next</a:t>
            </a:r>
          </a:p>
        </p:txBody>
      </p:sp>
      <p:sp>
        <p:nvSpPr>
          <p:cNvPr id="32" name="Rounded Rectangle 31"/>
          <p:cNvSpPr/>
          <p:nvPr/>
        </p:nvSpPr>
        <p:spPr>
          <a:xfrm>
            <a:off x="658368" y="5029199"/>
            <a:ext cx="2567863" cy="960120"/>
          </a:xfrm>
          <a:prstGeom prst="roundRect">
            <a:avLst>
              <a:gd name="adj" fmla="val 4500"/>
            </a:avLst>
          </a:prstGeom>
          <a:solidFill>
            <a:srgbClr val="FFFFF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6112" y="5230367"/>
            <a:ext cx="2110663" cy="274320"/>
          </a:xfrm>
          <a:prstGeom prst="rect">
            <a:avLst/>
          </a:prstGeom>
          <a:noFill/>
        </p:spPr>
        <p:txBody>
          <a:bodyPr wrap="square" anchor="t" lIns="0" rIns="0" tIns="0" bIns="0">
            <a:spAutoFit/>
          </a:bodyPr>
          <a:lstStyle/>
          <a:p>
            <a:pPr algn="l">
              <a:lnSpc>
                <a:spcPct val="110000"/>
              </a:lnSpc>
            </a:pPr>
            <a:r>
              <a:rPr sz="1200" b="1">
                <a:solidFill>
                  <a:srgbClr val="1A1D23"/>
                </a:solidFill>
                <a:latin typeface="Segoe UI"/>
              </a:rPr>
              <a:t>Multi-language rollout</a:t>
            </a:r>
          </a:p>
        </p:txBody>
      </p:sp>
      <p:sp>
        <p:nvSpPr>
          <p:cNvPr id="34" name="TextBox 33"/>
          <p:cNvSpPr txBox="1"/>
          <p:nvPr/>
        </p:nvSpPr>
        <p:spPr>
          <a:xfrm>
            <a:off x="896112" y="5541263"/>
            <a:ext cx="2110663" cy="265176"/>
          </a:xfrm>
          <a:prstGeom prst="rect">
            <a:avLst/>
          </a:prstGeom>
          <a:noFill/>
        </p:spPr>
        <p:txBody>
          <a:bodyPr wrap="square" anchor="t" lIns="0" rIns="0" tIns="0" bIns="0">
            <a:spAutoFit/>
          </a:bodyPr>
          <a:lstStyle/>
          <a:p>
            <a:pPr algn="l">
              <a:lnSpc>
                <a:spcPct val="130000"/>
              </a:lnSpc>
            </a:pPr>
            <a:r>
              <a:rPr sz="1050" b="0">
                <a:solidFill>
                  <a:srgbClr val="55606E"/>
                </a:solidFill>
                <a:latin typeface="Segoe UI"/>
              </a:rPr>
              <a:t>Sequenced with expansion into southern and eastern states.</a:t>
            </a:r>
          </a:p>
        </p:txBody>
      </p:sp>
      <p:sp>
        <p:nvSpPr>
          <p:cNvPr id="35" name="Rounded Rectangle 34"/>
          <p:cNvSpPr/>
          <p:nvPr/>
        </p:nvSpPr>
        <p:spPr>
          <a:xfrm>
            <a:off x="3427399" y="5029199"/>
            <a:ext cx="2567863" cy="960120"/>
          </a:xfrm>
          <a:prstGeom prst="roundRect">
            <a:avLst>
              <a:gd name="adj" fmla="val 4500"/>
            </a:avLst>
          </a:prstGeom>
          <a:solidFill>
            <a:srgbClr val="FFFFF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65143" y="5230367"/>
            <a:ext cx="2110663" cy="274320"/>
          </a:xfrm>
          <a:prstGeom prst="rect">
            <a:avLst/>
          </a:prstGeom>
          <a:noFill/>
        </p:spPr>
        <p:txBody>
          <a:bodyPr wrap="square" anchor="t" lIns="0" rIns="0" tIns="0" bIns="0">
            <a:spAutoFit/>
          </a:bodyPr>
          <a:lstStyle/>
          <a:p>
            <a:pPr algn="l">
              <a:lnSpc>
                <a:spcPct val="110000"/>
              </a:lnSpc>
            </a:pPr>
            <a:r>
              <a:rPr sz="1200" b="1">
                <a:solidFill>
                  <a:srgbClr val="1A1D23"/>
                </a:solidFill>
                <a:latin typeface="Segoe UI"/>
              </a:rPr>
              <a:t>National rollout</a:t>
            </a:r>
          </a:p>
        </p:txBody>
      </p:sp>
      <p:sp>
        <p:nvSpPr>
          <p:cNvPr id="37" name="TextBox 36"/>
          <p:cNvSpPr txBox="1"/>
          <p:nvPr/>
        </p:nvSpPr>
        <p:spPr>
          <a:xfrm>
            <a:off x="3665143" y="5541263"/>
            <a:ext cx="2110663" cy="265176"/>
          </a:xfrm>
          <a:prstGeom prst="rect">
            <a:avLst/>
          </a:prstGeom>
          <a:noFill/>
        </p:spPr>
        <p:txBody>
          <a:bodyPr wrap="square" anchor="t" lIns="0" rIns="0" tIns="0" bIns="0">
            <a:spAutoFit/>
          </a:bodyPr>
          <a:lstStyle/>
          <a:p>
            <a:pPr algn="l">
              <a:lnSpc>
                <a:spcPct val="130000"/>
              </a:lnSpc>
            </a:pPr>
            <a:r>
              <a:rPr sz="1050" b="0">
                <a:solidFill>
                  <a:srgbClr val="55606E"/>
                </a:solidFill>
                <a:latin typeface="Segoe UI"/>
              </a:rPr>
              <a:t>Across the remaining offices of the roughly 70 in scope.</a:t>
            </a:r>
          </a:p>
        </p:txBody>
      </p:sp>
      <p:sp>
        <p:nvSpPr>
          <p:cNvPr id="38" name="Rounded Rectangle 37"/>
          <p:cNvSpPr/>
          <p:nvPr/>
        </p:nvSpPr>
        <p:spPr>
          <a:xfrm>
            <a:off x="6196431" y="5029199"/>
            <a:ext cx="2567863" cy="960120"/>
          </a:xfrm>
          <a:prstGeom prst="roundRect">
            <a:avLst>
              <a:gd name="adj" fmla="val 4500"/>
            </a:avLst>
          </a:prstGeom>
          <a:solidFill>
            <a:srgbClr val="FFFFF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34175" y="5230367"/>
            <a:ext cx="2110663" cy="274320"/>
          </a:xfrm>
          <a:prstGeom prst="rect">
            <a:avLst/>
          </a:prstGeom>
          <a:noFill/>
        </p:spPr>
        <p:txBody>
          <a:bodyPr wrap="square" anchor="t" lIns="0" rIns="0" tIns="0" bIns="0">
            <a:spAutoFit/>
          </a:bodyPr>
          <a:lstStyle/>
          <a:p>
            <a:pPr algn="l">
              <a:lnSpc>
                <a:spcPct val="110000"/>
              </a:lnSpc>
            </a:pPr>
            <a:r>
              <a:rPr sz="1200" b="1">
                <a:solidFill>
                  <a:srgbClr val="1A1D23"/>
                </a:solidFill>
                <a:latin typeface="Segoe UI"/>
              </a:rPr>
              <a:t>Deeper analytics</a:t>
            </a:r>
          </a:p>
        </p:txBody>
      </p:sp>
      <p:sp>
        <p:nvSpPr>
          <p:cNvPr id="40" name="TextBox 39"/>
          <p:cNvSpPr txBox="1"/>
          <p:nvPr/>
        </p:nvSpPr>
        <p:spPr>
          <a:xfrm>
            <a:off x="6434175" y="5541263"/>
            <a:ext cx="2110663" cy="265176"/>
          </a:xfrm>
          <a:prstGeom prst="rect">
            <a:avLst/>
          </a:prstGeom>
          <a:noFill/>
        </p:spPr>
        <p:txBody>
          <a:bodyPr wrap="square" anchor="t" lIns="0" rIns="0" tIns="0" bIns="0">
            <a:spAutoFit/>
          </a:bodyPr>
          <a:lstStyle/>
          <a:p>
            <a:pPr algn="l">
              <a:lnSpc>
                <a:spcPct val="130000"/>
              </a:lnSpc>
            </a:pPr>
            <a:r>
              <a:rPr sz="1050" b="0">
                <a:solidFill>
                  <a:srgbClr val="55606E"/>
                </a:solidFill>
                <a:latin typeface="Segoe UI"/>
              </a:rPr>
              <a:t>Per-district trends, office comparison, complaint-resolution tracking.</a:t>
            </a:r>
          </a:p>
        </p:txBody>
      </p:sp>
      <p:sp>
        <p:nvSpPr>
          <p:cNvPr id="41" name="Rounded Rectangle 40"/>
          <p:cNvSpPr/>
          <p:nvPr/>
        </p:nvSpPr>
        <p:spPr>
          <a:xfrm>
            <a:off x="8965463" y="5029199"/>
            <a:ext cx="2567863" cy="960120"/>
          </a:xfrm>
          <a:prstGeom prst="roundRect">
            <a:avLst>
              <a:gd name="adj" fmla="val 4500"/>
            </a:avLst>
          </a:prstGeom>
          <a:solidFill>
            <a:srgbClr val="FFFFFF"/>
          </a:solidFill>
          <a:ln w="12700">
            <a:solidFill>
              <a:srgbClr val="DD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203207" y="5230367"/>
            <a:ext cx="2110663" cy="274320"/>
          </a:xfrm>
          <a:prstGeom prst="rect">
            <a:avLst/>
          </a:prstGeom>
          <a:noFill/>
        </p:spPr>
        <p:txBody>
          <a:bodyPr wrap="square" anchor="t" lIns="0" rIns="0" tIns="0" bIns="0">
            <a:spAutoFit/>
          </a:bodyPr>
          <a:lstStyle/>
          <a:p>
            <a:pPr algn="l">
              <a:lnSpc>
                <a:spcPct val="110000"/>
              </a:lnSpc>
            </a:pPr>
            <a:r>
              <a:rPr sz="1200" b="1">
                <a:solidFill>
                  <a:srgbClr val="1A1D23"/>
                </a:solidFill>
                <a:latin typeface="Segoe UI"/>
              </a:rPr>
              <a:t>Window tuning</a:t>
            </a:r>
          </a:p>
        </p:txBody>
      </p:sp>
      <p:sp>
        <p:nvSpPr>
          <p:cNvPr id="43" name="TextBox 42"/>
          <p:cNvSpPr txBox="1"/>
          <p:nvPr/>
        </p:nvSpPr>
        <p:spPr>
          <a:xfrm>
            <a:off x="9203207" y="5541263"/>
            <a:ext cx="2110663" cy="265176"/>
          </a:xfrm>
          <a:prstGeom prst="rect">
            <a:avLst/>
          </a:prstGeom>
          <a:noFill/>
        </p:spPr>
        <p:txBody>
          <a:bodyPr wrap="square" anchor="t" lIns="0" rIns="0" tIns="0" bIns="0">
            <a:spAutoFit/>
          </a:bodyPr>
          <a:lstStyle/>
          <a:p>
            <a:pPr algn="l">
              <a:lnSpc>
                <a:spcPct val="130000"/>
              </a:lnSpc>
            </a:pPr>
            <a:r>
              <a:rPr sz="1050" b="0">
                <a:solidFill>
                  <a:srgbClr val="55606E"/>
                </a:solidFill>
                <a:latin typeface="Segoe UI"/>
              </a:rPr>
              <a:t>Refining the handover timing now that real pickup behaviour is measurable.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